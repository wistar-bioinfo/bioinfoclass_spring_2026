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2" r:id="rId7"/>
    <p:sldId id="261" r:id="rId8"/>
    <p:sldId id="264" r:id="rId9"/>
    <p:sldId id="265" r:id="rId10"/>
    <p:sldId id="266" r:id="rId11"/>
    <p:sldId id="267" r:id="rId12"/>
    <p:sldId id="268" r:id="rId13"/>
    <p:sldId id="274" r:id="rId14"/>
    <p:sldId id="269" r:id="rId15"/>
    <p:sldId id="270" r:id="rId16"/>
    <p:sldId id="271" r:id="rId17"/>
    <p:sldId id="272" r:id="rId18"/>
    <p:sldId id="275" r:id="rId19"/>
    <p:sldId id="277" r:id="rId20"/>
    <p:sldId id="278" r:id="rId21"/>
    <p:sldId id="279" r:id="rId22"/>
    <p:sldId id="273" r:id="rId23"/>
    <p:sldId id="280" r:id="rId24"/>
    <p:sldId id="281" r:id="rId25"/>
    <p:sldId id="282" r:id="rId26"/>
    <p:sldId id="28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33" autoAdjust="0"/>
    <p:restoredTop sz="75209" autoAdjust="0"/>
  </p:normalViewPr>
  <p:slideViewPr>
    <p:cSldViewPr snapToGrid="0">
      <p:cViewPr varScale="1">
        <p:scale>
          <a:sx n="126" d="100"/>
          <a:sy n="126" d="100"/>
        </p:scale>
        <p:origin x="2292"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91C4B1-B5C1-4722-BEA8-024F05306EF0}"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2A8CFE-092B-46F7-8351-DA030A47113B}" type="slidenum">
              <a:rPr lang="en-US" smtClean="0"/>
              <a:t>‹#›</a:t>
            </a:fld>
            <a:endParaRPr lang="en-US"/>
          </a:p>
        </p:txBody>
      </p:sp>
    </p:spTree>
    <p:extLst>
      <p:ext uri="{BB962C8B-B14F-4D97-AF65-F5344CB8AC3E}">
        <p14:creationId xmlns:p14="http://schemas.microsoft.com/office/powerpoint/2010/main" val="309248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800" i="0" dirty="0"/>
          </a:p>
        </p:txBody>
      </p:sp>
      <p:sp>
        <p:nvSpPr>
          <p:cNvPr id="4" name="Slide Number Placeholder 3"/>
          <p:cNvSpPr>
            <a:spLocks noGrp="1"/>
          </p:cNvSpPr>
          <p:nvPr>
            <p:ph type="sldNum" sz="quarter" idx="5"/>
          </p:nvPr>
        </p:nvSpPr>
        <p:spPr/>
        <p:txBody>
          <a:bodyPr/>
          <a:lstStyle/>
          <a:p>
            <a:fld id="{5F2A8CFE-092B-46F7-8351-DA030A47113B}" type="slidenum">
              <a:rPr lang="en-US" smtClean="0"/>
              <a:t>2</a:t>
            </a:fld>
            <a:endParaRPr lang="en-US"/>
          </a:p>
        </p:txBody>
      </p:sp>
    </p:spTree>
    <p:extLst>
      <p:ext uri="{BB962C8B-B14F-4D97-AF65-F5344CB8AC3E}">
        <p14:creationId xmlns:p14="http://schemas.microsoft.com/office/powerpoint/2010/main" val="1003147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 present and future</a:t>
            </a:r>
          </a:p>
          <a:p>
            <a:endParaRPr lang="en-US" dirty="0"/>
          </a:p>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3</a:t>
            </a:fld>
            <a:endParaRPr lang="en-US"/>
          </a:p>
        </p:txBody>
      </p:sp>
    </p:spTree>
    <p:extLst>
      <p:ext uri="{BB962C8B-B14F-4D97-AF65-F5344CB8AC3E}">
        <p14:creationId xmlns:p14="http://schemas.microsoft.com/office/powerpoint/2010/main" val="2115824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doubt that the advent of sequencing technologies has revolutionized our understanding of genes and has played a huge role in genetic research and has allowed us to make breakthroughs in medicine.</a:t>
            </a:r>
          </a:p>
        </p:txBody>
      </p:sp>
      <p:sp>
        <p:nvSpPr>
          <p:cNvPr id="4" name="Slide Number Placeholder 3"/>
          <p:cNvSpPr>
            <a:spLocks noGrp="1"/>
          </p:cNvSpPr>
          <p:nvPr>
            <p:ph type="sldNum" sz="quarter" idx="5"/>
          </p:nvPr>
        </p:nvSpPr>
        <p:spPr/>
        <p:txBody>
          <a:bodyPr/>
          <a:lstStyle/>
          <a:p>
            <a:fld id="{5F2A8CFE-092B-46F7-8351-DA030A47113B}" type="slidenum">
              <a:rPr lang="en-US" smtClean="0"/>
              <a:t>4</a:t>
            </a:fld>
            <a:endParaRPr lang="en-US"/>
          </a:p>
        </p:txBody>
      </p:sp>
    </p:spTree>
    <p:extLst>
      <p:ext uri="{BB962C8B-B14F-4D97-AF65-F5344CB8AC3E}">
        <p14:creationId xmlns:p14="http://schemas.microsoft.com/office/powerpoint/2010/main" val="3219770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5</a:t>
            </a:fld>
            <a:endParaRPr lang="en-US"/>
          </a:p>
        </p:txBody>
      </p:sp>
    </p:spTree>
    <p:extLst>
      <p:ext uri="{BB962C8B-B14F-4D97-AF65-F5344CB8AC3E}">
        <p14:creationId xmlns:p14="http://schemas.microsoft.com/office/powerpoint/2010/main" val="2935206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6</a:t>
            </a:fld>
            <a:endParaRPr lang="en-US"/>
          </a:p>
        </p:txBody>
      </p:sp>
    </p:spTree>
    <p:extLst>
      <p:ext uri="{BB962C8B-B14F-4D97-AF65-F5344CB8AC3E}">
        <p14:creationId xmlns:p14="http://schemas.microsoft.com/office/powerpoint/2010/main" val="2375169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7</a:t>
            </a:fld>
            <a:endParaRPr lang="en-US"/>
          </a:p>
        </p:txBody>
      </p:sp>
    </p:spTree>
    <p:extLst>
      <p:ext uri="{BB962C8B-B14F-4D97-AF65-F5344CB8AC3E}">
        <p14:creationId xmlns:p14="http://schemas.microsoft.com/office/powerpoint/2010/main" val="1473744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8</a:t>
            </a:fld>
            <a:endParaRPr lang="en-US"/>
          </a:p>
        </p:txBody>
      </p:sp>
    </p:spTree>
    <p:extLst>
      <p:ext uri="{BB962C8B-B14F-4D97-AF65-F5344CB8AC3E}">
        <p14:creationId xmlns:p14="http://schemas.microsoft.com/office/powerpoint/2010/main" val="1654630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9</a:t>
            </a:fld>
            <a:endParaRPr lang="en-US"/>
          </a:p>
        </p:txBody>
      </p:sp>
    </p:spTree>
    <p:extLst>
      <p:ext uri="{BB962C8B-B14F-4D97-AF65-F5344CB8AC3E}">
        <p14:creationId xmlns:p14="http://schemas.microsoft.com/office/powerpoint/2010/main" val="2628330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10</a:t>
            </a:fld>
            <a:endParaRPr lang="en-US"/>
          </a:p>
        </p:txBody>
      </p:sp>
    </p:spTree>
    <p:extLst>
      <p:ext uri="{BB962C8B-B14F-4D97-AF65-F5344CB8AC3E}">
        <p14:creationId xmlns:p14="http://schemas.microsoft.com/office/powerpoint/2010/main" val="2340260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11</a:t>
            </a:fld>
            <a:endParaRPr lang="en-US"/>
          </a:p>
        </p:txBody>
      </p:sp>
    </p:spTree>
    <p:extLst>
      <p:ext uri="{BB962C8B-B14F-4D97-AF65-F5344CB8AC3E}">
        <p14:creationId xmlns:p14="http://schemas.microsoft.com/office/powerpoint/2010/main" val="3138495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12</a:t>
            </a:fld>
            <a:endParaRPr lang="en-US"/>
          </a:p>
        </p:txBody>
      </p:sp>
    </p:spTree>
    <p:extLst>
      <p:ext uri="{BB962C8B-B14F-4D97-AF65-F5344CB8AC3E}">
        <p14:creationId xmlns:p14="http://schemas.microsoft.com/office/powerpoint/2010/main" val="912596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1D35"/>
                </a:solidFill>
                <a:effectLst/>
                <a:latin typeface="Google Sans"/>
              </a:rPr>
              <a:t>Genomics, epigenetics and transcriptomics</a:t>
            </a:r>
          </a:p>
          <a:p>
            <a:r>
              <a:rPr lang="en-US" b="0" i="0" dirty="0">
                <a:solidFill>
                  <a:srgbClr val="001D35"/>
                </a:solidFill>
                <a:effectLst/>
                <a:latin typeface="Google Sans"/>
              </a:rPr>
              <a:t>WGS, Exome, Amplicon, </a:t>
            </a:r>
            <a:r>
              <a:rPr lang="en-US" b="0" i="0" dirty="0" err="1">
                <a:solidFill>
                  <a:srgbClr val="001D35"/>
                </a:solidFill>
                <a:effectLst/>
                <a:latin typeface="Google Sans"/>
              </a:rPr>
              <a:t>DIPseq</a:t>
            </a:r>
            <a:r>
              <a:rPr lang="en-US" b="0" i="0" dirty="0">
                <a:solidFill>
                  <a:srgbClr val="001D35"/>
                </a:solidFill>
                <a:effectLst/>
                <a:latin typeface="Google Sans"/>
              </a:rPr>
              <a:t>- genomics</a:t>
            </a:r>
          </a:p>
          <a:p>
            <a:r>
              <a:rPr lang="en-US" b="0" i="0" dirty="0" err="1">
                <a:solidFill>
                  <a:srgbClr val="001D35"/>
                </a:solidFill>
                <a:effectLst/>
                <a:latin typeface="Google Sans"/>
              </a:rPr>
              <a:t>ChIP</a:t>
            </a:r>
            <a:r>
              <a:rPr lang="en-US" b="0" i="0" dirty="0">
                <a:solidFill>
                  <a:srgbClr val="001D35"/>
                </a:solidFill>
                <a:effectLst/>
                <a:latin typeface="Google Sans"/>
              </a:rPr>
              <a:t>, ATAC, Hi-C- epigenetics</a:t>
            </a:r>
          </a:p>
        </p:txBody>
      </p:sp>
      <p:sp>
        <p:nvSpPr>
          <p:cNvPr id="4" name="Slide Number Placeholder 3"/>
          <p:cNvSpPr>
            <a:spLocks noGrp="1"/>
          </p:cNvSpPr>
          <p:nvPr>
            <p:ph type="sldNum" sz="quarter" idx="5"/>
          </p:nvPr>
        </p:nvSpPr>
        <p:spPr/>
        <p:txBody>
          <a:bodyPr/>
          <a:lstStyle/>
          <a:p>
            <a:fld id="{5F2A8CFE-092B-46F7-8351-DA030A47113B}" type="slidenum">
              <a:rPr lang="en-US" smtClean="0"/>
              <a:t>13</a:t>
            </a:fld>
            <a:endParaRPr lang="en-US"/>
          </a:p>
        </p:txBody>
      </p:sp>
    </p:spTree>
    <p:extLst>
      <p:ext uri="{BB962C8B-B14F-4D97-AF65-F5344CB8AC3E}">
        <p14:creationId xmlns:p14="http://schemas.microsoft.com/office/powerpoint/2010/main" val="2355574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our genes are turned on at once in our cells, only a small portion</a:t>
            </a:r>
          </a:p>
          <a:p>
            <a:r>
              <a:rPr lang="en-US" dirty="0"/>
              <a:t>It changes over time, throughout our lifespan</a:t>
            </a:r>
          </a:p>
          <a:p>
            <a:r>
              <a:rPr lang="en-US" dirty="0"/>
              <a:t>Different in disease than in normal functioning (ex. Cancer, other diseases, infections)</a:t>
            </a:r>
          </a:p>
          <a:p>
            <a:r>
              <a:rPr lang="en-US" dirty="0"/>
              <a:t>Can we sequence RNA? No, not stable</a:t>
            </a:r>
          </a:p>
          <a:p>
            <a:r>
              <a:rPr lang="en-US" dirty="0"/>
              <a:t>Must convert RNA to DNA- make cDNA</a:t>
            </a:r>
          </a:p>
          <a:p>
            <a:endParaRPr lang="en-US" dirty="0"/>
          </a:p>
          <a:p>
            <a:r>
              <a:rPr lang="en-US" dirty="0"/>
              <a:t>Most of the RNA is our cells is rRNA- less than 5% of our RNA is mRNA</a:t>
            </a:r>
          </a:p>
          <a:p>
            <a:endParaRPr lang="en-US" dirty="0"/>
          </a:p>
          <a:p>
            <a:r>
              <a:rPr lang="en-US" dirty="0"/>
              <a:t>Positive selection- adv. Clean </a:t>
            </a:r>
            <a:r>
              <a:rPr lang="en-US" dirty="0" err="1"/>
              <a:t>disadv</a:t>
            </a:r>
            <a:r>
              <a:rPr lang="en-US" dirty="0"/>
              <a:t>. miRNA long non-coding RNA lost, can only be used on species with </a:t>
            </a:r>
            <a:r>
              <a:rPr lang="en-US" dirty="0" err="1"/>
              <a:t>polyA</a:t>
            </a:r>
            <a:r>
              <a:rPr lang="en-US" dirty="0"/>
              <a:t> tailed mRNA</a:t>
            </a:r>
          </a:p>
          <a:p>
            <a:r>
              <a:rPr lang="en-US" dirty="0"/>
              <a:t>Negative selection- species agnostic, miRNA and long non coding RNA included in sequencing data, noisy data because not as clean</a:t>
            </a:r>
          </a:p>
        </p:txBody>
      </p:sp>
      <p:sp>
        <p:nvSpPr>
          <p:cNvPr id="4" name="Slide Number Placeholder 3"/>
          <p:cNvSpPr>
            <a:spLocks noGrp="1"/>
          </p:cNvSpPr>
          <p:nvPr>
            <p:ph type="sldNum" sz="quarter" idx="5"/>
          </p:nvPr>
        </p:nvSpPr>
        <p:spPr/>
        <p:txBody>
          <a:bodyPr/>
          <a:lstStyle/>
          <a:p>
            <a:fld id="{5F2A8CFE-092B-46F7-8351-DA030A47113B}" type="slidenum">
              <a:rPr lang="en-US" smtClean="0"/>
              <a:t>14</a:t>
            </a:fld>
            <a:endParaRPr lang="en-US"/>
          </a:p>
        </p:txBody>
      </p:sp>
    </p:spTree>
    <p:extLst>
      <p:ext uri="{BB962C8B-B14F-4D97-AF65-F5344CB8AC3E}">
        <p14:creationId xmlns:p14="http://schemas.microsoft.com/office/powerpoint/2010/main" val="870612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15</a:t>
            </a:fld>
            <a:endParaRPr lang="en-US"/>
          </a:p>
        </p:txBody>
      </p:sp>
    </p:spTree>
    <p:extLst>
      <p:ext uri="{BB962C8B-B14F-4D97-AF65-F5344CB8AC3E}">
        <p14:creationId xmlns:p14="http://schemas.microsoft.com/office/powerpoint/2010/main" val="290885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17</a:t>
            </a:fld>
            <a:endParaRPr lang="en-US"/>
          </a:p>
        </p:txBody>
      </p:sp>
    </p:spTree>
    <p:extLst>
      <p:ext uri="{BB962C8B-B14F-4D97-AF65-F5344CB8AC3E}">
        <p14:creationId xmlns:p14="http://schemas.microsoft.com/office/powerpoint/2010/main" val="2468027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48BC5-2642-1E23-5F63-161D65C24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A001F-FDCB-5C62-7CC1-CF5D0593C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5ECAE-3201-231E-8F9B-A80DAF6B15DF}"/>
              </a:ext>
            </a:extLst>
          </p:cNvPr>
          <p:cNvSpPr>
            <a:spLocks noGrp="1"/>
          </p:cNvSpPr>
          <p:nvPr>
            <p:ph type="body" idx="1"/>
          </p:nvPr>
        </p:nvSpPr>
        <p:spPr/>
        <p:txBody>
          <a:bodyPr/>
          <a:lstStyle/>
          <a:p>
            <a:r>
              <a:rPr lang="en-US" b="0" i="0" dirty="0">
                <a:solidFill>
                  <a:srgbClr val="001D35"/>
                </a:solidFill>
                <a:effectLst/>
                <a:latin typeface="Google Sans"/>
              </a:rPr>
              <a:t>Whole genome sequencing (WGS) is a process that determines the complete DNA sequence of an organism's genome, providing a comprehensive view of its genetic makeup, including both coding and non-coding regions. </a:t>
            </a:r>
            <a:endParaRPr lang="en-US" dirty="0"/>
          </a:p>
        </p:txBody>
      </p:sp>
      <p:sp>
        <p:nvSpPr>
          <p:cNvPr id="4" name="Slide Number Placeholder 3">
            <a:extLst>
              <a:ext uri="{FF2B5EF4-FFF2-40B4-BE49-F238E27FC236}">
                <a16:creationId xmlns:a16="http://schemas.microsoft.com/office/drawing/2014/main" id="{58A26D96-EBC9-42E7-4D1D-DDA365862673}"/>
              </a:ext>
            </a:extLst>
          </p:cNvPr>
          <p:cNvSpPr>
            <a:spLocks noGrp="1"/>
          </p:cNvSpPr>
          <p:nvPr>
            <p:ph type="sldNum" sz="quarter" idx="5"/>
          </p:nvPr>
        </p:nvSpPr>
        <p:spPr/>
        <p:txBody>
          <a:bodyPr/>
          <a:lstStyle/>
          <a:p>
            <a:fld id="{5F2A8CFE-092B-46F7-8351-DA030A47113B}" type="slidenum">
              <a:rPr lang="en-US" smtClean="0"/>
              <a:t>18</a:t>
            </a:fld>
            <a:endParaRPr lang="en-US"/>
          </a:p>
        </p:txBody>
      </p:sp>
    </p:spTree>
    <p:extLst>
      <p:ext uri="{BB962C8B-B14F-4D97-AF65-F5344CB8AC3E}">
        <p14:creationId xmlns:p14="http://schemas.microsoft.com/office/powerpoint/2010/main" val="3731232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5B624-2A16-E7F9-6B08-BDEE2F37F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88C14-CB9A-03EC-217C-34CE9AF36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4F675-D452-6ED4-3D60-14677DB3DF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495DC9-BF5D-2C89-E568-7114D0777CA6}"/>
              </a:ext>
            </a:extLst>
          </p:cNvPr>
          <p:cNvSpPr>
            <a:spLocks noGrp="1"/>
          </p:cNvSpPr>
          <p:nvPr>
            <p:ph type="sldNum" sz="quarter" idx="5"/>
          </p:nvPr>
        </p:nvSpPr>
        <p:spPr/>
        <p:txBody>
          <a:bodyPr/>
          <a:lstStyle/>
          <a:p>
            <a:fld id="{5F2A8CFE-092B-46F7-8351-DA030A47113B}" type="slidenum">
              <a:rPr lang="en-US" smtClean="0"/>
              <a:t>19</a:t>
            </a:fld>
            <a:endParaRPr lang="en-US"/>
          </a:p>
        </p:txBody>
      </p:sp>
    </p:spTree>
    <p:extLst>
      <p:ext uri="{BB962C8B-B14F-4D97-AF65-F5344CB8AC3E}">
        <p14:creationId xmlns:p14="http://schemas.microsoft.com/office/powerpoint/2010/main" val="4046531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21</a:t>
            </a:fld>
            <a:endParaRPr lang="en-US"/>
          </a:p>
        </p:txBody>
      </p:sp>
    </p:spTree>
    <p:extLst>
      <p:ext uri="{BB962C8B-B14F-4D97-AF65-F5344CB8AC3E}">
        <p14:creationId xmlns:p14="http://schemas.microsoft.com/office/powerpoint/2010/main" val="1746883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66792-5CFD-2B2A-C75A-04BCC2491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F3E07-C2CE-00FE-8E42-BB580988B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24E42-501F-B2C4-3B4E-F57CB4962E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3FD095-28B3-07CB-2F55-83CB4D1E7640}"/>
              </a:ext>
            </a:extLst>
          </p:cNvPr>
          <p:cNvSpPr>
            <a:spLocks noGrp="1"/>
          </p:cNvSpPr>
          <p:nvPr>
            <p:ph type="sldNum" sz="quarter" idx="5"/>
          </p:nvPr>
        </p:nvSpPr>
        <p:spPr/>
        <p:txBody>
          <a:bodyPr/>
          <a:lstStyle/>
          <a:p>
            <a:fld id="{5F2A8CFE-092B-46F7-8351-DA030A47113B}" type="slidenum">
              <a:rPr lang="en-US" smtClean="0"/>
              <a:t>22</a:t>
            </a:fld>
            <a:endParaRPr lang="en-US"/>
          </a:p>
        </p:txBody>
      </p:sp>
    </p:spTree>
    <p:extLst>
      <p:ext uri="{BB962C8B-B14F-4D97-AF65-F5344CB8AC3E}">
        <p14:creationId xmlns:p14="http://schemas.microsoft.com/office/powerpoint/2010/main" val="2998424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23</a:t>
            </a:fld>
            <a:endParaRPr lang="en-US"/>
          </a:p>
        </p:txBody>
      </p:sp>
    </p:spTree>
    <p:extLst>
      <p:ext uri="{BB962C8B-B14F-4D97-AF65-F5344CB8AC3E}">
        <p14:creationId xmlns:p14="http://schemas.microsoft.com/office/powerpoint/2010/main" val="18691278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24</a:t>
            </a:fld>
            <a:endParaRPr lang="en-US"/>
          </a:p>
        </p:txBody>
      </p:sp>
    </p:spTree>
    <p:extLst>
      <p:ext uri="{BB962C8B-B14F-4D97-AF65-F5344CB8AC3E}">
        <p14:creationId xmlns:p14="http://schemas.microsoft.com/office/powerpoint/2010/main" val="21688005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A8CFE-092B-46F7-8351-DA030A47113B}" type="slidenum">
              <a:rPr lang="en-US" smtClean="0"/>
              <a:t>25</a:t>
            </a:fld>
            <a:endParaRPr lang="en-US"/>
          </a:p>
        </p:txBody>
      </p:sp>
    </p:spTree>
    <p:extLst>
      <p:ext uri="{BB962C8B-B14F-4D97-AF65-F5344CB8AC3E}">
        <p14:creationId xmlns:p14="http://schemas.microsoft.com/office/powerpoint/2010/main" val="2647647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28C5A-D2AC-6469-D831-A4B12BA200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F3BE67-D7B4-38D7-35F5-B49F4A9777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CB4D4B-157D-3779-B2E6-D7CC2A1FF896}"/>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5" name="Footer Placeholder 4">
            <a:extLst>
              <a:ext uri="{FF2B5EF4-FFF2-40B4-BE49-F238E27FC236}">
                <a16:creationId xmlns:a16="http://schemas.microsoft.com/office/drawing/2014/main" id="{7C81F205-3019-7DCC-4535-46EE21E94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68954D-A30C-D70B-F00A-7B987D9F2162}"/>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3950722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38A5-372D-0642-81E7-1BB4430F8E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4E7AF7-DB37-AAB2-2602-33D236DF2F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F93564-0B5E-53C8-ACA6-83292B5F1335}"/>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5" name="Footer Placeholder 4">
            <a:extLst>
              <a:ext uri="{FF2B5EF4-FFF2-40B4-BE49-F238E27FC236}">
                <a16:creationId xmlns:a16="http://schemas.microsoft.com/office/drawing/2014/main" id="{18628E0B-D0CC-B286-1C80-6E6219496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A3ABAA-E696-2E4A-2095-E63D8451979B}"/>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3689005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D6163-520E-3FAD-D2E1-43A1157BA3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8DDAB3-AAF9-C6E4-9F7A-6C22049E69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D6E6C6-ED80-0C13-E610-898808207A44}"/>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5" name="Footer Placeholder 4">
            <a:extLst>
              <a:ext uri="{FF2B5EF4-FFF2-40B4-BE49-F238E27FC236}">
                <a16:creationId xmlns:a16="http://schemas.microsoft.com/office/drawing/2014/main" id="{DFDA5817-93D2-CA86-D3C1-1AE1DA9B65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DA2451-7A64-2405-DF40-1613B9801DCF}"/>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3020540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21A66-2F4B-A9E5-0341-608D600814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CC23A9-6EB6-B1E2-3CD0-BB31029652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BAB7AD-0794-FCA4-9543-37FB166D15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6579D8-7131-C80D-05B9-D629A7D90934}"/>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6" name="Footer Placeholder 5">
            <a:extLst>
              <a:ext uri="{FF2B5EF4-FFF2-40B4-BE49-F238E27FC236}">
                <a16:creationId xmlns:a16="http://schemas.microsoft.com/office/drawing/2014/main" id="{14F67779-7C1A-4CC0-E5FC-30975E8FBA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F767B3-A62A-3677-69D6-0D53FA46BAFC}"/>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3214232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2EA23-206A-5549-3649-72D211CC06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20132B-A366-7CC0-DB9E-74EDC943B5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928165-4077-C620-66CD-D7986AC34E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397C6F-48D5-5259-730A-4EEC5176CB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D8CBA-2778-EB25-B958-C84DE47157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943935-978E-770D-0AE7-E006EAD6AAA6}"/>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8" name="Footer Placeholder 7">
            <a:extLst>
              <a:ext uri="{FF2B5EF4-FFF2-40B4-BE49-F238E27FC236}">
                <a16:creationId xmlns:a16="http://schemas.microsoft.com/office/drawing/2014/main" id="{D01EFAA7-DA6E-0455-6076-30AABBD855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FC8692-C6BA-B58C-74FF-E7C7475D8B99}"/>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10504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54D5-2959-A591-76F8-CF824594AE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505936-819B-F568-D616-8A4EC9A86F53}"/>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4" name="Footer Placeholder 3">
            <a:extLst>
              <a:ext uri="{FF2B5EF4-FFF2-40B4-BE49-F238E27FC236}">
                <a16:creationId xmlns:a16="http://schemas.microsoft.com/office/drawing/2014/main" id="{8B244638-2C2D-5336-B199-A896C03B3B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25E134-AADD-20E4-7B48-2A7225DCD6F0}"/>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3833253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2F2115-BB46-B55C-468E-040CB83C889E}"/>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3" name="Footer Placeholder 2">
            <a:extLst>
              <a:ext uri="{FF2B5EF4-FFF2-40B4-BE49-F238E27FC236}">
                <a16:creationId xmlns:a16="http://schemas.microsoft.com/office/drawing/2014/main" id="{CCCE9566-0DB4-5516-9112-CF6999D416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7BD643-A182-2233-37E6-3FF52C7D3CD5}"/>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1293071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F1B8A-DAFC-14DD-2EA0-47952F7BE5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BEA8F4-39C2-DDCD-E688-CD012A2BD5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722BF7-148D-5240-A328-0A805569A0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C05C3D-6FE9-0973-9EC5-B395B9799A04}"/>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6" name="Footer Placeholder 5">
            <a:extLst>
              <a:ext uri="{FF2B5EF4-FFF2-40B4-BE49-F238E27FC236}">
                <a16:creationId xmlns:a16="http://schemas.microsoft.com/office/drawing/2014/main" id="{60201EA4-6209-DA64-1B19-88E22D90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8A168D-EE78-53B5-4EA8-4DCAE0550711}"/>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543503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C4CA9-EC67-84E8-F50B-26E01BAE13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CDD91F-6E8C-1FBB-4E30-F594A894E2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0711E8-22B1-FEC5-3B0F-545AD70574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B6E00A-B458-5EEC-06C0-21C4A350C2CA}"/>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6" name="Footer Placeholder 5">
            <a:extLst>
              <a:ext uri="{FF2B5EF4-FFF2-40B4-BE49-F238E27FC236}">
                <a16:creationId xmlns:a16="http://schemas.microsoft.com/office/drawing/2014/main" id="{83391EE3-8B57-7B76-94E2-804501B4C2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636895-4D0A-67AA-78C7-CE1825162A65}"/>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410378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4820A-1CEF-4F0E-E019-2877899599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E0CAC4-B825-F3F2-BBA2-6A0DC0A89D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ABF1CC-882D-DFF0-1FB2-77B820AB8E3A}"/>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5" name="Footer Placeholder 4">
            <a:extLst>
              <a:ext uri="{FF2B5EF4-FFF2-40B4-BE49-F238E27FC236}">
                <a16:creationId xmlns:a16="http://schemas.microsoft.com/office/drawing/2014/main" id="{9C9EEEAC-46E0-07E2-F8E9-86836D9AB6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F26473-3477-D567-C34D-A831F5D3EEC7}"/>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3252355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867D6B-9269-5FEF-A191-4F14B4DB8C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7BBA29-A9F3-7C03-25CB-9B4D956FE0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823501-7C23-FE4B-261F-EF321C1ED816}"/>
              </a:ext>
            </a:extLst>
          </p:cNvPr>
          <p:cNvSpPr>
            <a:spLocks noGrp="1"/>
          </p:cNvSpPr>
          <p:nvPr>
            <p:ph type="dt" sz="half" idx="10"/>
          </p:nvPr>
        </p:nvSpPr>
        <p:spPr/>
        <p:txBody>
          <a:bodyPr/>
          <a:lstStyle/>
          <a:p>
            <a:fld id="{2D30E77A-AF39-406C-A2E1-B5BD00089B36}" type="datetimeFigureOut">
              <a:rPr lang="en-US" smtClean="0"/>
              <a:t>2/2/2026</a:t>
            </a:fld>
            <a:endParaRPr lang="en-US"/>
          </a:p>
        </p:txBody>
      </p:sp>
      <p:sp>
        <p:nvSpPr>
          <p:cNvPr id="5" name="Footer Placeholder 4">
            <a:extLst>
              <a:ext uri="{FF2B5EF4-FFF2-40B4-BE49-F238E27FC236}">
                <a16:creationId xmlns:a16="http://schemas.microsoft.com/office/drawing/2014/main" id="{2E462DCF-D9C4-D4C9-7A76-0909D69CC1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B13987-0F4C-8A9C-B9A3-18ADACD3876B}"/>
              </a:ext>
            </a:extLst>
          </p:cNvPr>
          <p:cNvSpPr>
            <a:spLocks noGrp="1"/>
          </p:cNvSpPr>
          <p:nvPr>
            <p:ph type="sldNum" sz="quarter" idx="12"/>
          </p:nvPr>
        </p:nvSpPr>
        <p:spPr/>
        <p:txBody>
          <a:bodyPr/>
          <a:lstStyle/>
          <a:p>
            <a:fld id="{10C1F7AE-4EEA-46A4-812A-E513474EDB41}" type="slidenum">
              <a:rPr lang="en-US" smtClean="0"/>
              <a:t>‹#›</a:t>
            </a:fld>
            <a:endParaRPr lang="en-US"/>
          </a:p>
        </p:txBody>
      </p:sp>
    </p:spTree>
    <p:extLst>
      <p:ext uri="{BB962C8B-B14F-4D97-AF65-F5344CB8AC3E}">
        <p14:creationId xmlns:p14="http://schemas.microsoft.com/office/powerpoint/2010/main" val="2147441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473B14-A7E4-5293-65C0-23AC438252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1F61B2-1160-CFCB-D5D1-BBA47C0D99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EC7F93-3AE2-2BE2-C075-81F92E8158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30E77A-AF39-406C-A2E1-B5BD00089B36}" type="datetimeFigureOut">
              <a:rPr lang="en-US" smtClean="0"/>
              <a:t>2/2/2026</a:t>
            </a:fld>
            <a:endParaRPr lang="en-US"/>
          </a:p>
        </p:txBody>
      </p:sp>
      <p:sp>
        <p:nvSpPr>
          <p:cNvPr id="5" name="Footer Placeholder 4">
            <a:extLst>
              <a:ext uri="{FF2B5EF4-FFF2-40B4-BE49-F238E27FC236}">
                <a16:creationId xmlns:a16="http://schemas.microsoft.com/office/drawing/2014/main" id="{64AC0894-30E1-F78C-FA26-BDC2204A7A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72F0B7-7483-4F39-D630-8CED6BD3A0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C1F7AE-4EEA-46A4-812A-E513474EDB41}" type="slidenum">
              <a:rPr lang="en-US" smtClean="0"/>
              <a:t>‹#›</a:t>
            </a:fld>
            <a:endParaRPr lang="en-US"/>
          </a:p>
        </p:txBody>
      </p:sp>
    </p:spTree>
    <p:extLst>
      <p:ext uri="{BB962C8B-B14F-4D97-AF65-F5344CB8AC3E}">
        <p14:creationId xmlns:p14="http://schemas.microsoft.com/office/powerpoint/2010/main" val="2808638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www.pacb.com/blog/the-evolution-of-dna-sequencing-tool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X9566yI2cBo"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www.yout-ube.com/watch?v=dVRB4CaLizc"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hyperlink" Target="https://youtu.be/zBPKj0mMcDg"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fCd6B5HRaZ8"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www.youtube.com/watch?v=EDVKxSNdSic"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4.jpeg"/><Relationship Id="rId7" Type="http://schemas.openxmlformats.org/officeDocument/2006/relationships/hyperlink" Target="https://www.10xgenomics.com/videos/ct07p433md?autoplay=true&amp;wvideo=ct07p433md"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hyperlink" Target="https://youtu.be/992RkrUwGfo?si=g24nko9bNq71Z_Oi&amp;t=68" TargetMode="Externa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33.jpeg"/><Relationship Id="rId7" Type="http://schemas.openxmlformats.org/officeDocument/2006/relationships/image" Target="../media/image37.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6.jpeg"/><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SARS-CoV-2"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hyperlink" Target="https://youtu.be/NHCJ8PtYCFc"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youtu.be/_lD8JyAbwEo" TargetMode="External"/><Relationship Id="rId5" Type="http://schemas.openxmlformats.org/officeDocument/2006/relationships/image" Target="../media/image40.png"/><Relationship Id="rId4" Type="http://schemas.openxmlformats.org/officeDocument/2006/relationships/hyperlink" Target="https://environmentalmicrobiome.biomedcentral.com/articles/10.1186/s40793-017-0239-1"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hyperlink" Target="https://www.youtube.com/watch?v=fwHreHs9FHg"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https://www.youtube.com/watch?v=RcP85JHLmnI" TargetMode="External"/><Relationship Id="rId5" Type="http://schemas.openxmlformats.org/officeDocument/2006/relationships/image" Target="../media/image42.jpeg"/><Relationship Id="rId4" Type="http://schemas.openxmlformats.org/officeDocument/2006/relationships/hyperlink" Target="https://doi.org/10.3390/v16050798"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4629F-06F8-BC44-35D6-125F42FE4789}"/>
              </a:ext>
            </a:extLst>
          </p:cNvPr>
          <p:cNvSpPr>
            <a:spLocks noGrp="1"/>
          </p:cNvSpPr>
          <p:nvPr>
            <p:ph type="ctrTitle"/>
          </p:nvPr>
        </p:nvSpPr>
        <p:spPr>
          <a:xfrm>
            <a:off x="1638300" y="2692400"/>
            <a:ext cx="9144000" cy="544513"/>
          </a:xfrm>
        </p:spPr>
        <p:txBody>
          <a:bodyPr>
            <a:normAutofit fontScale="90000"/>
          </a:bodyPr>
          <a:lstStyle/>
          <a:p>
            <a:r>
              <a:rPr lang="en-US" sz="3600" b="1" dirty="0"/>
              <a:t>THEORETICAL BASIS FOR SEQUENCING</a:t>
            </a:r>
          </a:p>
        </p:txBody>
      </p:sp>
    </p:spTree>
    <p:extLst>
      <p:ext uri="{BB962C8B-B14F-4D97-AF65-F5344CB8AC3E}">
        <p14:creationId xmlns:p14="http://schemas.microsoft.com/office/powerpoint/2010/main" val="1327067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3440F3-452D-538F-1DDC-CF87F63CAE94}"/>
              </a:ext>
            </a:extLst>
          </p:cNvPr>
          <p:cNvSpPr txBox="1"/>
          <p:nvPr/>
        </p:nvSpPr>
        <p:spPr>
          <a:xfrm>
            <a:off x="133502" y="228329"/>
            <a:ext cx="11924996" cy="461665"/>
          </a:xfrm>
          <a:prstGeom prst="rect">
            <a:avLst/>
          </a:prstGeom>
          <a:noFill/>
        </p:spPr>
        <p:txBody>
          <a:bodyPr wrap="none" rtlCol="0">
            <a:spAutoFit/>
          </a:bodyPr>
          <a:lstStyle/>
          <a:p>
            <a:r>
              <a:rPr lang="en-US" sz="2400" dirty="0"/>
              <a:t>Evolution of sequencing technology and its influence in Scientific Discovery and Medicine</a:t>
            </a:r>
          </a:p>
        </p:txBody>
      </p:sp>
      <p:grpSp>
        <p:nvGrpSpPr>
          <p:cNvPr id="30" name="Group 29">
            <a:extLst>
              <a:ext uri="{FF2B5EF4-FFF2-40B4-BE49-F238E27FC236}">
                <a16:creationId xmlns:a16="http://schemas.microsoft.com/office/drawing/2014/main" id="{C0335A72-3A54-6505-97DD-6C566DE79921}"/>
              </a:ext>
            </a:extLst>
          </p:cNvPr>
          <p:cNvGrpSpPr/>
          <p:nvPr/>
        </p:nvGrpSpPr>
        <p:grpSpPr>
          <a:xfrm>
            <a:off x="11305" y="1213183"/>
            <a:ext cx="12143589" cy="5223781"/>
            <a:chOff x="-25801" y="938537"/>
            <a:chExt cx="12143589" cy="5223781"/>
          </a:xfrm>
        </p:grpSpPr>
        <p:pic>
          <p:nvPicPr>
            <p:cNvPr id="1026" name="Picture 2" descr="Fig. 8.1">
              <a:extLst>
                <a:ext uri="{FF2B5EF4-FFF2-40B4-BE49-F238E27FC236}">
                  <a16:creationId xmlns:a16="http://schemas.microsoft.com/office/drawing/2014/main" id="{48C83555-DF09-3BAC-AF5D-DA12D081E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1483" y="1705537"/>
              <a:ext cx="8303833" cy="377348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8D6D4A5-F0DC-CC45-8A07-BF6D313996F0}"/>
                </a:ext>
              </a:extLst>
            </p:cNvPr>
            <p:cNvSpPr txBox="1"/>
            <p:nvPr/>
          </p:nvSpPr>
          <p:spPr>
            <a:xfrm>
              <a:off x="9220200" y="5331321"/>
              <a:ext cx="2692400" cy="830997"/>
            </a:xfrm>
            <a:prstGeom prst="rect">
              <a:avLst/>
            </a:prstGeom>
            <a:noFill/>
          </p:spPr>
          <p:txBody>
            <a:bodyPr wrap="square">
              <a:spAutoFit/>
            </a:bodyPr>
            <a:lstStyle/>
            <a:p>
              <a:r>
                <a:rPr lang="en-US" sz="800" b="0" i="0" dirty="0">
                  <a:solidFill>
                    <a:srgbClr val="222222"/>
                  </a:solidFill>
                  <a:effectLst/>
                  <a:latin typeface="Merriweather Sans" pitchFamily="2" charset="0"/>
                </a:rPr>
                <a:t>Morganti, S. </a:t>
              </a:r>
              <a:r>
                <a:rPr lang="en-US" sz="800" b="0" i="1" dirty="0">
                  <a:solidFill>
                    <a:srgbClr val="222222"/>
                  </a:solidFill>
                  <a:effectLst/>
                  <a:latin typeface="Merriweather Sans" pitchFamily="2" charset="0"/>
                </a:rPr>
                <a:t>et al.</a:t>
              </a:r>
              <a:r>
                <a:rPr lang="en-US" sz="800" b="0" i="0" dirty="0">
                  <a:solidFill>
                    <a:srgbClr val="222222"/>
                  </a:solidFill>
                  <a:effectLst/>
                  <a:latin typeface="Merriweather Sans" pitchFamily="2" charset="0"/>
                </a:rPr>
                <a:t> (2020). Role of Next-Generation Sequencing Technologies in Personalized Medicine. In: </a:t>
              </a:r>
              <a:r>
                <a:rPr lang="en-US" sz="800" b="0" i="0" dirty="0" err="1">
                  <a:solidFill>
                    <a:srgbClr val="222222"/>
                  </a:solidFill>
                  <a:effectLst/>
                  <a:latin typeface="Merriweather Sans" pitchFamily="2" charset="0"/>
                </a:rPr>
                <a:t>Pravettoni</a:t>
              </a:r>
              <a:r>
                <a:rPr lang="en-US" sz="800" b="0" i="0" dirty="0">
                  <a:solidFill>
                    <a:srgbClr val="222222"/>
                  </a:solidFill>
                  <a:effectLst/>
                  <a:latin typeface="Merriweather Sans" pitchFamily="2" charset="0"/>
                </a:rPr>
                <a:t>, G., </a:t>
              </a:r>
              <a:r>
                <a:rPr lang="en-US" sz="800" b="0" i="0" dirty="0" err="1">
                  <a:solidFill>
                    <a:srgbClr val="222222"/>
                  </a:solidFill>
                  <a:effectLst/>
                  <a:latin typeface="Merriweather Sans" pitchFamily="2" charset="0"/>
                </a:rPr>
                <a:t>Triberti</a:t>
              </a:r>
              <a:r>
                <a:rPr lang="en-US" sz="800" b="0" i="0" dirty="0">
                  <a:solidFill>
                    <a:srgbClr val="222222"/>
                  </a:solidFill>
                  <a:effectLst/>
                  <a:latin typeface="Merriweather Sans" pitchFamily="2" charset="0"/>
                </a:rPr>
                <a:t>, S. (eds) P5 eHealth: An Agenda for the Health Technologies of the Future. Springer, Cham. https://doi.org/10.1007/978-3-030-27994-3_8</a:t>
              </a:r>
              <a:endParaRPr lang="en-US" sz="800" dirty="0"/>
            </a:p>
          </p:txBody>
        </p:sp>
        <p:sp>
          <p:nvSpPr>
            <p:cNvPr id="9" name="Rectangle 8">
              <a:extLst>
                <a:ext uri="{FF2B5EF4-FFF2-40B4-BE49-F238E27FC236}">
                  <a16:creationId xmlns:a16="http://schemas.microsoft.com/office/drawing/2014/main" id="{14D66C15-CE44-5748-69DE-886DD69B79AE}"/>
                </a:ext>
              </a:extLst>
            </p:cNvPr>
            <p:cNvSpPr/>
            <p:nvPr/>
          </p:nvSpPr>
          <p:spPr>
            <a:xfrm>
              <a:off x="1692247" y="4208552"/>
              <a:ext cx="1422400" cy="4127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14DA074-9C01-AC09-F5FB-3ACE4D696F09}"/>
                </a:ext>
              </a:extLst>
            </p:cNvPr>
            <p:cNvSpPr txBox="1"/>
            <p:nvPr/>
          </p:nvSpPr>
          <p:spPr>
            <a:xfrm>
              <a:off x="-25801" y="2819915"/>
              <a:ext cx="3221933" cy="738664"/>
            </a:xfrm>
            <a:prstGeom prst="rect">
              <a:avLst/>
            </a:prstGeom>
            <a:noFill/>
          </p:spPr>
          <p:txBody>
            <a:bodyPr wrap="square" rtlCol="0">
              <a:spAutoFit/>
            </a:bodyPr>
            <a:lstStyle/>
            <a:p>
              <a:pPr marL="171450" indent="-171450">
                <a:buFont typeface="Arial" panose="020B0604020202020204" pitchFamily="34" charset="0"/>
                <a:buChar char="•"/>
              </a:pPr>
              <a:r>
                <a:rPr lang="en-US" sz="1050" b="1" dirty="0">
                  <a:solidFill>
                    <a:schemeClr val="tx2">
                      <a:lumMod val="75000"/>
                      <a:lumOff val="25000"/>
                    </a:schemeClr>
                  </a:solidFill>
                </a:rPr>
                <a:t>96 DNA fragments (reads) sequenced per run.</a:t>
              </a:r>
            </a:p>
            <a:p>
              <a:pPr marL="171450" indent="-171450">
                <a:buFont typeface="Arial" panose="020B0604020202020204" pitchFamily="34" charset="0"/>
                <a:buChar char="•"/>
              </a:pPr>
              <a:r>
                <a:rPr lang="en-US" sz="1050" b="1" dirty="0">
                  <a:solidFill>
                    <a:schemeClr val="tx2">
                      <a:lumMod val="75000"/>
                      <a:lumOff val="25000"/>
                    </a:schemeClr>
                  </a:solidFill>
                </a:rPr>
                <a:t>DNA fragments were identical</a:t>
              </a:r>
            </a:p>
            <a:p>
              <a:pPr marL="171450" indent="-171450">
                <a:buFont typeface="Arial" panose="020B0604020202020204" pitchFamily="34" charset="0"/>
                <a:buChar char="•"/>
              </a:pPr>
              <a:r>
                <a:rPr lang="en-US" sz="1050" dirty="0">
                  <a:solidFill>
                    <a:schemeClr val="tx2">
                      <a:lumMod val="75000"/>
                      <a:lumOff val="25000"/>
                    </a:schemeClr>
                  </a:solidFill>
                </a:rPr>
                <a:t>2-3h run time</a:t>
              </a:r>
            </a:p>
            <a:p>
              <a:pPr marL="171450" indent="-171450">
                <a:buFont typeface="Arial" panose="020B0604020202020204" pitchFamily="34" charset="0"/>
                <a:buChar char="•"/>
              </a:pPr>
              <a:r>
                <a:rPr lang="en-US" sz="1050" dirty="0">
                  <a:solidFill>
                    <a:schemeClr val="tx2">
                      <a:lumMod val="75000"/>
                      <a:lumOff val="25000"/>
                    </a:schemeClr>
                  </a:solidFill>
                </a:rPr>
                <a:t>Short fragment length sequenced: 700-900bp</a:t>
              </a:r>
            </a:p>
          </p:txBody>
        </p:sp>
        <p:sp>
          <p:nvSpPr>
            <p:cNvPr id="11" name="Rectangle 10">
              <a:extLst>
                <a:ext uri="{FF2B5EF4-FFF2-40B4-BE49-F238E27FC236}">
                  <a16:creationId xmlns:a16="http://schemas.microsoft.com/office/drawing/2014/main" id="{F8EFF743-9C11-7F01-8408-CF1DC929B3D7}"/>
                </a:ext>
              </a:extLst>
            </p:cNvPr>
            <p:cNvSpPr/>
            <p:nvPr/>
          </p:nvSpPr>
          <p:spPr>
            <a:xfrm>
              <a:off x="6345334" y="4562090"/>
              <a:ext cx="1522316" cy="479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AEDA67B-8ED4-AAFA-F241-74AAC33F9BD8}"/>
                </a:ext>
              </a:extLst>
            </p:cNvPr>
            <p:cNvSpPr txBox="1"/>
            <p:nvPr/>
          </p:nvSpPr>
          <p:spPr>
            <a:xfrm>
              <a:off x="7920376" y="4562090"/>
              <a:ext cx="3509624" cy="630942"/>
            </a:xfrm>
            <a:prstGeom prst="rect">
              <a:avLst/>
            </a:prstGeom>
            <a:noFill/>
          </p:spPr>
          <p:txBody>
            <a:bodyPr wrap="square" rtlCol="0">
              <a:spAutoFit/>
            </a:bodyPr>
            <a:lstStyle/>
            <a:p>
              <a:pPr marL="171450" indent="-171450">
                <a:buFont typeface="Arial" panose="020B0604020202020204" pitchFamily="34" charset="0"/>
                <a:buChar char="•"/>
              </a:pPr>
              <a:r>
                <a:rPr lang="en-US" sz="1400" b="1" dirty="0">
                  <a:solidFill>
                    <a:schemeClr val="tx2">
                      <a:lumMod val="75000"/>
                      <a:lumOff val="25000"/>
                    </a:schemeClr>
                  </a:solidFill>
                </a:rPr>
                <a:t>20B</a:t>
              </a:r>
              <a:r>
                <a:rPr lang="en-US" sz="1050" b="1" dirty="0">
                  <a:solidFill>
                    <a:schemeClr val="tx2">
                      <a:lumMod val="75000"/>
                      <a:lumOff val="25000"/>
                    </a:schemeClr>
                  </a:solidFill>
                </a:rPr>
                <a:t> fragments sequenced per run (10K fold more!)</a:t>
              </a:r>
            </a:p>
            <a:p>
              <a:pPr marL="171450" indent="-171450">
                <a:buFont typeface="Arial" panose="020B0604020202020204" pitchFamily="34" charset="0"/>
                <a:buChar char="•"/>
              </a:pPr>
              <a:r>
                <a:rPr lang="en-US" sz="1050" dirty="0">
                  <a:solidFill>
                    <a:schemeClr val="tx2">
                      <a:lumMod val="75000"/>
                      <a:lumOff val="25000"/>
                    </a:schemeClr>
                  </a:solidFill>
                </a:rPr>
                <a:t>36-44h run time</a:t>
              </a:r>
            </a:p>
            <a:p>
              <a:pPr marL="171450" indent="-171450">
                <a:buFont typeface="Arial" panose="020B0604020202020204" pitchFamily="34" charset="0"/>
                <a:buChar char="•"/>
              </a:pPr>
              <a:r>
                <a:rPr lang="en-US" sz="1050" dirty="0">
                  <a:solidFill>
                    <a:schemeClr val="tx2">
                      <a:lumMod val="75000"/>
                      <a:lumOff val="25000"/>
                    </a:schemeClr>
                  </a:solidFill>
                </a:rPr>
                <a:t>Short fragment length sequenced: 300-500 bp</a:t>
              </a:r>
            </a:p>
          </p:txBody>
        </p:sp>
        <p:cxnSp>
          <p:nvCxnSpPr>
            <p:cNvPr id="22" name="Connector: Elbow 21">
              <a:extLst>
                <a:ext uri="{FF2B5EF4-FFF2-40B4-BE49-F238E27FC236}">
                  <a16:creationId xmlns:a16="http://schemas.microsoft.com/office/drawing/2014/main" id="{C73D5C49-016E-466B-4642-0062B6924366}"/>
                </a:ext>
              </a:extLst>
            </p:cNvPr>
            <p:cNvCxnSpPr>
              <a:cxnSpLocks/>
            </p:cNvCxnSpPr>
            <p:nvPr/>
          </p:nvCxnSpPr>
          <p:spPr>
            <a:xfrm flipV="1">
              <a:off x="7791450" y="1200150"/>
              <a:ext cx="2774950" cy="1117600"/>
            </a:xfrm>
            <a:prstGeom prst="bentConnector3">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457958A-4C70-D8DB-2C2F-84184428413D}"/>
                </a:ext>
              </a:extLst>
            </p:cNvPr>
            <p:cNvSpPr txBox="1"/>
            <p:nvPr/>
          </p:nvSpPr>
          <p:spPr>
            <a:xfrm>
              <a:off x="9363075" y="938537"/>
              <a:ext cx="1676686" cy="461665"/>
            </a:xfrm>
            <a:prstGeom prst="rect">
              <a:avLst/>
            </a:prstGeom>
            <a:solidFill>
              <a:schemeClr val="bg1"/>
            </a:solidFill>
            <a:ln w="12700">
              <a:solidFill>
                <a:srgbClr val="FF0000"/>
              </a:solidFill>
            </a:ln>
          </p:spPr>
          <p:txBody>
            <a:bodyPr wrap="square" rtlCol="0">
              <a:spAutoFit/>
            </a:bodyPr>
            <a:lstStyle/>
            <a:p>
              <a:r>
                <a:rPr lang="en-US" sz="1200" dirty="0"/>
                <a:t>Introduction of long read sequencing</a:t>
              </a:r>
            </a:p>
          </p:txBody>
        </p:sp>
        <p:sp>
          <p:nvSpPr>
            <p:cNvPr id="29" name="TextBox 28">
              <a:extLst>
                <a:ext uri="{FF2B5EF4-FFF2-40B4-BE49-F238E27FC236}">
                  <a16:creationId xmlns:a16="http://schemas.microsoft.com/office/drawing/2014/main" id="{6F7849FA-275A-1B8B-60FB-A35C9262F5D0}"/>
                </a:ext>
              </a:extLst>
            </p:cNvPr>
            <p:cNvSpPr txBox="1"/>
            <p:nvPr/>
          </p:nvSpPr>
          <p:spPr>
            <a:xfrm>
              <a:off x="9220200" y="1461545"/>
              <a:ext cx="2897588" cy="415498"/>
            </a:xfrm>
            <a:prstGeom prst="rect">
              <a:avLst/>
            </a:prstGeom>
            <a:noFill/>
          </p:spPr>
          <p:txBody>
            <a:bodyPr wrap="square" rtlCol="0">
              <a:spAutoFit/>
            </a:bodyPr>
            <a:lstStyle/>
            <a:p>
              <a:pPr marL="171450" indent="-171450">
                <a:buFont typeface="Arial" panose="020B0604020202020204" pitchFamily="34" charset="0"/>
                <a:buChar char="•"/>
              </a:pPr>
              <a:r>
                <a:rPr lang="en-US" sz="1050" dirty="0">
                  <a:solidFill>
                    <a:schemeClr val="tx2">
                      <a:lumMod val="75000"/>
                      <a:lumOff val="25000"/>
                    </a:schemeClr>
                  </a:solidFill>
                </a:rPr>
                <a:t>Avg fragment length sequenced: </a:t>
              </a:r>
              <a:r>
                <a:rPr lang="en-US" sz="1050" b="1" dirty="0">
                  <a:solidFill>
                    <a:schemeClr val="tx2">
                      <a:lumMod val="75000"/>
                      <a:lumOff val="25000"/>
                    </a:schemeClr>
                  </a:solidFill>
                </a:rPr>
                <a:t>30,000 bp</a:t>
              </a:r>
            </a:p>
            <a:p>
              <a:pPr marL="171450" indent="-171450">
                <a:buFont typeface="Arial" panose="020B0604020202020204" pitchFamily="34" charset="0"/>
                <a:buChar char="•"/>
              </a:pPr>
              <a:r>
                <a:rPr lang="en-US" sz="1050" dirty="0">
                  <a:solidFill>
                    <a:schemeClr val="tx2">
                      <a:lumMod val="75000"/>
                      <a:lumOff val="25000"/>
                    </a:schemeClr>
                  </a:solidFill>
                </a:rPr>
                <a:t>400,000 fragments sequenced per run</a:t>
              </a:r>
            </a:p>
          </p:txBody>
        </p:sp>
      </p:grpSp>
      <p:sp>
        <p:nvSpPr>
          <p:cNvPr id="2" name="TextBox 1">
            <a:extLst>
              <a:ext uri="{FF2B5EF4-FFF2-40B4-BE49-F238E27FC236}">
                <a16:creationId xmlns:a16="http://schemas.microsoft.com/office/drawing/2014/main" id="{A77C8052-37AD-8FF5-740C-AB63ACFB1BC7}"/>
              </a:ext>
            </a:extLst>
          </p:cNvPr>
          <p:cNvSpPr txBox="1"/>
          <p:nvPr/>
        </p:nvSpPr>
        <p:spPr>
          <a:xfrm>
            <a:off x="1408281" y="4483198"/>
            <a:ext cx="420308" cy="369332"/>
          </a:xfrm>
          <a:prstGeom prst="rect">
            <a:avLst/>
          </a:prstGeom>
          <a:noFill/>
        </p:spPr>
        <p:txBody>
          <a:bodyPr wrap="none" rtlCol="0">
            <a:spAutoFit/>
          </a:bodyPr>
          <a:lstStyle/>
          <a:p>
            <a:r>
              <a:rPr lang="en-US" dirty="0">
                <a:solidFill>
                  <a:srgbClr val="FF0000"/>
                </a:solidFill>
              </a:rPr>
              <a:t>1. </a:t>
            </a:r>
          </a:p>
        </p:txBody>
      </p:sp>
      <p:sp>
        <p:nvSpPr>
          <p:cNvPr id="3" name="TextBox 2">
            <a:extLst>
              <a:ext uri="{FF2B5EF4-FFF2-40B4-BE49-F238E27FC236}">
                <a16:creationId xmlns:a16="http://schemas.microsoft.com/office/drawing/2014/main" id="{E3A3F0E2-61FD-5D90-EB0F-977372DDA479}"/>
              </a:ext>
            </a:extLst>
          </p:cNvPr>
          <p:cNvSpPr txBox="1"/>
          <p:nvPr/>
        </p:nvSpPr>
        <p:spPr>
          <a:xfrm>
            <a:off x="9108270" y="1150422"/>
            <a:ext cx="420308" cy="369332"/>
          </a:xfrm>
          <a:prstGeom prst="rect">
            <a:avLst/>
          </a:prstGeom>
          <a:noFill/>
        </p:spPr>
        <p:txBody>
          <a:bodyPr wrap="none" rtlCol="0">
            <a:spAutoFit/>
          </a:bodyPr>
          <a:lstStyle/>
          <a:p>
            <a:r>
              <a:rPr lang="en-US" dirty="0">
                <a:solidFill>
                  <a:srgbClr val="FF0000"/>
                </a:solidFill>
              </a:rPr>
              <a:t>3. </a:t>
            </a:r>
          </a:p>
        </p:txBody>
      </p:sp>
      <p:sp>
        <p:nvSpPr>
          <p:cNvPr id="4" name="TextBox 3">
            <a:extLst>
              <a:ext uri="{FF2B5EF4-FFF2-40B4-BE49-F238E27FC236}">
                <a16:creationId xmlns:a16="http://schemas.microsoft.com/office/drawing/2014/main" id="{FEFA47DF-F0D5-6FE8-1D62-64036693CAA9}"/>
              </a:ext>
            </a:extLst>
          </p:cNvPr>
          <p:cNvSpPr txBox="1"/>
          <p:nvPr/>
        </p:nvSpPr>
        <p:spPr>
          <a:xfrm>
            <a:off x="6038332" y="4931293"/>
            <a:ext cx="420308" cy="369332"/>
          </a:xfrm>
          <a:prstGeom prst="rect">
            <a:avLst/>
          </a:prstGeom>
          <a:noFill/>
        </p:spPr>
        <p:txBody>
          <a:bodyPr wrap="none" rtlCol="0">
            <a:spAutoFit/>
          </a:bodyPr>
          <a:lstStyle/>
          <a:p>
            <a:r>
              <a:rPr lang="en-US" dirty="0">
                <a:solidFill>
                  <a:srgbClr val="FF0000"/>
                </a:solidFill>
              </a:rPr>
              <a:t>2. </a:t>
            </a:r>
          </a:p>
        </p:txBody>
      </p:sp>
    </p:spTree>
    <p:extLst>
      <p:ext uri="{BB962C8B-B14F-4D97-AF65-F5344CB8AC3E}">
        <p14:creationId xmlns:p14="http://schemas.microsoft.com/office/powerpoint/2010/main" val="2977494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volution of sequencing technology - PacBio">
            <a:extLst>
              <a:ext uri="{FF2B5EF4-FFF2-40B4-BE49-F238E27FC236}">
                <a16:creationId xmlns:a16="http://schemas.microsoft.com/office/drawing/2014/main" id="{E397E032-F768-FE0C-5BE1-D99B301F2A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0240" y="465746"/>
            <a:ext cx="8177252" cy="38394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8474080-848B-6D32-4342-96FB26BA5752}"/>
              </a:ext>
            </a:extLst>
          </p:cNvPr>
          <p:cNvSpPr txBox="1"/>
          <p:nvPr/>
        </p:nvSpPr>
        <p:spPr>
          <a:xfrm>
            <a:off x="5448736" y="132393"/>
            <a:ext cx="1167307" cy="461665"/>
          </a:xfrm>
          <a:prstGeom prst="rect">
            <a:avLst/>
          </a:prstGeom>
          <a:noFill/>
        </p:spPr>
        <p:txBody>
          <a:bodyPr wrap="none" rtlCol="0">
            <a:spAutoFit/>
          </a:bodyPr>
          <a:lstStyle/>
          <a:p>
            <a:r>
              <a:rPr lang="en-US" sz="2400" dirty="0"/>
              <a:t>Outline</a:t>
            </a:r>
          </a:p>
        </p:txBody>
      </p:sp>
      <p:sp>
        <p:nvSpPr>
          <p:cNvPr id="4" name="TextBox 3">
            <a:extLst>
              <a:ext uri="{FF2B5EF4-FFF2-40B4-BE49-F238E27FC236}">
                <a16:creationId xmlns:a16="http://schemas.microsoft.com/office/drawing/2014/main" id="{7BA59983-55CB-C9E3-203C-C90B21028E31}"/>
              </a:ext>
            </a:extLst>
          </p:cNvPr>
          <p:cNvSpPr txBox="1"/>
          <p:nvPr/>
        </p:nvSpPr>
        <p:spPr>
          <a:xfrm>
            <a:off x="9831784" y="3429000"/>
            <a:ext cx="2270101" cy="584775"/>
          </a:xfrm>
          <a:prstGeom prst="rect">
            <a:avLst/>
          </a:prstGeom>
          <a:noFill/>
        </p:spPr>
        <p:txBody>
          <a:bodyPr wrap="square">
            <a:spAutoFit/>
          </a:bodyPr>
          <a:lstStyle/>
          <a:p>
            <a:r>
              <a:rPr lang="en-US" sz="800" dirty="0"/>
              <a:t>PacBio: Mar25/2020: Sequencing 101</a:t>
            </a:r>
          </a:p>
          <a:p>
            <a:r>
              <a:rPr lang="en-US" sz="800" dirty="0">
                <a:hlinkClick r:id="rId4"/>
              </a:rPr>
              <a:t>https://www.pacb.com/blog/the-evolution-of-dna-sequencing-tools/</a:t>
            </a:r>
            <a:endParaRPr lang="en-US" sz="800" dirty="0"/>
          </a:p>
          <a:p>
            <a:endParaRPr lang="en-US" sz="800" dirty="0"/>
          </a:p>
        </p:txBody>
      </p:sp>
      <p:grpSp>
        <p:nvGrpSpPr>
          <p:cNvPr id="8" name="Group 7">
            <a:extLst>
              <a:ext uri="{FF2B5EF4-FFF2-40B4-BE49-F238E27FC236}">
                <a16:creationId xmlns:a16="http://schemas.microsoft.com/office/drawing/2014/main" id="{8E309C90-F6D9-EB1F-E040-C24BD16BAB4A}"/>
              </a:ext>
            </a:extLst>
          </p:cNvPr>
          <p:cNvGrpSpPr/>
          <p:nvPr/>
        </p:nvGrpSpPr>
        <p:grpSpPr>
          <a:xfrm>
            <a:off x="398936" y="3584849"/>
            <a:ext cx="3111567" cy="3182307"/>
            <a:chOff x="429369" y="3586038"/>
            <a:chExt cx="3111567" cy="3182307"/>
          </a:xfrm>
        </p:grpSpPr>
        <p:sp>
          <p:nvSpPr>
            <p:cNvPr id="5" name="TextBox 4">
              <a:extLst>
                <a:ext uri="{FF2B5EF4-FFF2-40B4-BE49-F238E27FC236}">
                  <a16:creationId xmlns:a16="http://schemas.microsoft.com/office/drawing/2014/main" id="{37EEDDA6-419B-53B3-DC03-DE0F961480F2}"/>
                </a:ext>
              </a:extLst>
            </p:cNvPr>
            <p:cNvSpPr txBox="1"/>
            <p:nvPr/>
          </p:nvSpPr>
          <p:spPr>
            <a:xfrm>
              <a:off x="429369" y="3906023"/>
              <a:ext cx="3111567" cy="2862322"/>
            </a:xfrm>
            <a:prstGeom prst="rect">
              <a:avLst/>
            </a:prstGeom>
            <a:noFill/>
            <a:ln w="12700">
              <a:solidFill>
                <a:schemeClr val="accent1"/>
              </a:solidFill>
            </a:ln>
          </p:spPr>
          <p:txBody>
            <a:bodyPr wrap="square" rtlCol="0">
              <a:spAutoFit/>
            </a:bodyPr>
            <a:lstStyle/>
            <a:p>
              <a:r>
                <a:rPr lang="en-US" sz="1200" b="1" dirty="0">
                  <a:solidFill>
                    <a:schemeClr val="tx2">
                      <a:lumMod val="75000"/>
                      <a:lumOff val="25000"/>
                    </a:schemeClr>
                  </a:solidFill>
                </a:rPr>
                <a:t>Past</a:t>
              </a:r>
              <a:r>
                <a:rPr lang="en-US" sz="1200" dirty="0"/>
                <a:t> but certainly </a:t>
              </a:r>
              <a:r>
                <a:rPr lang="en-US" sz="1200" b="1" u="sng" dirty="0"/>
                <a:t>not obsolete</a:t>
              </a:r>
            </a:p>
            <a:p>
              <a:endParaRPr lang="en-US" sz="1200" b="1" u="sng" dirty="0"/>
            </a:p>
            <a:p>
              <a:pPr marL="285750" indent="-285750">
                <a:buFont typeface="Arial" panose="020B0604020202020204" pitchFamily="34" charset="0"/>
                <a:buChar char="•"/>
              </a:pPr>
              <a:r>
                <a:rPr lang="en-US" sz="1200" dirty="0"/>
                <a:t>Fast, cost -effective and highly accurate for </a:t>
              </a:r>
              <a:r>
                <a:rPr lang="en-US" sz="1200" b="1" dirty="0"/>
                <a:t>low throughput sequencing</a:t>
              </a:r>
            </a:p>
            <a:p>
              <a:pPr marL="285750" indent="-285750">
                <a:buFont typeface="Arial" panose="020B0604020202020204" pitchFamily="34" charset="0"/>
                <a:buChar char="•"/>
              </a:pPr>
              <a:r>
                <a:rPr lang="en-US" sz="1200" dirty="0">
                  <a:solidFill>
                    <a:srgbClr val="002060"/>
                  </a:solidFill>
                </a:rPr>
                <a:t>Longer read length than NGS and simpler than long read sequencing</a:t>
              </a:r>
            </a:p>
            <a:p>
              <a:pPr marL="285750" indent="-285750">
                <a:buFont typeface="Arial" panose="020B0604020202020204" pitchFamily="34" charset="0"/>
                <a:buChar char="•"/>
              </a:pPr>
              <a:r>
                <a:rPr lang="en-US" sz="1200" dirty="0"/>
                <a:t>Mainly used to confirm:</a:t>
              </a:r>
            </a:p>
            <a:p>
              <a:pPr marL="742950" lvl="1" indent="-285750">
                <a:buFont typeface="Arial" panose="020B0604020202020204" pitchFamily="34" charset="0"/>
                <a:buChar char="•"/>
              </a:pPr>
              <a:r>
                <a:rPr lang="en-US" sz="1200" dirty="0"/>
                <a:t>Genes being cloned</a:t>
              </a:r>
            </a:p>
            <a:p>
              <a:pPr marL="742950" lvl="1" indent="-285750">
                <a:buFont typeface="Arial" panose="020B0604020202020204" pitchFamily="34" charset="0"/>
                <a:buChar char="•"/>
              </a:pPr>
              <a:r>
                <a:rPr lang="en-US" sz="1200" dirty="0"/>
                <a:t>PCR products </a:t>
              </a:r>
            </a:p>
            <a:p>
              <a:pPr marL="742950" lvl="1" indent="-285750">
                <a:buFont typeface="Arial" panose="020B0604020202020204" pitchFamily="34" charset="0"/>
                <a:buChar char="•"/>
              </a:pPr>
              <a:r>
                <a:rPr lang="en-US" sz="1200" dirty="0"/>
                <a:t>Site directed mutagenesis</a:t>
              </a:r>
            </a:p>
            <a:p>
              <a:pPr marL="742950" lvl="1" indent="-285750">
                <a:buFont typeface="Arial" panose="020B0604020202020204" pitchFamily="34" charset="0"/>
                <a:buChar char="•"/>
              </a:pPr>
              <a:r>
                <a:rPr lang="en-US" sz="1200" dirty="0"/>
                <a:t>DNA fingerprinting for cell line authentication</a:t>
              </a:r>
            </a:p>
            <a:p>
              <a:pPr marL="285750" indent="-285750">
                <a:buFont typeface="Arial" panose="020B0604020202020204" pitchFamily="34" charset="0"/>
                <a:buChar char="•"/>
              </a:pPr>
              <a:r>
                <a:rPr lang="en-US" sz="1200" b="1" dirty="0">
                  <a:solidFill>
                    <a:srgbClr val="002060"/>
                  </a:solidFill>
                </a:rPr>
                <a:t>No longer meets sequencing demand  for high-throughput sequencing </a:t>
              </a:r>
              <a:r>
                <a:rPr lang="en-US" sz="1200" dirty="0">
                  <a:solidFill>
                    <a:srgbClr val="002060"/>
                  </a:solidFill>
                </a:rPr>
                <a:t>nor is it cost-effective</a:t>
              </a:r>
            </a:p>
          </p:txBody>
        </p:sp>
        <p:cxnSp>
          <p:nvCxnSpPr>
            <p:cNvPr id="7" name="Straight Connector 6">
              <a:extLst>
                <a:ext uri="{FF2B5EF4-FFF2-40B4-BE49-F238E27FC236}">
                  <a16:creationId xmlns:a16="http://schemas.microsoft.com/office/drawing/2014/main" id="{42CF6B56-A97C-0984-3F1F-F3A726690C89}"/>
                </a:ext>
              </a:extLst>
            </p:cNvPr>
            <p:cNvCxnSpPr>
              <a:cxnSpLocks/>
            </p:cNvCxnSpPr>
            <p:nvPr/>
          </p:nvCxnSpPr>
          <p:spPr>
            <a:xfrm flipH="1">
              <a:off x="1141009" y="3586038"/>
              <a:ext cx="1212577" cy="318052"/>
            </a:xfrm>
            <a:prstGeom prst="line">
              <a:avLst/>
            </a:prstGeom>
          </p:spPr>
          <p:style>
            <a:lnRef idx="2">
              <a:schemeClr val="accent1"/>
            </a:lnRef>
            <a:fillRef idx="0">
              <a:schemeClr val="accent1"/>
            </a:fillRef>
            <a:effectRef idx="1">
              <a:schemeClr val="accent1"/>
            </a:effectRef>
            <a:fontRef idx="minor">
              <a:schemeClr val="tx1"/>
            </a:fontRef>
          </p:style>
        </p:cxnSp>
      </p:grpSp>
      <p:sp>
        <p:nvSpPr>
          <p:cNvPr id="11" name="Rectangle 10">
            <a:extLst>
              <a:ext uri="{FF2B5EF4-FFF2-40B4-BE49-F238E27FC236}">
                <a16:creationId xmlns:a16="http://schemas.microsoft.com/office/drawing/2014/main" id="{8F2F6601-5D4B-D9B4-55F8-AF5A5D77F28A}"/>
              </a:ext>
            </a:extLst>
          </p:cNvPr>
          <p:cNvSpPr/>
          <p:nvPr/>
        </p:nvSpPr>
        <p:spPr>
          <a:xfrm>
            <a:off x="2146852" y="1645920"/>
            <a:ext cx="1025718" cy="73152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accent1"/>
                </a:solidFill>
              </a:ln>
              <a:noFill/>
            </a:endParaRPr>
          </a:p>
        </p:txBody>
      </p:sp>
      <p:sp>
        <p:nvSpPr>
          <p:cNvPr id="12" name="Rectangle 11">
            <a:extLst>
              <a:ext uri="{FF2B5EF4-FFF2-40B4-BE49-F238E27FC236}">
                <a16:creationId xmlns:a16="http://schemas.microsoft.com/office/drawing/2014/main" id="{4602BE10-3EE3-DE88-7C17-381C09BF5143}"/>
              </a:ext>
            </a:extLst>
          </p:cNvPr>
          <p:cNvSpPr/>
          <p:nvPr/>
        </p:nvSpPr>
        <p:spPr>
          <a:xfrm>
            <a:off x="6402124" y="1653964"/>
            <a:ext cx="1025718" cy="73152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accent1"/>
                </a:solidFill>
              </a:ln>
              <a:noFill/>
            </a:endParaRPr>
          </a:p>
        </p:txBody>
      </p:sp>
      <p:sp>
        <p:nvSpPr>
          <p:cNvPr id="13" name="Rectangle 12">
            <a:extLst>
              <a:ext uri="{FF2B5EF4-FFF2-40B4-BE49-F238E27FC236}">
                <a16:creationId xmlns:a16="http://schemas.microsoft.com/office/drawing/2014/main" id="{74314CE7-A694-9A80-647F-F719A8DBCFBC}"/>
              </a:ext>
            </a:extLst>
          </p:cNvPr>
          <p:cNvSpPr/>
          <p:nvPr/>
        </p:nvSpPr>
        <p:spPr>
          <a:xfrm>
            <a:off x="8422087" y="1583728"/>
            <a:ext cx="817329" cy="73152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accent1"/>
                </a:solidFill>
              </a:ln>
              <a:noFill/>
            </a:endParaRPr>
          </a:p>
        </p:txBody>
      </p:sp>
      <p:grpSp>
        <p:nvGrpSpPr>
          <p:cNvPr id="19" name="Group 18">
            <a:extLst>
              <a:ext uri="{FF2B5EF4-FFF2-40B4-BE49-F238E27FC236}">
                <a16:creationId xmlns:a16="http://schemas.microsoft.com/office/drawing/2014/main" id="{3824F355-6195-287C-8585-FF360BC3A746}"/>
              </a:ext>
            </a:extLst>
          </p:cNvPr>
          <p:cNvGrpSpPr/>
          <p:nvPr/>
        </p:nvGrpSpPr>
        <p:grpSpPr>
          <a:xfrm>
            <a:off x="3627224" y="3775237"/>
            <a:ext cx="3643024" cy="2242880"/>
            <a:chOff x="3627224" y="3775237"/>
            <a:chExt cx="3643024" cy="2242880"/>
          </a:xfrm>
        </p:grpSpPr>
        <p:sp>
          <p:nvSpPr>
            <p:cNvPr id="14" name="TextBox 13">
              <a:extLst>
                <a:ext uri="{FF2B5EF4-FFF2-40B4-BE49-F238E27FC236}">
                  <a16:creationId xmlns:a16="http://schemas.microsoft.com/office/drawing/2014/main" id="{DBF5469B-AC18-B21C-BB6F-4A62B7E8B916}"/>
                </a:ext>
              </a:extLst>
            </p:cNvPr>
            <p:cNvSpPr txBox="1"/>
            <p:nvPr/>
          </p:nvSpPr>
          <p:spPr>
            <a:xfrm>
              <a:off x="3627224" y="4448457"/>
              <a:ext cx="3643024" cy="1569660"/>
            </a:xfrm>
            <a:prstGeom prst="rect">
              <a:avLst/>
            </a:prstGeom>
            <a:noFill/>
            <a:ln w="12700">
              <a:solidFill>
                <a:schemeClr val="accent1"/>
              </a:solidFill>
            </a:ln>
          </p:spPr>
          <p:txBody>
            <a:bodyPr wrap="square" rtlCol="0">
              <a:spAutoFit/>
            </a:bodyPr>
            <a:lstStyle/>
            <a:p>
              <a:r>
                <a:rPr lang="en-US" sz="1200" b="1" dirty="0">
                  <a:solidFill>
                    <a:schemeClr val="tx2">
                      <a:lumMod val="75000"/>
                      <a:lumOff val="25000"/>
                    </a:schemeClr>
                  </a:solidFill>
                </a:rPr>
                <a:t>Present</a:t>
              </a:r>
              <a:r>
                <a:rPr lang="en-US" sz="1200" dirty="0"/>
                <a:t> the </a:t>
              </a:r>
              <a:r>
                <a:rPr lang="en-US" sz="1200" b="1" u="sng" dirty="0"/>
                <a:t>bread and butter </a:t>
              </a:r>
              <a:r>
                <a:rPr lang="en-US" sz="1200" dirty="0"/>
                <a:t>of sequencing</a:t>
              </a:r>
              <a:endParaRPr lang="en-US" sz="1200" b="1" u="sng" dirty="0"/>
            </a:p>
            <a:p>
              <a:endParaRPr lang="en-US" sz="1200" b="1" u="sng" dirty="0"/>
            </a:p>
            <a:p>
              <a:pPr marL="285750" indent="-285750">
                <a:buFont typeface="Arial" panose="020B0604020202020204" pitchFamily="34" charset="0"/>
                <a:buChar char="•"/>
              </a:pPr>
              <a:r>
                <a:rPr lang="en-US" sz="1200" dirty="0"/>
                <a:t>The work horse of sequencers</a:t>
              </a:r>
            </a:p>
            <a:p>
              <a:pPr marL="285750" indent="-285750">
                <a:buFont typeface="Arial" panose="020B0604020202020204" pitchFamily="34" charset="0"/>
                <a:buChar char="•"/>
              </a:pPr>
              <a:r>
                <a:rPr lang="en-US" sz="1200" dirty="0"/>
                <a:t>Used for WGS, transcriptomics (</a:t>
              </a:r>
              <a:r>
                <a:rPr lang="en-US" sz="1200" dirty="0" err="1"/>
                <a:t>RNAseq</a:t>
              </a:r>
              <a:r>
                <a:rPr lang="en-US" sz="1200" dirty="0"/>
                <a:t>), epigenetics, single cell </a:t>
              </a:r>
              <a:r>
                <a:rPr lang="en-US" sz="1200" dirty="0" err="1"/>
                <a:t>RNAseq</a:t>
              </a:r>
              <a:r>
                <a:rPr lang="en-US" sz="1200" dirty="0"/>
                <a:t>, spatial </a:t>
              </a:r>
              <a:r>
                <a:rPr lang="en-US" sz="1200" dirty="0" err="1"/>
                <a:t>RNAseq</a:t>
              </a:r>
              <a:r>
                <a:rPr lang="en-US" sz="1200" dirty="0"/>
                <a:t> and even some spatial proteomic studies</a:t>
              </a:r>
            </a:p>
            <a:p>
              <a:pPr marL="285750" indent="-285750">
                <a:buFont typeface="Arial" panose="020B0604020202020204" pitchFamily="34" charset="0"/>
                <a:buChar char="•"/>
              </a:pPr>
              <a:r>
                <a:rPr lang="en-US" sz="1200" dirty="0"/>
                <a:t>Disadvantage: short read sequencing </a:t>
              </a:r>
            </a:p>
            <a:p>
              <a:pPr marL="285750" indent="-285750">
                <a:buFont typeface="Arial" panose="020B0604020202020204" pitchFamily="34" charset="0"/>
                <a:buChar char="•"/>
              </a:pPr>
              <a:endParaRPr lang="en-US" sz="1200" dirty="0"/>
            </a:p>
          </p:txBody>
        </p:sp>
        <p:cxnSp>
          <p:nvCxnSpPr>
            <p:cNvPr id="15" name="Straight Connector 14">
              <a:extLst>
                <a:ext uri="{FF2B5EF4-FFF2-40B4-BE49-F238E27FC236}">
                  <a16:creationId xmlns:a16="http://schemas.microsoft.com/office/drawing/2014/main" id="{DE6165CF-20A8-2596-B6C4-D52119E9C062}"/>
                </a:ext>
              </a:extLst>
            </p:cNvPr>
            <p:cNvCxnSpPr>
              <a:cxnSpLocks/>
            </p:cNvCxnSpPr>
            <p:nvPr/>
          </p:nvCxnSpPr>
          <p:spPr>
            <a:xfrm>
              <a:off x="5893242" y="3775237"/>
              <a:ext cx="0" cy="673220"/>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38FEDADC-444F-6B07-9F1E-03B8A8E899EB}"/>
              </a:ext>
            </a:extLst>
          </p:cNvPr>
          <p:cNvGrpSpPr/>
          <p:nvPr/>
        </p:nvGrpSpPr>
        <p:grpSpPr>
          <a:xfrm>
            <a:off x="8275980" y="3775237"/>
            <a:ext cx="3643024" cy="2365261"/>
            <a:chOff x="8275980" y="3775237"/>
            <a:chExt cx="3643024" cy="2365261"/>
          </a:xfrm>
        </p:grpSpPr>
        <p:sp>
          <p:nvSpPr>
            <p:cNvPr id="20" name="TextBox 19">
              <a:extLst>
                <a:ext uri="{FF2B5EF4-FFF2-40B4-BE49-F238E27FC236}">
                  <a16:creationId xmlns:a16="http://schemas.microsoft.com/office/drawing/2014/main" id="{50E6D062-736A-89D8-4063-349F2C57C322}"/>
                </a:ext>
              </a:extLst>
            </p:cNvPr>
            <p:cNvSpPr txBox="1"/>
            <p:nvPr/>
          </p:nvSpPr>
          <p:spPr>
            <a:xfrm>
              <a:off x="8275980" y="4386172"/>
              <a:ext cx="3643024" cy="1754326"/>
            </a:xfrm>
            <a:prstGeom prst="rect">
              <a:avLst/>
            </a:prstGeom>
            <a:noFill/>
            <a:ln w="12700">
              <a:solidFill>
                <a:schemeClr val="accent1"/>
              </a:solidFill>
            </a:ln>
          </p:spPr>
          <p:txBody>
            <a:bodyPr wrap="square" rtlCol="0">
              <a:spAutoFit/>
            </a:bodyPr>
            <a:lstStyle/>
            <a:p>
              <a:r>
                <a:rPr lang="en-US" sz="1200" b="1" dirty="0">
                  <a:solidFill>
                    <a:schemeClr val="tx2">
                      <a:lumMod val="75000"/>
                      <a:lumOff val="25000"/>
                    </a:schemeClr>
                  </a:solidFill>
                </a:rPr>
                <a:t>Future? </a:t>
              </a:r>
              <a:endParaRPr lang="en-US" sz="1200" b="1" u="sng" dirty="0"/>
            </a:p>
            <a:p>
              <a:endParaRPr lang="en-US" sz="1200" b="1" u="sng" dirty="0"/>
            </a:p>
            <a:p>
              <a:pPr marL="285750" indent="-285750">
                <a:buFont typeface="Arial" panose="020B0604020202020204" pitchFamily="34" charset="0"/>
                <a:buChar char="•"/>
              </a:pPr>
              <a:r>
                <a:rPr lang="en-US" sz="1200" dirty="0"/>
                <a:t>Advantages: long reads can improve de novo assembly, mapping certainty, transcript isoform identification, and detection of structural variants</a:t>
              </a:r>
            </a:p>
            <a:p>
              <a:pPr marL="285750" indent="-285750">
                <a:buFont typeface="Arial" panose="020B0604020202020204" pitchFamily="34" charset="0"/>
                <a:buChar char="•"/>
              </a:pPr>
              <a:r>
                <a:rPr lang="en-US" sz="1200" dirty="0"/>
                <a:t>Disadvantages: high error rate in sequencing, cost and longer time required for data analysis</a:t>
              </a:r>
            </a:p>
            <a:p>
              <a:pPr marL="285750" indent="-285750">
                <a:buFont typeface="Arial" panose="020B0604020202020204" pitchFamily="34" charset="0"/>
                <a:buChar char="•"/>
              </a:pPr>
              <a:endParaRPr lang="en-US" sz="1200" dirty="0"/>
            </a:p>
          </p:txBody>
        </p:sp>
        <p:cxnSp>
          <p:nvCxnSpPr>
            <p:cNvPr id="21" name="Straight Connector 20">
              <a:extLst>
                <a:ext uri="{FF2B5EF4-FFF2-40B4-BE49-F238E27FC236}">
                  <a16:creationId xmlns:a16="http://schemas.microsoft.com/office/drawing/2014/main" id="{1A3779D7-F7A1-6F7E-3554-3F72EFD6E176}"/>
                </a:ext>
              </a:extLst>
            </p:cNvPr>
            <p:cNvCxnSpPr>
              <a:cxnSpLocks/>
            </p:cNvCxnSpPr>
            <p:nvPr/>
          </p:nvCxnSpPr>
          <p:spPr>
            <a:xfrm>
              <a:off x="9385190" y="3775237"/>
              <a:ext cx="481055" cy="610935"/>
            </a:xfrm>
            <a:prstGeom prst="line">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30786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1DED7F-00F6-49A1-96A9-39B4B620F560}"/>
              </a:ext>
            </a:extLst>
          </p:cNvPr>
          <p:cNvSpPr txBox="1"/>
          <p:nvPr/>
        </p:nvSpPr>
        <p:spPr>
          <a:xfrm>
            <a:off x="2943502" y="190831"/>
            <a:ext cx="6304996" cy="461665"/>
          </a:xfrm>
          <a:prstGeom prst="rect">
            <a:avLst/>
          </a:prstGeom>
          <a:noFill/>
        </p:spPr>
        <p:txBody>
          <a:bodyPr wrap="none" rtlCol="0">
            <a:spAutoFit/>
          </a:bodyPr>
          <a:lstStyle/>
          <a:p>
            <a:r>
              <a:rPr lang="en-US" sz="2400" dirty="0"/>
              <a:t>Sanger Sequencing- 1</a:t>
            </a:r>
            <a:r>
              <a:rPr lang="en-US" sz="2400" baseline="30000" dirty="0"/>
              <a:t>st</a:t>
            </a:r>
            <a:r>
              <a:rPr lang="en-US" sz="2400" dirty="0"/>
              <a:t> generation sequencing</a:t>
            </a:r>
          </a:p>
        </p:txBody>
      </p:sp>
      <p:sp>
        <p:nvSpPr>
          <p:cNvPr id="4" name="TextBox 3">
            <a:extLst>
              <a:ext uri="{FF2B5EF4-FFF2-40B4-BE49-F238E27FC236}">
                <a16:creationId xmlns:a16="http://schemas.microsoft.com/office/drawing/2014/main" id="{48582937-C594-960B-3053-DD43A44939AB}"/>
              </a:ext>
            </a:extLst>
          </p:cNvPr>
          <p:cNvSpPr txBox="1"/>
          <p:nvPr/>
        </p:nvSpPr>
        <p:spPr>
          <a:xfrm>
            <a:off x="477077" y="1049573"/>
            <a:ext cx="11610230" cy="3046988"/>
          </a:xfrm>
          <a:prstGeom prst="rect">
            <a:avLst/>
          </a:prstGeom>
          <a:noFill/>
        </p:spPr>
        <p:txBody>
          <a:bodyPr wrap="none" rtlCol="0">
            <a:spAutoFit/>
          </a:bodyPr>
          <a:lstStyle/>
          <a:p>
            <a:pPr marL="285750" indent="-285750">
              <a:buFont typeface="Arial" panose="020B0604020202020204" pitchFamily="34" charset="0"/>
              <a:buChar char="•"/>
            </a:pPr>
            <a:r>
              <a:rPr lang="en-US" sz="1600" u="sng" dirty="0"/>
              <a:t>Chain termination sequencing </a:t>
            </a:r>
            <a:r>
              <a:rPr lang="en-US" sz="1600" dirty="0"/>
              <a:t>which in part relies on </a:t>
            </a:r>
            <a:r>
              <a:rPr lang="en-US" sz="1600" b="1" dirty="0"/>
              <a:t>PCR methods </a:t>
            </a:r>
            <a:r>
              <a:rPr lang="en-US" sz="1600" dirty="0"/>
              <a:t>and a </a:t>
            </a:r>
            <a:r>
              <a:rPr lang="en-US" sz="1600" u="sng" dirty="0"/>
              <a:t>special type of nucleotide call </a:t>
            </a:r>
            <a:r>
              <a:rPr lang="en-US" sz="1600" b="1" u="sng" dirty="0"/>
              <a:t>dideoxy NTP (</a:t>
            </a:r>
            <a:r>
              <a:rPr lang="en-US" sz="1600" b="1" u="sng" dirty="0" err="1"/>
              <a:t>ddNTP</a:t>
            </a:r>
            <a:r>
              <a:rPr lang="en-US" sz="1600" b="1" u="sng" dirty="0"/>
              <a:t>)</a:t>
            </a:r>
          </a:p>
          <a:p>
            <a:pPr marL="285750" indent="-285750">
              <a:buFont typeface="Arial" panose="020B0604020202020204" pitchFamily="34" charset="0"/>
              <a:buChar char="•"/>
            </a:pPr>
            <a:endParaRPr lang="en-US" sz="1600" u="sng"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pic>
        <p:nvPicPr>
          <p:cNvPr id="3076" name="Picture 4" descr="What is DNA sequencing: dNTPs vs ddNTPs">
            <a:extLst>
              <a:ext uri="{FF2B5EF4-FFF2-40B4-BE49-F238E27FC236}">
                <a16:creationId xmlns:a16="http://schemas.microsoft.com/office/drawing/2014/main" id="{6AC64223-6D50-CD8B-E487-BE04E89727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0364" y="1766188"/>
            <a:ext cx="5486020" cy="1920107"/>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LHS PreAP Biology - Simple version of DNA replication. Notice the old and  new strands. | Facebook">
            <a:extLst>
              <a:ext uri="{FF2B5EF4-FFF2-40B4-BE49-F238E27FC236}">
                <a16:creationId xmlns:a16="http://schemas.microsoft.com/office/drawing/2014/main" id="{05445648-1E06-4990-1731-F5FDBF7AC2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028" y="4723447"/>
            <a:ext cx="2790825" cy="1638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9792E2F-CA94-B2A9-CEE6-8614DC73DAD3}"/>
              </a:ext>
            </a:extLst>
          </p:cNvPr>
          <p:cNvSpPr txBox="1"/>
          <p:nvPr/>
        </p:nvSpPr>
        <p:spPr>
          <a:xfrm>
            <a:off x="477077" y="4415670"/>
            <a:ext cx="1703287" cy="307777"/>
          </a:xfrm>
          <a:prstGeom prst="rect">
            <a:avLst/>
          </a:prstGeom>
          <a:noFill/>
        </p:spPr>
        <p:txBody>
          <a:bodyPr wrap="none" rtlCol="0">
            <a:spAutoFit/>
          </a:bodyPr>
          <a:lstStyle/>
          <a:p>
            <a:r>
              <a:rPr lang="en-US" sz="1400" dirty="0"/>
              <a:t>Replication in cells:</a:t>
            </a:r>
          </a:p>
        </p:txBody>
      </p:sp>
      <p:grpSp>
        <p:nvGrpSpPr>
          <p:cNvPr id="19" name="Group 18">
            <a:extLst>
              <a:ext uri="{FF2B5EF4-FFF2-40B4-BE49-F238E27FC236}">
                <a16:creationId xmlns:a16="http://schemas.microsoft.com/office/drawing/2014/main" id="{0FF0EB4E-C737-ED4B-3A8B-0796965B06B0}"/>
              </a:ext>
            </a:extLst>
          </p:cNvPr>
          <p:cNvGrpSpPr/>
          <p:nvPr/>
        </p:nvGrpSpPr>
        <p:grpSpPr>
          <a:xfrm>
            <a:off x="2894269" y="4224890"/>
            <a:ext cx="3319380" cy="2258158"/>
            <a:chOff x="3498574" y="4224890"/>
            <a:chExt cx="3319380" cy="2258158"/>
          </a:xfrm>
        </p:grpSpPr>
        <p:pic>
          <p:nvPicPr>
            <p:cNvPr id="3078" name="Picture 6" descr="The Polymerase Chain Reaction (PCR) – Plant Breeding and Genomics">
              <a:extLst>
                <a:ext uri="{FF2B5EF4-FFF2-40B4-BE49-F238E27FC236}">
                  <a16:creationId xmlns:a16="http://schemas.microsoft.com/office/drawing/2014/main" id="{A3751782-71F3-E342-37F2-DEB3FD2DCA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6609" y="4553890"/>
              <a:ext cx="2687540" cy="192915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7E25F7DF-A599-63B4-91E5-AEF5C56475E1}"/>
                </a:ext>
              </a:extLst>
            </p:cNvPr>
            <p:cNvCxnSpPr>
              <a:cxnSpLocks/>
            </p:cNvCxnSpPr>
            <p:nvPr/>
          </p:nvCxnSpPr>
          <p:spPr>
            <a:xfrm>
              <a:off x="3498574" y="5402911"/>
              <a:ext cx="35780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09D66F5-DDFC-C31F-EA81-1213194B4061}"/>
                </a:ext>
              </a:extLst>
            </p:cNvPr>
            <p:cNvSpPr txBox="1"/>
            <p:nvPr/>
          </p:nvSpPr>
          <p:spPr>
            <a:xfrm>
              <a:off x="3957812" y="4224890"/>
              <a:ext cx="2860142" cy="307777"/>
            </a:xfrm>
            <a:prstGeom prst="rect">
              <a:avLst/>
            </a:prstGeom>
            <a:noFill/>
          </p:spPr>
          <p:txBody>
            <a:bodyPr wrap="none" rtlCol="0">
              <a:spAutoFit/>
            </a:bodyPr>
            <a:lstStyle/>
            <a:p>
              <a:r>
                <a:rPr lang="en-US" sz="1400" dirty="0"/>
                <a:t>PCR1: DNA fragment amplification</a:t>
              </a:r>
            </a:p>
          </p:txBody>
        </p:sp>
      </p:grpSp>
      <p:sp>
        <p:nvSpPr>
          <p:cNvPr id="12" name="AutoShape 10" descr="Sanger Sequencing - Principle, Steps, Advantages, Uses">
            <a:extLst>
              <a:ext uri="{FF2B5EF4-FFF2-40B4-BE49-F238E27FC236}">
                <a16:creationId xmlns:a16="http://schemas.microsoft.com/office/drawing/2014/main" id="{46117533-9961-D640-32B3-EA2B37C0260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Sanger Sequencing - Principle, Steps, Advantages, Uses">
            <a:extLst>
              <a:ext uri="{FF2B5EF4-FFF2-40B4-BE49-F238E27FC236}">
                <a16:creationId xmlns:a16="http://schemas.microsoft.com/office/drawing/2014/main" id="{07471259-EA0D-16F8-4B08-315BF979909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Sanger Sequencing - Principle, Steps, Advantages, Uses">
            <a:extLst>
              <a:ext uri="{FF2B5EF4-FFF2-40B4-BE49-F238E27FC236}">
                <a16:creationId xmlns:a16="http://schemas.microsoft.com/office/drawing/2014/main" id="{7C204EDE-4501-4B86-98E2-0406E8BE092E}"/>
              </a:ext>
            </a:extLst>
          </p:cNvPr>
          <p:cNvSpPr>
            <a:spLocks noChangeAspect="1" noChangeArrowheads="1"/>
          </p:cNvSpPr>
          <p:nvPr/>
        </p:nvSpPr>
        <p:spPr bwMode="auto">
          <a:xfrm>
            <a:off x="5644095"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26" name="Group 25">
            <a:extLst>
              <a:ext uri="{FF2B5EF4-FFF2-40B4-BE49-F238E27FC236}">
                <a16:creationId xmlns:a16="http://schemas.microsoft.com/office/drawing/2014/main" id="{71A29112-7051-D661-3454-98FA8CCE8C48}"/>
              </a:ext>
            </a:extLst>
          </p:cNvPr>
          <p:cNvGrpSpPr/>
          <p:nvPr/>
        </p:nvGrpSpPr>
        <p:grpSpPr>
          <a:xfrm>
            <a:off x="9209685" y="2625058"/>
            <a:ext cx="2971328" cy="4054321"/>
            <a:chOff x="9209685" y="2625058"/>
            <a:chExt cx="2971328" cy="4054321"/>
          </a:xfrm>
        </p:grpSpPr>
        <p:pic>
          <p:nvPicPr>
            <p:cNvPr id="18" name="Picture 17">
              <a:extLst>
                <a:ext uri="{FF2B5EF4-FFF2-40B4-BE49-F238E27FC236}">
                  <a16:creationId xmlns:a16="http://schemas.microsoft.com/office/drawing/2014/main" id="{1DE6E47A-922E-1606-C240-E55512DE849E}"/>
                </a:ext>
              </a:extLst>
            </p:cNvPr>
            <p:cNvPicPr>
              <a:picLocks noChangeAspect="1"/>
            </p:cNvPicPr>
            <p:nvPr/>
          </p:nvPicPr>
          <p:blipFill>
            <a:blip r:embed="rId6"/>
            <a:stretch>
              <a:fillRect/>
            </a:stretch>
          </p:blipFill>
          <p:spPr>
            <a:xfrm>
              <a:off x="9704908" y="3451719"/>
              <a:ext cx="2476105" cy="3227660"/>
            </a:xfrm>
            <a:prstGeom prst="rect">
              <a:avLst/>
            </a:prstGeom>
          </p:spPr>
        </p:pic>
        <p:sp>
          <p:nvSpPr>
            <p:cNvPr id="11" name="TextBox 10">
              <a:extLst>
                <a:ext uri="{FF2B5EF4-FFF2-40B4-BE49-F238E27FC236}">
                  <a16:creationId xmlns:a16="http://schemas.microsoft.com/office/drawing/2014/main" id="{7CE5FCA4-2B20-CBCA-508D-8085DD654745}"/>
                </a:ext>
              </a:extLst>
            </p:cNvPr>
            <p:cNvSpPr txBox="1"/>
            <p:nvPr/>
          </p:nvSpPr>
          <p:spPr>
            <a:xfrm>
              <a:off x="9209685" y="2625058"/>
              <a:ext cx="2804736" cy="954107"/>
            </a:xfrm>
            <a:prstGeom prst="rect">
              <a:avLst/>
            </a:prstGeom>
            <a:noFill/>
          </p:spPr>
          <p:txBody>
            <a:bodyPr wrap="square" rtlCol="0">
              <a:spAutoFit/>
            </a:bodyPr>
            <a:lstStyle/>
            <a:p>
              <a:r>
                <a:rPr lang="en-US" sz="1400" dirty="0"/>
                <a:t>PCR2:  random incorporation of </a:t>
              </a:r>
              <a:r>
                <a:rPr lang="en-US" sz="1400" dirty="0" err="1"/>
                <a:t>ddNTP</a:t>
              </a:r>
              <a:r>
                <a:rPr lang="en-US" sz="1400" dirty="0"/>
                <a:t> into growing nucleotide chain resulting in termination of reaction</a:t>
              </a:r>
            </a:p>
          </p:txBody>
        </p:sp>
      </p:grpSp>
      <p:grpSp>
        <p:nvGrpSpPr>
          <p:cNvPr id="23" name="Group 22">
            <a:extLst>
              <a:ext uri="{FF2B5EF4-FFF2-40B4-BE49-F238E27FC236}">
                <a16:creationId xmlns:a16="http://schemas.microsoft.com/office/drawing/2014/main" id="{AB9904B5-A9E1-46B5-5637-0C2F617C73AF}"/>
              </a:ext>
            </a:extLst>
          </p:cNvPr>
          <p:cNvGrpSpPr/>
          <p:nvPr/>
        </p:nvGrpSpPr>
        <p:grpSpPr>
          <a:xfrm>
            <a:off x="6114548" y="4626233"/>
            <a:ext cx="3183184" cy="1929158"/>
            <a:chOff x="6114547" y="4569558"/>
            <a:chExt cx="4017943" cy="1985833"/>
          </a:xfrm>
        </p:grpSpPr>
        <p:pic>
          <p:nvPicPr>
            <p:cNvPr id="3088" name="Picture 16" descr="Polymerase Chain Reaction (PCR)">
              <a:extLst>
                <a:ext uri="{FF2B5EF4-FFF2-40B4-BE49-F238E27FC236}">
                  <a16:creationId xmlns:a16="http://schemas.microsoft.com/office/drawing/2014/main" id="{121F44D4-C7C6-3542-CFD2-EC108B00656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03499" y="4569558"/>
              <a:ext cx="3528991" cy="1985833"/>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a:extLst>
                <a:ext uri="{FF2B5EF4-FFF2-40B4-BE49-F238E27FC236}">
                  <a16:creationId xmlns:a16="http://schemas.microsoft.com/office/drawing/2014/main" id="{8B7A53D8-994C-DEA6-AE62-D6365F75C51D}"/>
                </a:ext>
              </a:extLst>
            </p:cNvPr>
            <p:cNvCxnSpPr>
              <a:cxnSpLocks/>
            </p:cNvCxnSpPr>
            <p:nvPr/>
          </p:nvCxnSpPr>
          <p:spPr>
            <a:xfrm>
              <a:off x="6114547" y="5392309"/>
              <a:ext cx="35780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25" name="Rectangle 24">
            <a:extLst>
              <a:ext uri="{FF2B5EF4-FFF2-40B4-BE49-F238E27FC236}">
                <a16:creationId xmlns:a16="http://schemas.microsoft.com/office/drawing/2014/main" id="{47003B50-3A9A-2EE7-E09C-7AA6043014F4}"/>
              </a:ext>
            </a:extLst>
          </p:cNvPr>
          <p:cNvSpPr/>
          <p:nvPr/>
        </p:nvSpPr>
        <p:spPr>
          <a:xfrm>
            <a:off x="4923374" y="1653917"/>
            <a:ext cx="3019979" cy="21011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631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dna sequence&#10;&#10;AI-generated content may be incorrect.">
            <a:extLst>
              <a:ext uri="{FF2B5EF4-FFF2-40B4-BE49-F238E27FC236}">
                <a16:creationId xmlns:a16="http://schemas.microsoft.com/office/drawing/2014/main" id="{5CFCD5A1-3589-4283-7E21-4671CF22FD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59" y="699817"/>
            <a:ext cx="9273500" cy="6158183"/>
          </a:xfrm>
          <a:prstGeom prst="rect">
            <a:avLst/>
          </a:prstGeom>
        </p:spPr>
      </p:pic>
      <p:sp>
        <p:nvSpPr>
          <p:cNvPr id="5" name="TextBox 4">
            <a:extLst>
              <a:ext uri="{FF2B5EF4-FFF2-40B4-BE49-F238E27FC236}">
                <a16:creationId xmlns:a16="http://schemas.microsoft.com/office/drawing/2014/main" id="{1B6DF83A-1B09-F38E-3DBC-EA2FEEEF8652}"/>
              </a:ext>
            </a:extLst>
          </p:cNvPr>
          <p:cNvSpPr txBox="1"/>
          <p:nvPr/>
        </p:nvSpPr>
        <p:spPr>
          <a:xfrm>
            <a:off x="2537985" y="190934"/>
            <a:ext cx="6304996" cy="461665"/>
          </a:xfrm>
          <a:prstGeom prst="rect">
            <a:avLst/>
          </a:prstGeom>
          <a:noFill/>
        </p:spPr>
        <p:txBody>
          <a:bodyPr wrap="none" rtlCol="0">
            <a:spAutoFit/>
          </a:bodyPr>
          <a:lstStyle/>
          <a:p>
            <a:r>
              <a:rPr lang="en-US" sz="2400" dirty="0"/>
              <a:t>Sanger Sequencing- 1</a:t>
            </a:r>
            <a:r>
              <a:rPr lang="en-US" sz="2400" baseline="30000" dirty="0"/>
              <a:t>st</a:t>
            </a:r>
            <a:r>
              <a:rPr lang="en-US" sz="2400" dirty="0"/>
              <a:t> generation sequencing</a:t>
            </a:r>
          </a:p>
        </p:txBody>
      </p:sp>
    </p:spTree>
    <p:extLst>
      <p:ext uri="{BB962C8B-B14F-4D97-AF65-F5344CB8AC3E}">
        <p14:creationId xmlns:p14="http://schemas.microsoft.com/office/powerpoint/2010/main" val="2027075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98EFAD-4CD2-33C7-9F68-58EC40CC79F7}"/>
              </a:ext>
            </a:extLst>
          </p:cNvPr>
          <p:cNvSpPr txBox="1"/>
          <p:nvPr/>
        </p:nvSpPr>
        <p:spPr>
          <a:xfrm>
            <a:off x="3038531" y="2674620"/>
            <a:ext cx="6505520" cy="1200329"/>
          </a:xfrm>
          <a:prstGeom prst="rect">
            <a:avLst/>
          </a:prstGeom>
          <a:noFill/>
        </p:spPr>
        <p:txBody>
          <a:bodyPr wrap="square">
            <a:spAutoFit/>
          </a:bodyPr>
          <a:lstStyle/>
          <a:p>
            <a:endParaRPr lang="en-US" dirty="0"/>
          </a:p>
          <a:p>
            <a:r>
              <a:rPr lang="en-US" dirty="0">
                <a:hlinkClick r:id="rId3"/>
              </a:rPr>
              <a:t>https://www.youtube.com/watch?v=X9566yI2cBo</a:t>
            </a:r>
            <a:endParaRPr lang="en-US" dirty="0"/>
          </a:p>
          <a:p>
            <a:endParaRPr lang="en-US" dirty="0"/>
          </a:p>
          <a:p>
            <a:endParaRPr lang="en-US" dirty="0"/>
          </a:p>
        </p:txBody>
      </p:sp>
      <p:sp>
        <p:nvSpPr>
          <p:cNvPr id="2" name="TextBox 1">
            <a:extLst>
              <a:ext uri="{FF2B5EF4-FFF2-40B4-BE49-F238E27FC236}">
                <a16:creationId xmlns:a16="http://schemas.microsoft.com/office/drawing/2014/main" id="{3507B58B-6052-FD77-BC02-9B61F3963764}"/>
              </a:ext>
            </a:extLst>
          </p:cNvPr>
          <p:cNvSpPr txBox="1"/>
          <p:nvPr/>
        </p:nvSpPr>
        <p:spPr>
          <a:xfrm>
            <a:off x="2946400" y="2039928"/>
            <a:ext cx="6096000" cy="369332"/>
          </a:xfrm>
          <a:prstGeom prst="rect">
            <a:avLst/>
          </a:prstGeom>
          <a:noFill/>
        </p:spPr>
        <p:txBody>
          <a:bodyPr wrap="square">
            <a:spAutoFit/>
          </a:bodyPr>
          <a:lstStyle/>
          <a:p>
            <a:r>
              <a:rPr lang="en-US" dirty="0">
                <a:solidFill>
                  <a:srgbClr val="FF0000"/>
                </a:solidFill>
                <a:hlinkClick r:id="rId4">
                  <a:extLst>
                    <a:ext uri="{A12FA001-AC4F-418D-AE19-62706E023703}">
                      <ahyp:hlinkClr xmlns:ahyp="http://schemas.microsoft.com/office/drawing/2018/hyperlinkcolor" val="tx"/>
                    </a:ext>
                  </a:extLst>
                </a:hlinkClick>
              </a:rPr>
              <a:t>https://www.yout-ube.com/watch?v=dVRB4CaLizc</a:t>
            </a:r>
            <a:endParaRPr lang="en-US" dirty="0">
              <a:solidFill>
                <a:srgbClr val="FF0000"/>
              </a:solidFill>
            </a:endParaRPr>
          </a:p>
        </p:txBody>
      </p:sp>
    </p:spTree>
    <p:extLst>
      <p:ext uri="{BB962C8B-B14F-4D97-AF65-F5344CB8AC3E}">
        <p14:creationId xmlns:p14="http://schemas.microsoft.com/office/powerpoint/2010/main" val="2004878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261B4B-642A-DB69-6F04-F1EAB414B121}"/>
              </a:ext>
            </a:extLst>
          </p:cNvPr>
          <p:cNvSpPr txBox="1"/>
          <p:nvPr/>
        </p:nvSpPr>
        <p:spPr>
          <a:xfrm>
            <a:off x="4405889" y="151320"/>
            <a:ext cx="3380221" cy="461665"/>
          </a:xfrm>
          <a:prstGeom prst="rect">
            <a:avLst/>
          </a:prstGeom>
          <a:noFill/>
        </p:spPr>
        <p:txBody>
          <a:bodyPr wrap="none" rtlCol="0">
            <a:spAutoFit/>
          </a:bodyPr>
          <a:lstStyle/>
          <a:p>
            <a:r>
              <a:rPr lang="en-US" sz="2400" dirty="0"/>
              <a:t>Human Genome Project</a:t>
            </a:r>
          </a:p>
        </p:txBody>
      </p:sp>
      <p:pic>
        <p:nvPicPr>
          <p:cNvPr id="4" name="Picture 3">
            <a:extLst>
              <a:ext uri="{FF2B5EF4-FFF2-40B4-BE49-F238E27FC236}">
                <a16:creationId xmlns:a16="http://schemas.microsoft.com/office/drawing/2014/main" id="{1CDD9B8E-5BDD-7012-81F3-3DE953650CE8}"/>
              </a:ext>
            </a:extLst>
          </p:cNvPr>
          <p:cNvPicPr>
            <a:picLocks noChangeAspect="1"/>
          </p:cNvPicPr>
          <p:nvPr/>
        </p:nvPicPr>
        <p:blipFill>
          <a:blip r:embed="rId3"/>
          <a:stretch>
            <a:fillRect/>
          </a:stretch>
        </p:blipFill>
        <p:spPr>
          <a:xfrm>
            <a:off x="1110531" y="739961"/>
            <a:ext cx="5572761" cy="3025213"/>
          </a:xfrm>
          <a:prstGeom prst="rect">
            <a:avLst/>
          </a:prstGeom>
        </p:spPr>
      </p:pic>
      <p:pic>
        <p:nvPicPr>
          <p:cNvPr id="6" name="Picture 5">
            <a:extLst>
              <a:ext uri="{FF2B5EF4-FFF2-40B4-BE49-F238E27FC236}">
                <a16:creationId xmlns:a16="http://schemas.microsoft.com/office/drawing/2014/main" id="{E565D4CF-184B-9507-10DD-FCFB773654A3}"/>
              </a:ext>
            </a:extLst>
          </p:cNvPr>
          <p:cNvPicPr>
            <a:picLocks noChangeAspect="1"/>
          </p:cNvPicPr>
          <p:nvPr/>
        </p:nvPicPr>
        <p:blipFill>
          <a:blip r:embed="rId4"/>
          <a:stretch>
            <a:fillRect/>
          </a:stretch>
        </p:blipFill>
        <p:spPr>
          <a:xfrm>
            <a:off x="7255973" y="557347"/>
            <a:ext cx="3825496" cy="3390439"/>
          </a:xfrm>
          <a:prstGeom prst="rect">
            <a:avLst/>
          </a:prstGeom>
        </p:spPr>
      </p:pic>
      <p:sp>
        <p:nvSpPr>
          <p:cNvPr id="9" name="TextBox 8">
            <a:extLst>
              <a:ext uri="{FF2B5EF4-FFF2-40B4-BE49-F238E27FC236}">
                <a16:creationId xmlns:a16="http://schemas.microsoft.com/office/drawing/2014/main" id="{118D8C90-8521-F618-A32C-08F246928CB2}"/>
              </a:ext>
            </a:extLst>
          </p:cNvPr>
          <p:cNvSpPr txBox="1"/>
          <p:nvPr/>
        </p:nvSpPr>
        <p:spPr>
          <a:xfrm>
            <a:off x="762554" y="4074762"/>
            <a:ext cx="10666890" cy="2677656"/>
          </a:xfrm>
          <a:prstGeom prst="rect">
            <a:avLst/>
          </a:prstGeom>
          <a:noFill/>
        </p:spPr>
        <p:txBody>
          <a:bodyPr wrap="square" rtlCol="0">
            <a:spAutoFit/>
          </a:bodyPr>
          <a:lstStyle/>
          <a:p>
            <a:pPr marL="171450" indent="-171450">
              <a:buFont typeface="Arial" panose="020B0604020202020204" pitchFamily="34" charset="0"/>
              <a:buChar char="•"/>
            </a:pPr>
            <a:r>
              <a:rPr lang="en-US" sz="1200" dirty="0"/>
              <a:t>The Genome Project was completed 2 yrs ahead of schedule due the dedication of an international consortium of  researchers from US, UK, Germany, France, Japan, China</a:t>
            </a:r>
          </a:p>
          <a:p>
            <a:endParaRPr lang="en-US" sz="1200" dirty="0"/>
          </a:p>
          <a:p>
            <a:pPr marL="171450" indent="-171450">
              <a:buFont typeface="Arial" panose="020B0604020202020204" pitchFamily="34" charset="0"/>
              <a:buChar char="•"/>
            </a:pPr>
            <a:r>
              <a:rPr lang="en-US" sz="1200" b="0" dirty="0">
                <a:solidFill>
                  <a:srgbClr val="000000"/>
                </a:solidFill>
                <a:effectLst/>
              </a:rPr>
              <a:t>the de facto leader was the US scientist Dr. Collins from the National Human Genome Research Institute (part of NIH) </a:t>
            </a:r>
          </a:p>
          <a:p>
            <a:endParaRPr lang="en-US" sz="1200" dirty="0"/>
          </a:p>
          <a:p>
            <a:pPr marL="171450" indent="-171450">
              <a:buFont typeface="Arial" panose="020B0604020202020204" pitchFamily="34" charset="0"/>
              <a:buChar char="•"/>
            </a:pPr>
            <a:r>
              <a:rPr lang="en-US" sz="1200" dirty="0"/>
              <a:t>92% of the genome was sequenced at the time, the rest, around 400 gaps, were difficult to sequence due the limitation of technology at the time</a:t>
            </a:r>
          </a:p>
          <a:p>
            <a:endParaRPr lang="en-US" sz="1200" dirty="0"/>
          </a:p>
          <a:p>
            <a:pPr marL="171450" indent="-171450">
              <a:buFont typeface="Arial" panose="020B0604020202020204" pitchFamily="34" charset="0"/>
              <a:buChar char="•"/>
            </a:pPr>
            <a:r>
              <a:rPr lang="en-US" sz="1200" b="1" dirty="0"/>
              <a:t>Gaps were highly repeated regions or sequence, often found around the region of </a:t>
            </a:r>
            <a:r>
              <a:rPr lang="en-US" sz="1200" b="1" u="sng" dirty="0" err="1"/>
              <a:t>telemores</a:t>
            </a:r>
            <a:r>
              <a:rPr lang="en-US" sz="1200" b="1" dirty="0"/>
              <a:t> and </a:t>
            </a:r>
            <a:r>
              <a:rPr lang="en-US" sz="1200" b="1" u="sng" dirty="0" err="1"/>
              <a:t>centromers</a:t>
            </a:r>
            <a:endParaRPr lang="en-US" sz="1200" b="1" u="sng" dirty="0"/>
          </a:p>
          <a:p>
            <a:endParaRPr lang="en-US" sz="1200" dirty="0"/>
          </a:p>
          <a:p>
            <a:pPr marL="171450" indent="-171450">
              <a:buFont typeface="Arial" panose="020B0604020202020204" pitchFamily="34" charset="0"/>
              <a:buChar char="•"/>
            </a:pPr>
            <a:r>
              <a:rPr lang="en-US" sz="1200" dirty="0"/>
              <a:t>The enter genome was not actually completely sequenced until 2022 largely due to the advent of long red sequencing</a:t>
            </a:r>
          </a:p>
          <a:p>
            <a:endParaRPr lang="en-US" sz="1200" dirty="0"/>
          </a:p>
          <a:p>
            <a:pPr marL="171450" indent="-171450">
              <a:buFont typeface="Arial" panose="020B0604020202020204" pitchFamily="34" charset="0"/>
              <a:buChar char="•"/>
            </a:pPr>
            <a:r>
              <a:rPr lang="en-US" sz="1200" dirty="0"/>
              <a:t>T</a:t>
            </a:r>
            <a:r>
              <a:rPr lang="en-US" sz="1200" b="0" i="0" dirty="0">
                <a:solidFill>
                  <a:srgbClr val="000000"/>
                </a:solidFill>
                <a:effectLst/>
              </a:rPr>
              <a:t>he ENTIRE genome was finished by T2T consortium co-lead by Dr. Karen Niga (UCSC) and Adam Phillippy, a bioinformatician, from NHGRI</a:t>
            </a:r>
            <a:endParaRPr lang="en-US" sz="1200" i="0" dirty="0"/>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endParaRPr lang="en-US" sz="1200" dirty="0"/>
          </a:p>
        </p:txBody>
      </p:sp>
    </p:spTree>
    <p:extLst>
      <p:ext uri="{BB962C8B-B14F-4D97-AF65-F5344CB8AC3E}">
        <p14:creationId xmlns:p14="http://schemas.microsoft.com/office/powerpoint/2010/main" val="1435822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150BE7-20E4-4B4C-F582-CBF2CB167A47}"/>
              </a:ext>
            </a:extLst>
          </p:cNvPr>
          <p:cNvSpPr>
            <a:spLocks noGrp="1"/>
          </p:cNvSpPr>
          <p:nvPr>
            <p:ph idx="1"/>
          </p:nvPr>
        </p:nvSpPr>
        <p:spPr>
          <a:xfrm>
            <a:off x="1021080" y="911425"/>
            <a:ext cx="10515600" cy="1243379"/>
          </a:xfrm>
        </p:spPr>
        <p:txBody>
          <a:bodyPr>
            <a:normAutofit/>
          </a:bodyPr>
          <a:lstStyle/>
          <a:p>
            <a:r>
              <a:rPr lang="en-US" sz="1200" dirty="0"/>
              <a:t>Simultaneous, massively parallel sequencing where 100s of 1000s of DNA fragments are </a:t>
            </a:r>
            <a:r>
              <a:rPr lang="en-US" sz="1200" b="1" u="sng" dirty="0"/>
              <a:t>being sequenced at the same time </a:t>
            </a:r>
            <a:r>
              <a:rPr lang="en-US" sz="1200" dirty="0"/>
              <a:t>instead of one at a time like Sanger sequencing</a:t>
            </a:r>
          </a:p>
          <a:p>
            <a:r>
              <a:rPr lang="en-US" sz="1200" dirty="0"/>
              <a:t>Not only can an ENTIRE </a:t>
            </a:r>
            <a:r>
              <a:rPr lang="en-US" sz="1200" b="1" u="sng" dirty="0"/>
              <a:t>genome</a:t>
            </a:r>
            <a:r>
              <a:rPr lang="en-US" sz="1200" dirty="0"/>
              <a:t> or </a:t>
            </a:r>
            <a:r>
              <a:rPr lang="en-US" sz="1200" b="1" u="sng" dirty="0"/>
              <a:t>exome</a:t>
            </a:r>
            <a:r>
              <a:rPr lang="en-US" sz="1200" dirty="0"/>
              <a:t> or </a:t>
            </a:r>
            <a:r>
              <a:rPr lang="en-US" sz="1200" b="1" u="sng" dirty="0"/>
              <a:t>transcriptome</a:t>
            </a:r>
            <a:r>
              <a:rPr lang="en-US" sz="1200" dirty="0"/>
              <a:t> be sequenced at once </a:t>
            </a:r>
            <a:r>
              <a:rPr lang="en-US" sz="1200" b="1" dirty="0"/>
              <a:t>but many individual samples of each can be combined </a:t>
            </a:r>
            <a:r>
              <a:rPr lang="en-US" sz="1200" dirty="0"/>
              <a:t>and sequenced in one run.</a:t>
            </a:r>
          </a:p>
          <a:p>
            <a:r>
              <a:rPr lang="en-US" sz="1200" dirty="0"/>
              <a:t>This is done by </a:t>
            </a:r>
            <a:r>
              <a:rPr lang="en-US" sz="1200" b="1" u="sng" dirty="0"/>
              <a:t>indexing </a:t>
            </a:r>
            <a:r>
              <a:rPr lang="en-US" sz="1200" dirty="0"/>
              <a:t>all the DNA fragments in one sample with a short unique barcode of 8-12 nucleotide bases</a:t>
            </a:r>
          </a:p>
        </p:txBody>
      </p:sp>
      <p:sp>
        <p:nvSpPr>
          <p:cNvPr id="4" name="TextBox 3">
            <a:extLst>
              <a:ext uri="{FF2B5EF4-FFF2-40B4-BE49-F238E27FC236}">
                <a16:creationId xmlns:a16="http://schemas.microsoft.com/office/drawing/2014/main" id="{0362CA0A-7E24-65BB-8CBE-F8EAFBCF7772}"/>
              </a:ext>
            </a:extLst>
          </p:cNvPr>
          <p:cNvSpPr txBox="1"/>
          <p:nvPr/>
        </p:nvSpPr>
        <p:spPr>
          <a:xfrm>
            <a:off x="1806179" y="270858"/>
            <a:ext cx="8455969" cy="461665"/>
          </a:xfrm>
          <a:prstGeom prst="rect">
            <a:avLst/>
          </a:prstGeom>
          <a:noFill/>
        </p:spPr>
        <p:txBody>
          <a:bodyPr wrap="none" rtlCol="0">
            <a:spAutoFit/>
          </a:bodyPr>
          <a:lstStyle/>
          <a:p>
            <a:r>
              <a:rPr lang="en-US" sz="2400" dirty="0"/>
              <a:t>Next Generation Sequencing (NGS)- 2</a:t>
            </a:r>
            <a:r>
              <a:rPr lang="en-US" sz="2400" baseline="30000" dirty="0"/>
              <a:t>nd</a:t>
            </a:r>
            <a:r>
              <a:rPr lang="en-US" sz="2400" dirty="0"/>
              <a:t> generation sequencing</a:t>
            </a:r>
          </a:p>
        </p:txBody>
      </p:sp>
      <p:grpSp>
        <p:nvGrpSpPr>
          <p:cNvPr id="81" name="Group 80">
            <a:extLst>
              <a:ext uri="{FF2B5EF4-FFF2-40B4-BE49-F238E27FC236}">
                <a16:creationId xmlns:a16="http://schemas.microsoft.com/office/drawing/2014/main" id="{E991AFC6-E30F-EC86-E169-4930CF614F04}"/>
              </a:ext>
            </a:extLst>
          </p:cNvPr>
          <p:cNvGrpSpPr/>
          <p:nvPr/>
        </p:nvGrpSpPr>
        <p:grpSpPr>
          <a:xfrm>
            <a:off x="9562620" y="2240033"/>
            <a:ext cx="1347953" cy="912668"/>
            <a:chOff x="9619755" y="2207332"/>
            <a:chExt cx="1347953" cy="912668"/>
          </a:xfrm>
        </p:grpSpPr>
        <p:sp>
          <p:nvSpPr>
            <p:cNvPr id="37" name="Rectangle 36">
              <a:extLst>
                <a:ext uri="{FF2B5EF4-FFF2-40B4-BE49-F238E27FC236}">
                  <a16:creationId xmlns:a16="http://schemas.microsoft.com/office/drawing/2014/main" id="{CEDA284F-8E25-6141-F7CE-BAD33CA77CA2}"/>
                </a:ext>
              </a:extLst>
            </p:cNvPr>
            <p:cNvSpPr/>
            <p:nvPr/>
          </p:nvSpPr>
          <p:spPr>
            <a:xfrm>
              <a:off x="9619755" y="2278055"/>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C9D9C378-CBF7-E8ED-37E1-AC5144F54EBE}"/>
                </a:ext>
              </a:extLst>
            </p:cNvPr>
            <p:cNvSpPr/>
            <p:nvPr/>
          </p:nvSpPr>
          <p:spPr>
            <a:xfrm>
              <a:off x="9619755" y="2430454"/>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9A23AF12-CA52-F9EE-E5CE-9C13957C9F71}"/>
                </a:ext>
              </a:extLst>
            </p:cNvPr>
            <p:cNvSpPr/>
            <p:nvPr/>
          </p:nvSpPr>
          <p:spPr>
            <a:xfrm>
              <a:off x="9619755" y="2571704"/>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571C71A8-8C72-FB98-A9A0-934BA041471E}"/>
                </a:ext>
              </a:extLst>
            </p:cNvPr>
            <p:cNvSpPr/>
            <p:nvPr/>
          </p:nvSpPr>
          <p:spPr>
            <a:xfrm>
              <a:off x="9630358" y="2703544"/>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99AF115B-79CB-AEA4-1740-D5F5E6798ECD}"/>
                </a:ext>
              </a:extLst>
            </p:cNvPr>
            <p:cNvSpPr txBox="1"/>
            <p:nvPr/>
          </p:nvSpPr>
          <p:spPr>
            <a:xfrm>
              <a:off x="10343324" y="2207332"/>
              <a:ext cx="619080" cy="261610"/>
            </a:xfrm>
            <a:prstGeom prst="rect">
              <a:avLst/>
            </a:prstGeom>
            <a:noFill/>
          </p:spPr>
          <p:txBody>
            <a:bodyPr wrap="none" rtlCol="0">
              <a:spAutoFit/>
            </a:bodyPr>
            <a:lstStyle/>
            <a:p>
              <a:r>
                <a:rPr lang="en-US" sz="1050" b="1" dirty="0"/>
                <a:t>Index 1</a:t>
              </a:r>
            </a:p>
          </p:txBody>
        </p:sp>
        <p:sp>
          <p:nvSpPr>
            <p:cNvPr id="42" name="TextBox 41">
              <a:extLst>
                <a:ext uri="{FF2B5EF4-FFF2-40B4-BE49-F238E27FC236}">
                  <a16:creationId xmlns:a16="http://schemas.microsoft.com/office/drawing/2014/main" id="{BEFDDA46-28F4-FE19-5BC5-EDA7626525F5}"/>
                </a:ext>
              </a:extLst>
            </p:cNvPr>
            <p:cNvSpPr txBox="1"/>
            <p:nvPr/>
          </p:nvSpPr>
          <p:spPr>
            <a:xfrm>
              <a:off x="10335373" y="2342747"/>
              <a:ext cx="619080" cy="261610"/>
            </a:xfrm>
            <a:prstGeom prst="rect">
              <a:avLst/>
            </a:prstGeom>
            <a:noFill/>
          </p:spPr>
          <p:txBody>
            <a:bodyPr wrap="none" rtlCol="0">
              <a:spAutoFit/>
            </a:bodyPr>
            <a:lstStyle/>
            <a:p>
              <a:r>
                <a:rPr lang="en-US" sz="1050" b="1" dirty="0"/>
                <a:t>Index 2</a:t>
              </a:r>
            </a:p>
          </p:txBody>
        </p:sp>
        <p:sp>
          <p:nvSpPr>
            <p:cNvPr id="43" name="TextBox 42">
              <a:extLst>
                <a:ext uri="{FF2B5EF4-FFF2-40B4-BE49-F238E27FC236}">
                  <a16:creationId xmlns:a16="http://schemas.microsoft.com/office/drawing/2014/main" id="{FC5B8B76-989D-ABA1-805B-2E6FD420E0C9}"/>
                </a:ext>
              </a:extLst>
            </p:cNvPr>
            <p:cNvSpPr txBox="1"/>
            <p:nvPr/>
          </p:nvSpPr>
          <p:spPr>
            <a:xfrm>
              <a:off x="10338025" y="2464597"/>
              <a:ext cx="619080" cy="261610"/>
            </a:xfrm>
            <a:prstGeom prst="rect">
              <a:avLst/>
            </a:prstGeom>
            <a:noFill/>
          </p:spPr>
          <p:txBody>
            <a:bodyPr wrap="none" rtlCol="0">
              <a:spAutoFit/>
            </a:bodyPr>
            <a:lstStyle/>
            <a:p>
              <a:r>
                <a:rPr lang="en-US" sz="1050" b="1" dirty="0"/>
                <a:t>Index 3</a:t>
              </a:r>
            </a:p>
          </p:txBody>
        </p:sp>
        <p:sp>
          <p:nvSpPr>
            <p:cNvPr id="44" name="TextBox 43">
              <a:extLst>
                <a:ext uri="{FF2B5EF4-FFF2-40B4-BE49-F238E27FC236}">
                  <a16:creationId xmlns:a16="http://schemas.microsoft.com/office/drawing/2014/main" id="{30D17748-00E5-C7FC-7B03-393DF6245232}"/>
                </a:ext>
              </a:extLst>
            </p:cNvPr>
            <p:cNvSpPr txBox="1"/>
            <p:nvPr/>
          </p:nvSpPr>
          <p:spPr>
            <a:xfrm>
              <a:off x="10348628" y="2600758"/>
              <a:ext cx="619080" cy="261610"/>
            </a:xfrm>
            <a:prstGeom prst="rect">
              <a:avLst/>
            </a:prstGeom>
            <a:noFill/>
          </p:spPr>
          <p:txBody>
            <a:bodyPr wrap="none" rtlCol="0">
              <a:spAutoFit/>
            </a:bodyPr>
            <a:lstStyle/>
            <a:p>
              <a:r>
                <a:rPr lang="en-US" sz="1050" b="1" dirty="0"/>
                <a:t>Index 4</a:t>
              </a:r>
            </a:p>
          </p:txBody>
        </p:sp>
        <p:sp>
          <p:nvSpPr>
            <p:cNvPr id="61" name="Rectangle 60">
              <a:extLst>
                <a:ext uri="{FF2B5EF4-FFF2-40B4-BE49-F238E27FC236}">
                  <a16:creationId xmlns:a16="http://schemas.microsoft.com/office/drawing/2014/main" id="{7E760B4F-E8D9-0FB8-B3F3-75988BB9F12A}"/>
                </a:ext>
              </a:extLst>
            </p:cNvPr>
            <p:cNvSpPr/>
            <p:nvPr/>
          </p:nvSpPr>
          <p:spPr>
            <a:xfrm>
              <a:off x="9630358" y="2824001"/>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EF3AC985-20B8-E63B-B6BC-766D93B1D308}"/>
                </a:ext>
              </a:extLst>
            </p:cNvPr>
            <p:cNvSpPr/>
            <p:nvPr/>
          </p:nvSpPr>
          <p:spPr>
            <a:xfrm>
              <a:off x="9630358" y="2945561"/>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79AE1C26-D889-4970-D180-63F99868953E}"/>
                </a:ext>
              </a:extLst>
            </p:cNvPr>
            <p:cNvSpPr txBox="1"/>
            <p:nvPr/>
          </p:nvSpPr>
          <p:spPr>
            <a:xfrm>
              <a:off x="10343324" y="2728424"/>
              <a:ext cx="619080" cy="261610"/>
            </a:xfrm>
            <a:prstGeom prst="rect">
              <a:avLst/>
            </a:prstGeom>
            <a:noFill/>
          </p:spPr>
          <p:txBody>
            <a:bodyPr wrap="none" rtlCol="0">
              <a:spAutoFit/>
            </a:bodyPr>
            <a:lstStyle/>
            <a:p>
              <a:r>
                <a:rPr lang="en-US" sz="1050" b="1" dirty="0"/>
                <a:t>Index 5</a:t>
              </a:r>
            </a:p>
          </p:txBody>
        </p:sp>
        <p:sp>
          <p:nvSpPr>
            <p:cNvPr id="64" name="TextBox 63">
              <a:extLst>
                <a:ext uri="{FF2B5EF4-FFF2-40B4-BE49-F238E27FC236}">
                  <a16:creationId xmlns:a16="http://schemas.microsoft.com/office/drawing/2014/main" id="{07F48858-1F8D-B228-7EA4-5B09565AD9A7}"/>
                </a:ext>
              </a:extLst>
            </p:cNvPr>
            <p:cNvSpPr txBox="1"/>
            <p:nvPr/>
          </p:nvSpPr>
          <p:spPr>
            <a:xfrm>
              <a:off x="10343324" y="2858390"/>
              <a:ext cx="619080" cy="261610"/>
            </a:xfrm>
            <a:prstGeom prst="rect">
              <a:avLst/>
            </a:prstGeom>
            <a:noFill/>
          </p:spPr>
          <p:txBody>
            <a:bodyPr wrap="none" rtlCol="0">
              <a:spAutoFit/>
            </a:bodyPr>
            <a:lstStyle/>
            <a:p>
              <a:r>
                <a:rPr lang="en-US" sz="1050" b="1" dirty="0"/>
                <a:t>Index 6</a:t>
              </a:r>
            </a:p>
          </p:txBody>
        </p:sp>
      </p:grpSp>
      <p:grpSp>
        <p:nvGrpSpPr>
          <p:cNvPr id="175" name="Group 174">
            <a:extLst>
              <a:ext uri="{FF2B5EF4-FFF2-40B4-BE49-F238E27FC236}">
                <a16:creationId xmlns:a16="http://schemas.microsoft.com/office/drawing/2014/main" id="{C804B17C-2A3D-6412-79C8-19A241E53889}"/>
              </a:ext>
            </a:extLst>
          </p:cNvPr>
          <p:cNvGrpSpPr/>
          <p:nvPr/>
        </p:nvGrpSpPr>
        <p:grpSpPr>
          <a:xfrm>
            <a:off x="1047102" y="2258724"/>
            <a:ext cx="7997978" cy="743966"/>
            <a:chOff x="1047102" y="2600630"/>
            <a:chExt cx="7997978" cy="743966"/>
          </a:xfrm>
        </p:grpSpPr>
        <p:sp>
          <p:nvSpPr>
            <p:cNvPr id="6" name="TextBox 5">
              <a:extLst>
                <a:ext uri="{FF2B5EF4-FFF2-40B4-BE49-F238E27FC236}">
                  <a16:creationId xmlns:a16="http://schemas.microsoft.com/office/drawing/2014/main" id="{98C5C28E-1F09-BF50-56FC-C3E2AF38F74B}"/>
                </a:ext>
              </a:extLst>
            </p:cNvPr>
            <p:cNvSpPr txBox="1"/>
            <p:nvPr/>
          </p:nvSpPr>
          <p:spPr>
            <a:xfrm>
              <a:off x="1047102" y="2609427"/>
              <a:ext cx="2065887" cy="276999"/>
            </a:xfrm>
            <a:prstGeom prst="rect">
              <a:avLst/>
            </a:prstGeom>
            <a:noFill/>
          </p:spPr>
          <p:txBody>
            <a:bodyPr wrap="none" rtlCol="0">
              <a:spAutoFit/>
            </a:bodyPr>
            <a:lstStyle/>
            <a:p>
              <a:r>
                <a:rPr lang="en-US" sz="1200" b="1" dirty="0"/>
                <a:t>Sample 1: index combo:1.2</a:t>
              </a:r>
            </a:p>
          </p:txBody>
        </p:sp>
        <p:grpSp>
          <p:nvGrpSpPr>
            <p:cNvPr id="55" name="Group 54">
              <a:extLst>
                <a:ext uri="{FF2B5EF4-FFF2-40B4-BE49-F238E27FC236}">
                  <a16:creationId xmlns:a16="http://schemas.microsoft.com/office/drawing/2014/main" id="{6AF1D82B-05E7-9CE1-B32A-D688F057E80F}"/>
                </a:ext>
              </a:extLst>
            </p:cNvPr>
            <p:cNvGrpSpPr/>
            <p:nvPr/>
          </p:nvGrpSpPr>
          <p:grpSpPr>
            <a:xfrm>
              <a:off x="1335819" y="2925604"/>
              <a:ext cx="2467569" cy="418992"/>
              <a:chOff x="1335819" y="3302771"/>
              <a:chExt cx="4100224" cy="670231"/>
            </a:xfrm>
          </p:grpSpPr>
          <p:grpSp>
            <p:nvGrpSpPr>
              <p:cNvPr id="45" name="Group 44">
                <a:extLst>
                  <a:ext uri="{FF2B5EF4-FFF2-40B4-BE49-F238E27FC236}">
                    <a16:creationId xmlns:a16="http://schemas.microsoft.com/office/drawing/2014/main" id="{37DA6F41-9784-A460-432D-7DE710E34D30}"/>
                  </a:ext>
                </a:extLst>
              </p:cNvPr>
              <p:cNvGrpSpPr/>
              <p:nvPr/>
            </p:nvGrpSpPr>
            <p:grpSpPr>
              <a:xfrm>
                <a:off x="1335819" y="3302771"/>
                <a:ext cx="3490624" cy="60631"/>
                <a:chOff x="1335819" y="3302771"/>
                <a:chExt cx="3490624" cy="60631"/>
              </a:xfrm>
            </p:grpSpPr>
            <p:sp>
              <p:nvSpPr>
                <p:cNvPr id="5" name="Rectangle 4">
                  <a:extLst>
                    <a:ext uri="{FF2B5EF4-FFF2-40B4-BE49-F238E27FC236}">
                      <a16:creationId xmlns:a16="http://schemas.microsoft.com/office/drawing/2014/main" id="{700F0CD9-1FCE-47E3-A68F-BE30FDF19B23}"/>
                    </a:ext>
                  </a:extLst>
                </p:cNvPr>
                <p:cNvSpPr/>
                <p:nvPr/>
              </p:nvSpPr>
              <p:spPr>
                <a:xfrm>
                  <a:off x="1335819" y="33077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972D4FE-D254-F923-6403-29C2869387FC}"/>
                    </a:ext>
                  </a:extLst>
                </p:cNvPr>
                <p:cNvSpPr/>
                <p:nvPr/>
              </p:nvSpPr>
              <p:spPr>
                <a:xfrm>
                  <a:off x="2051437" y="33077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BE4C1325-99D7-1DF7-7B3A-D4F4EF03EBDB}"/>
                    </a:ext>
                  </a:extLst>
                </p:cNvPr>
                <p:cNvSpPr/>
                <p:nvPr/>
              </p:nvSpPr>
              <p:spPr>
                <a:xfrm>
                  <a:off x="4110825" y="33027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Rectangle 8">
                <a:extLst>
                  <a:ext uri="{FF2B5EF4-FFF2-40B4-BE49-F238E27FC236}">
                    <a16:creationId xmlns:a16="http://schemas.microsoft.com/office/drawing/2014/main" id="{D87FE02F-3000-FE71-88F6-2B1A4F115C68}"/>
                  </a:ext>
                </a:extLst>
              </p:cNvPr>
              <p:cNvSpPr/>
              <p:nvPr/>
            </p:nvSpPr>
            <p:spPr>
              <a:xfrm>
                <a:off x="1488219" y="34601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9433C60-A08A-4A74-DB8C-B85903528374}"/>
                  </a:ext>
                </a:extLst>
              </p:cNvPr>
              <p:cNvSpPr/>
              <p:nvPr/>
            </p:nvSpPr>
            <p:spPr>
              <a:xfrm>
                <a:off x="2203837" y="34601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1963D30-7B94-7D52-0333-F338809EEB8C}"/>
                  </a:ext>
                </a:extLst>
              </p:cNvPr>
              <p:cNvSpPr/>
              <p:nvPr/>
            </p:nvSpPr>
            <p:spPr>
              <a:xfrm>
                <a:off x="4263225" y="34551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1F91CC8-5090-8FD3-4AC5-E8467F59DA48}"/>
                  </a:ext>
                </a:extLst>
              </p:cNvPr>
              <p:cNvSpPr/>
              <p:nvPr/>
            </p:nvSpPr>
            <p:spPr>
              <a:xfrm>
                <a:off x="1640619" y="36125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E3406A8-B3A2-C284-CF66-6BE3E5380C98}"/>
                  </a:ext>
                </a:extLst>
              </p:cNvPr>
              <p:cNvSpPr/>
              <p:nvPr/>
            </p:nvSpPr>
            <p:spPr>
              <a:xfrm>
                <a:off x="2356237" y="36125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151DBA5-32E6-5226-8736-1168F75B40F8}"/>
                  </a:ext>
                </a:extLst>
              </p:cNvPr>
              <p:cNvSpPr/>
              <p:nvPr/>
            </p:nvSpPr>
            <p:spPr>
              <a:xfrm>
                <a:off x="4415625" y="36075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59054C1-097B-64B5-DDDE-A9D996732954}"/>
                  </a:ext>
                </a:extLst>
              </p:cNvPr>
              <p:cNvSpPr/>
              <p:nvPr/>
            </p:nvSpPr>
            <p:spPr>
              <a:xfrm>
                <a:off x="1822367" y="378051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F076457-FE75-FE3D-8EE2-17FA28E28FDA}"/>
                  </a:ext>
                </a:extLst>
              </p:cNvPr>
              <p:cNvSpPr/>
              <p:nvPr/>
            </p:nvSpPr>
            <p:spPr>
              <a:xfrm>
                <a:off x="2508637" y="37649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C46AB88-82D0-3228-3046-A940D96506E3}"/>
                  </a:ext>
                </a:extLst>
              </p:cNvPr>
              <p:cNvSpPr/>
              <p:nvPr/>
            </p:nvSpPr>
            <p:spPr>
              <a:xfrm>
                <a:off x="4568025" y="37599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A2C1B30-E6A2-2CA9-CC29-207406A0B2C1}"/>
                  </a:ext>
                </a:extLst>
              </p:cNvPr>
              <p:cNvSpPr/>
              <p:nvPr/>
            </p:nvSpPr>
            <p:spPr>
              <a:xfrm>
                <a:off x="1945419" y="39173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97F6336-7166-A550-FAC8-81E2C1C78304}"/>
                  </a:ext>
                </a:extLst>
              </p:cNvPr>
              <p:cNvSpPr/>
              <p:nvPr/>
            </p:nvSpPr>
            <p:spPr>
              <a:xfrm>
                <a:off x="2661037" y="39173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C1D7EA5-5E0E-5422-6645-EC84615464C1}"/>
                  </a:ext>
                </a:extLst>
              </p:cNvPr>
              <p:cNvSpPr/>
              <p:nvPr/>
            </p:nvSpPr>
            <p:spPr>
              <a:xfrm>
                <a:off x="4720425" y="39123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6" name="Group 55">
              <a:extLst>
                <a:ext uri="{FF2B5EF4-FFF2-40B4-BE49-F238E27FC236}">
                  <a16:creationId xmlns:a16="http://schemas.microsoft.com/office/drawing/2014/main" id="{7BCEE8ED-5DA3-AFC5-CCA2-EF309201118D}"/>
                </a:ext>
              </a:extLst>
            </p:cNvPr>
            <p:cNvGrpSpPr/>
            <p:nvPr/>
          </p:nvGrpSpPr>
          <p:grpSpPr>
            <a:xfrm>
              <a:off x="4310138" y="2885194"/>
              <a:ext cx="2201676" cy="439149"/>
              <a:chOff x="6627413" y="3275350"/>
              <a:chExt cx="4100224" cy="670231"/>
            </a:xfrm>
          </p:grpSpPr>
          <p:grpSp>
            <p:nvGrpSpPr>
              <p:cNvPr id="50" name="Group 49">
                <a:extLst>
                  <a:ext uri="{FF2B5EF4-FFF2-40B4-BE49-F238E27FC236}">
                    <a16:creationId xmlns:a16="http://schemas.microsoft.com/office/drawing/2014/main" id="{5ED51292-73DE-23B4-CF48-E9D1C8F5EBFB}"/>
                  </a:ext>
                </a:extLst>
              </p:cNvPr>
              <p:cNvGrpSpPr/>
              <p:nvPr/>
            </p:nvGrpSpPr>
            <p:grpSpPr>
              <a:xfrm>
                <a:off x="6627413" y="3275350"/>
                <a:ext cx="3490624" cy="60631"/>
                <a:chOff x="6627413" y="3275350"/>
                <a:chExt cx="3490624" cy="60631"/>
              </a:xfrm>
            </p:grpSpPr>
            <p:sp>
              <p:nvSpPr>
                <p:cNvPr id="21" name="Rectangle 20">
                  <a:extLst>
                    <a:ext uri="{FF2B5EF4-FFF2-40B4-BE49-F238E27FC236}">
                      <a16:creationId xmlns:a16="http://schemas.microsoft.com/office/drawing/2014/main" id="{05C8A7F4-CA19-A1B7-16A0-83742EC8DFE3}"/>
                    </a:ext>
                  </a:extLst>
                </p:cNvPr>
                <p:cNvSpPr/>
                <p:nvPr/>
              </p:nvSpPr>
              <p:spPr>
                <a:xfrm>
                  <a:off x="6627413" y="32803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2FCA834-0A06-C9D5-AB34-899FCFA0BAB3}"/>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1602AC8-232E-F7D6-BE67-788CFD514548}"/>
                    </a:ext>
                  </a:extLst>
                </p:cNvPr>
                <p:cNvSpPr/>
                <p:nvPr/>
              </p:nvSpPr>
              <p:spPr>
                <a:xfrm>
                  <a:off x="9402419" y="32753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 name="Rectangle 23">
                <a:extLst>
                  <a:ext uri="{FF2B5EF4-FFF2-40B4-BE49-F238E27FC236}">
                    <a16:creationId xmlns:a16="http://schemas.microsoft.com/office/drawing/2014/main" id="{7F10F414-6ED3-10B4-122C-0D4C9925265D}"/>
                  </a:ext>
                </a:extLst>
              </p:cNvPr>
              <p:cNvSpPr/>
              <p:nvPr/>
            </p:nvSpPr>
            <p:spPr>
              <a:xfrm>
                <a:off x="6779813" y="34327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13255597-FD4D-FC97-2AA7-6AAEB05D3A75}"/>
                  </a:ext>
                </a:extLst>
              </p:cNvPr>
              <p:cNvSpPr/>
              <p:nvPr/>
            </p:nvSpPr>
            <p:spPr>
              <a:xfrm>
                <a:off x="7495431" y="34327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6D455CF3-7046-5349-CD28-76C2862FFE59}"/>
                  </a:ext>
                </a:extLst>
              </p:cNvPr>
              <p:cNvSpPr/>
              <p:nvPr/>
            </p:nvSpPr>
            <p:spPr>
              <a:xfrm>
                <a:off x="9554819" y="34277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85D5361B-67FB-0495-B24F-CA2883F7D5F8}"/>
                  </a:ext>
                </a:extLst>
              </p:cNvPr>
              <p:cNvSpPr/>
              <p:nvPr/>
            </p:nvSpPr>
            <p:spPr>
              <a:xfrm>
                <a:off x="6932213" y="35851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678973AE-31D3-9A5F-4C37-992FF29C7C6C}"/>
                  </a:ext>
                </a:extLst>
              </p:cNvPr>
              <p:cNvSpPr/>
              <p:nvPr/>
            </p:nvSpPr>
            <p:spPr>
              <a:xfrm>
                <a:off x="7647831" y="35851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8B410FF-7E07-2829-1AB5-8966E7C97F3D}"/>
                  </a:ext>
                </a:extLst>
              </p:cNvPr>
              <p:cNvSpPr/>
              <p:nvPr/>
            </p:nvSpPr>
            <p:spPr>
              <a:xfrm>
                <a:off x="9707219" y="35801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CBD5778C-A0D5-D713-5688-2ED42D019D4C}"/>
                  </a:ext>
                </a:extLst>
              </p:cNvPr>
              <p:cNvSpPr/>
              <p:nvPr/>
            </p:nvSpPr>
            <p:spPr>
              <a:xfrm>
                <a:off x="7084613" y="37375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6EFEF99B-06F6-8ED9-27E4-560BF0AB785D}"/>
                  </a:ext>
                </a:extLst>
              </p:cNvPr>
              <p:cNvSpPr/>
              <p:nvPr/>
            </p:nvSpPr>
            <p:spPr>
              <a:xfrm>
                <a:off x="7800231" y="37375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19EDCC5B-19CE-651E-9DCD-9C1F166203CD}"/>
                  </a:ext>
                </a:extLst>
              </p:cNvPr>
              <p:cNvSpPr/>
              <p:nvPr/>
            </p:nvSpPr>
            <p:spPr>
              <a:xfrm>
                <a:off x="9859619" y="37325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345709E8-20B8-74EE-D2AC-00F3D9F24C4F}"/>
                  </a:ext>
                </a:extLst>
              </p:cNvPr>
              <p:cNvSpPr/>
              <p:nvPr/>
            </p:nvSpPr>
            <p:spPr>
              <a:xfrm>
                <a:off x="7237013" y="38899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D241A2CD-E5E6-CACB-7BD6-0DE7420649EC}"/>
                  </a:ext>
                </a:extLst>
              </p:cNvPr>
              <p:cNvSpPr/>
              <p:nvPr/>
            </p:nvSpPr>
            <p:spPr>
              <a:xfrm>
                <a:off x="7952631" y="38899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D3F8D529-C767-BFC5-0929-0C7D4C1EB24B}"/>
                  </a:ext>
                </a:extLst>
              </p:cNvPr>
              <p:cNvSpPr/>
              <p:nvPr/>
            </p:nvSpPr>
            <p:spPr>
              <a:xfrm>
                <a:off x="10012019" y="38849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TextBox 35">
              <a:extLst>
                <a:ext uri="{FF2B5EF4-FFF2-40B4-BE49-F238E27FC236}">
                  <a16:creationId xmlns:a16="http://schemas.microsoft.com/office/drawing/2014/main" id="{273B74D5-2CB7-2F11-53A3-AC04A5073FF1}"/>
                </a:ext>
              </a:extLst>
            </p:cNvPr>
            <p:cNvSpPr txBox="1"/>
            <p:nvPr/>
          </p:nvSpPr>
          <p:spPr>
            <a:xfrm>
              <a:off x="4023583" y="2600630"/>
              <a:ext cx="2065887" cy="276999"/>
            </a:xfrm>
            <a:prstGeom prst="rect">
              <a:avLst/>
            </a:prstGeom>
            <a:noFill/>
          </p:spPr>
          <p:txBody>
            <a:bodyPr wrap="none" rtlCol="0">
              <a:spAutoFit/>
            </a:bodyPr>
            <a:lstStyle/>
            <a:p>
              <a:r>
                <a:rPr lang="en-US" sz="1200" b="1" dirty="0"/>
                <a:t>Sample 2: index combo:3.4</a:t>
              </a:r>
            </a:p>
          </p:txBody>
        </p:sp>
        <p:grpSp>
          <p:nvGrpSpPr>
            <p:cNvPr id="82" name="Group 81">
              <a:extLst>
                <a:ext uri="{FF2B5EF4-FFF2-40B4-BE49-F238E27FC236}">
                  <a16:creationId xmlns:a16="http://schemas.microsoft.com/office/drawing/2014/main" id="{F7CFFA6A-94C3-A981-B97E-3C24F7E9C944}"/>
                </a:ext>
              </a:extLst>
            </p:cNvPr>
            <p:cNvGrpSpPr/>
            <p:nvPr/>
          </p:nvGrpSpPr>
          <p:grpSpPr>
            <a:xfrm>
              <a:off x="6835347" y="2925603"/>
              <a:ext cx="2209733" cy="395794"/>
              <a:chOff x="7400847" y="3255762"/>
              <a:chExt cx="3947824" cy="517831"/>
            </a:xfrm>
          </p:grpSpPr>
          <p:grpSp>
            <p:nvGrpSpPr>
              <p:cNvPr id="57" name="Group 56">
                <a:extLst>
                  <a:ext uri="{FF2B5EF4-FFF2-40B4-BE49-F238E27FC236}">
                    <a16:creationId xmlns:a16="http://schemas.microsoft.com/office/drawing/2014/main" id="{2CFF82F3-925A-35F5-A796-E73902F09CFC}"/>
                  </a:ext>
                </a:extLst>
              </p:cNvPr>
              <p:cNvGrpSpPr/>
              <p:nvPr/>
            </p:nvGrpSpPr>
            <p:grpSpPr>
              <a:xfrm>
                <a:off x="7400847" y="3255762"/>
                <a:ext cx="3490624" cy="60631"/>
                <a:chOff x="6627413" y="3275350"/>
                <a:chExt cx="3490624" cy="60631"/>
              </a:xfrm>
            </p:grpSpPr>
            <p:sp>
              <p:nvSpPr>
                <p:cNvPr id="58" name="Rectangle 57">
                  <a:extLst>
                    <a:ext uri="{FF2B5EF4-FFF2-40B4-BE49-F238E27FC236}">
                      <a16:creationId xmlns:a16="http://schemas.microsoft.com/office/drawing/2014/main" id="{D120F103-5C2A-2A85-494F-365BC42F60A7}"/>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6DB3211A-B9A8-847D-3620-46332F85C36F}"/>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D75E456A-A569-B1BE-F62B-1582A59A8077}"/>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5" name="Group 64">
                <a:extLst>
                  <a:ext uri="{FF2B5EF4-FFF2-40B4-BE49-F238E27FC236}">
                    <a16:creationId xmlns:a16="http://schemas.microsoft.com/office/drawing/2014/main" id="{DE139CA4-800C-DE93-798D-3D5E537C3B48}"/>
                  </a:ext>
                </a:extLst>
              </p:cNvPr>
              <p:cNvGrpSpPr/>
              <p:nvPr/>
            </p:nvGrpSpPr>
            <p:grpSpPr>
              <a:xfrm>
                <a:off x="7553247" y="3408162"/>
                <a:ext cx="3490624" cy="60631"/>
                <a:chOff x="6627413" y="3275350"/>
                <a:chExt cx="3490624" cy="60631"/>
              </a:xfrm>
            </p:grpSpPr>
            <p:sp>
              <p:nvSpPr>
                <p:cNvPr id="66" name="Rectangle 65">
                  <a:extLst>
                    <a:ext uri="{FF2B5EF4-FFF2-40B4-BE49-F238E27FC236}">
                      <a16:creationId xmlns:a16="http://schemas.microsoft.com/office/drawing/2014/main" id="{6B5DBE4F-AF3E-227C-E768-3AECA463B095}"/>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FC823EEA-9672-3BEC-08C1-FFF166A44342}"/>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CC2B1573-3ABB-A40D-F78C-1697B538F498}"/>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9" name="Group 68">
                <a:extLst>
                  <a:ext uri="{FF2B5EF4-FFF2-40B4-BE49-F238E27FC236}">
                    <a16:creationId xmlns:a16="http://schemas.microsoft.com/office/drawing/2014/main" id="{1BCFD34F-72EC-74A3-7B41-9832263B5482}"/>
                  </a:ext>
                </a:extLst>
              </p:cNvPr>
              <p:cNvGrpSpPr/>
              <p:nvPr/>
            </p:nvGrpSpPr>
            <p:grpSpPr>
              <a:xfrm>
                <a:off x="7705647" y="3560562"/>
                <a:ext cx="3490624" cy="60631"/>
                <a:chOff x="6627413" y="3275350"/>
                <a:chExt cx="3490624" cy="60631"/>
              </a:xfrm>
            </p:grpSpPr>
            <p:sp>
              <p:nvSpPr>
                <p:cNvPr id="70" name="Rectangle 69">
                  <a:extLst>
                    <a:ext uri="{FF2B5EF4-FFF2-40B4-BE49-F238E27FC236}">
                      <a16:creationId xmlns:a16="http://schemas.microsoft.com/office/drawing/2014/main" id="{EA06D5F3-3D11-5D17-3701-0C0B06255930}"/>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7025C784-1652-E559-45A7-40DA888160D1}"/>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88FCB761-92F8-0676-3D52-C9C935BD373D}"/>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3" name="Group 72">
                <a:extLst>
                  <a:ext uri="{FF2B5EF4-FFF2-40B4-BE49-F238E27FC236}">
                    <a16:creationId xmlns:a16="http://schemas.microsoft.com/office/drawing/2014/main" id="{A5347D9C-A60A-ECAA-FD84-9A7CAA825A63}"/>
                  </a:ext>
                </a:extLst>
              </p:cNvPr>
              <p:cNvGrpSpPr/>
              <p:nvPr/>
            </p:nvGrpSpPr>
            <p:grpSpPr>
              <a:xfrm>
                <a:off x="7858047" y="3712962"/>
                <a:ext cx="3490624" cy="60631"/>
                <a:chOff x="6627413" y="3275350"/>
                <a:chExt cx="3490624" cy="60631"/>
              </a:xfrm>
            </p:grpSpPr>
            <p:sp>
              <p:nvSpPr>
                <p:cNvPr id="74" name="Rectangle 73">
                  <a:extLst>
                    <a:ext uri="{FF2B5EF4-FFF2-40B4-BE49-F238E27FC236}">
                      <a16:creationId xmlns:a16="http://schemas.microsoft.com/office/drawing/2014/main" id="{1B400F3E-D9CE-9B82-224E-7510D4B61D44}"/>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19C01BC9-D4B0-4049-0A83-295FA401CFF4}"/>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163163B6-8AE7-BD7E-617B-497A6429EA79}"/>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3" name="TextBox 82">
              <a:extLst>
                <a:ext uri="{FF2B5EF4-FFF2-40B4-BE49-F238E27FC236}">
                  <a16:creationId xmlns:a16="http://schemas.microsoft.com/office/drawing/2014/main" id="{66309623-58A6-3746-2DFB-171F68AB3895}"/>
                </a:ext>
              </a:extLst>
            </p:cNvPr>
            <p:cNvSpPr txBox="1"/>
            <p:nvPr/>
          </p:nvSpPr>
          <p:spPr>
            <a:xfrm>
              <a:off x="6586139" y="2610937"/>
              <a:ext cx="2065887" cy="276999"/>
            </a:xfrm>
            <a:prstGeom prst="rect">
              <a:avLst/>
            </a:prstGeom>
            <a:noFill/>
          </p:spPr>
          <p:txBody>
            <a:bodyPr wrap="none" rtlCol="0">
              <a:spAutoFit/>
            </a:bodyPr>
            <a:lstStyle/>
            <a:p>
              <a:r>
                <a:rPr lang="en-US" sz="1200" b="1" dirty="0"/>
                <a:t>Sample 3: index combo:5.6</a:t>
              </a:r>
            </a:p>
          </p:txBody>
        </p:sp>
      </p:grpSp>
      <p:grpSp>
        <p:nvGrpSpPr>
          <p:cNvPr id="176" name="Group 175">
            <a:extLst>
              <a:ext uri="{FF2B5EF4-FFF2-40B4-BE49-F238E27FC236}">
                <a16:creationId xmlns:a16="http://schemas.microsoft.com/office/drawing/2014/main" id="{02369428-14F8-176A-C8F9-C25D0CCA065A}"/>
              </a:ext>
            </a:extLst>
          </p:cNvPr>
          <p:cNvGrpSpPr/>
          <p:nvPr/>
        </p:nvGrpSpPr>
        <p:grpSpPr>
          <a:xfrm>
            <a:off x="2750643" y="3115863"/>
            <a:ext cx="6496946" cy="1343290"/>
            <a:chOff x="2750643" y="3457769"/>
            <a:chExt cx="6496946" cy="1343290"/>
          </a:xfrm>
        </p:grpSpPr>
        <p:grpSp>
          <p:nvGrpSpPr>
            <p:cNvPr id="46" name="Group 45">
              <a:extLst>
                <a:ext uri="{FF2B5EF4-FFF2-40B4-BE49-F238E27FC236}">
                  <a16:creationId xmlns:a16="http://schemas.microsoft.com/office/drawing/2014/main" id="{933DDB86-63A5-7323-156F-1BAB484D3432}"/>
                </a:ext>
              </a:extLst>
            </p:cNvPr>
            <p:cNvGrpSpPr/>
            <p:nvPr/>
          </p:nvGrpSpPr>
          <p:grpSpPr>
            <a:xfrm>
              <a:off x="2935902" y="4235266"/>
              <a:ext cx="1865769" cy="31305"/>
              <a:chOff x="1335819" y="3302771"/>
              <a:chExt cx="3490624" cy="60631"/>
            </a:xfrm>
          </p:grpSpPr>
          <p:sp>
            <p:nvSpPr>
              <p:cNvPr id="47" name="Rectangle 46">
                <a:extLst>
                  <a:ext uri="{FF2B5EF4-FFF2-40B4-BE49-F238E27FC236}">
                    <a16:creationId xmlns:a16="http://schemas.microsoft.com/office/drawing/2014/main" id="{BBAFC20D-26E2-679F-1226-7A61143F3D51}"/>
                  </a:ext>
                </a:extLst>
              </p:cNvPr>
              <p:cNvSpPr/>
              <p:nvPr/>
            </p:nvSpPr>
            <p:spPr>
              <a:xfrm>
                <a:off x="1335819" y="33077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538D7123-B41E-9168-05FE-BCC85FE116FD}"/>
                  </a:ext>
                </a:extLst>
              </p:cNvPr>
              <p:cNvSpPr/>
              <p:nvPr/>
            </p:nvSpPr>
            <p:spPr>
              <a:xfrm>
                <a:off x="2051437" y="33077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5168D177-43ED-60AF-917D-8746345878A8}"/>
                  </a:ext>
                </a:extLst>
              </p:cNvPr>
              <p:cNvSpPr/>
              <p:nvPr/>
            </p:nvSpPr>
            <p:spPr>
              <a:xfrm>
                <a:off x="4110825" y="33027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1" name="Group 50">
              <a:extLst>
                <a:ext uri="{FF2B5EF4-FFF2-40B4-BE49-F238E27FC236}">
                  <a16:creationId xmlns:a16="http://schemas.microsoft.com/office/drawing/2014/main" id="{924744ED-AFBC-173B-A8A4-CEEE36CB00E2}"/>
                </a:ext>
              </a:extLst>
            </p:cNvPr>
            <p:cNvGrpSpPr/>
            <p:nvPr/>
          </p:nvGrpSpPr>
          <p:grpSpPr>
            <a:xfrm>
              <a:off x="4021760" y="4554644"/>
              <a:ext cx="1865769" cy="31305"/>
              <a:chOff x="6627413" y="3275350"/>
              <a:chExt cx="3490624" cy="60631"/>
            </a:xfrm>
          </p:grpSpPr>
          <p:sp>
            <p:nvSpPr>
              <p:cNvPr id="52" name="Rectangle 51">
                <a:extLst>
                  <a:ext uri="{FF2B5EF4-FFF2-40B4-BE49-F238E27FC236}">
                    <a16:creationId xmlns:a16="http://schemas.microsoft.com/office/drawing/2014/main" id="{1DA2CB66-9E1D-C752-C9E4-8603528E2807}"/>
                  </a:ext>
                </a:extLst>
              </p:cNvPr>
              <p:cNvSpPr/>
              <p:nvPr/>
            </p:nvSpPr>
            <p:spPr>
              <a:xfrm>
                <a:off x="6627413" y="32803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60B9AAA-18FB-3464-3CEE-08A64D34928C}"/>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5CC9183B-2CE2-1F21-5BAF-C99E7EE81510}"/>
                  </a:ext>
                </a:extLst>
              </p:cNvPr>
              <p:cNvSpPr/>
              <p:nvPr/>
            </p:nvSpPr>
            <p:spPr>
              <a:xfrm>
                <a:off x="9402419" y="32753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7" name="Group 76">
              <a:extLst>
                <a:ext uri="{FF2B5EF4-FFF2-40B4-BE49-F238E27FC236}">
                  <a16:creationId xmlns:a16="http://schemas.microsoft.com/office/drawing/2014/main" id="{25DC24AA-94FB-DA9F-C371-BA6CAD445308}"/>
                </a:ext>
              </a:extLst>
            </p:cNvPr>
            <p:cNvGrpSpPr/>
            <p:nvPr/>
          </p:nvGrpSpPr>
          <p:grpSpPr>
            <a:xfrm>
              <a:off x="4907624" y="4248059"/>
              <a:ext cx="1865769" cy="31305"/>
              <a:chOff x="6627413" y="3275350"/>
              <a:chExt cx="3490624" cy="60631"/>
            </a:xfrm>
          </p:grpSpPr>
          <p:sp>
            <p:nvSpPr>
              <p:cNvPr id="78" name="Rectangle 77">
                <a:extLst>
                  <a:ext uri="{FF2B5EF4-FFF2-40B4-BE49-F238E27FC236}">
                    <a16:creationId xmlns:a16="http://schemas.microsoft.com/office/drawing/2014/main" id="{6F6ADA84-4E64-7AC9-4F98-32CC6AADDEBE}"/>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BAEC4147-9EC5-AA1D-760A-1ADED389F22C}"/>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E7B2988C-B188-1C1F-1A9F-B77F78F994ED}"/>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84" name="Group 83">
              <a:extLst>
                <a:ext uri="{FF2B5EF4-FFF2-40B4-BE49-F238E27FC236}">
                  <a16:creationId xmlns:a16="http://schemas.microsoft.com/office/drawing/2014/main" id="{560E02E2-68F1-898D-55A5-06F323750428}"/>
                </a:ext>
              </a:extLst>
            </p:cNvPr>
            <p:cNvGrpSpPr/>
            <p:nvPr/>
          </p:nvGrpSpPr>
          <p:grpSpPr>
            <a:xfrm>
              <a:off x="2979517" y="4658272"/>
              <a:ext cx="1865769" cy="31305"/>
              <a:chOff x="1335819" y="3302771"/>
              <a:chExt cx="3490624" cy="60631"/>
            </a:xfrm>
          </p:grpSpPr>
          <p:sp>
            <p:nvSpPr>
              <p:cNvPr id="85" name="Rectangle 84">
                <a:extLst>
                  <a:ext uri="{FF2B5EF4-FFF2-40B4-BE49-F238E27FC236}">
                    <a16:creationId xmlns:a16="http://schemas.microsoft.com/office/drawing/2014/main" id="{E4E52E41-6BAA-6BDA-4C95-80C66185E6CA}"/>
                  </a:ext>
                </a:extLst>
              </p:cNvPr>
              <p:cNvSpPr/>
              <p:nvPr/>
            </p:nvSpPr>
            <p:spPr>
              <a:xfrm>
                <a:off x="1335819" y="33077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2141967B-4FB1-4BC1-1E27-898E9E1A8351}"/>
                  </a:ext>
                </a:extLst>
              </p:cNvPr>
              <p:cNvSpPr/>
              <p:nvPr/>
            </p:nvSpPr>
            <p:spPr>
              <a:xfrm>
                <a:off x="2051437" y="33077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85104F9A-31F4-180C-812E-E2113E4B0A12}"/>
                  </a:ext>
                </a:extLst>
              </p:cNvPr>
              <p:cNvSpPr/>
              <p:nvPr/>
            </p:nvSpPr>
            <p:spPr>
              <a:xfrm>
                <a:off x="4110825" y="33027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88" name="Group 87">
              <a:extLst>
                <a:ext uri="{FF2B5EF4-FFF2-40B4-BE49-F238E27FC236}">
                  <a16:creationId xmlns:a16="http://schemas.microsoft.com/office/drawing/2014/main" id="{CA422DB8-F3F6-7BA0-3C80-E7D8A435FBA4}"/>
                </a:ext>
              </a:extLst>
            </p:cNvPr>
            <p:cNvGrpSpPr/>
            <p:nvPr/>
          </p:nvGrpSpPr>
          <p:grpSpPr>
            <a:xfrm>
              <a:off x="4716372" y="4756967"/>
              <a:ext cx="1865769" cy="31305"/>
              <a:chOff x="1335819" y="3302771"/>
              <a:chExt cx="3490624" cy="60631"/>
            </a:xfrm>
          </p:grpSpPr>
          <p:sp>
            <p:nvSpPr>
              <p:cNvPr id="89" name="Rectangle 88">
                <a:extLst>
                  <a:ext uri="{FF2B5EF4-FFF2-40B4-BE49-F238E27FC236}">
                    <a16:creationId xmlns:a16="http://schemas.microsoft.com/office/drawing/2014/main" id="{FF010C23-5F34-E5C1-F136-E1C153A728AC}"/>
                  </a:ext>
                </a:extLst>
              </p:cNvPr>
              <p:cNvSpPr/>
              <p:nvPr/>
            </p:nvSpPr>
            <p:spPr>
              <a:xfrm>
                <a:off x="1335819" y="33077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Rectangle 89">
                <a:extLst>
                  <a:ext uri="{FF2B5EF4-FFF2-40B4-BE49-F238E27FC236}">
                    <a16:creationId xmlns:a16="http://schemas.microsoft.com/office/drawing/2014/main" id="{9A2AAB8B-AB49-602D-8BF4-AB98151E47AF}"/>
                  </a:ext>
                </a:extLst>
              </p:cNvPr>
              <p:cNvSpPr/>
              <p:nvPr/>
            </p:nvSpPr>
            <p:spPr>
              <a:xfrm>
                <a:off x="2051437" y="33077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D4D1CA99-D884-1B78-CF09-38CC55E010F3}"/>
                  </a:ext>
                </a:extLst>
              </p:cNvPr>
              <p:cNvSpPr/>
              <p:nvPr/>
            </p:nvSpPr>
            <p:spPr>
              <a:xfrm>
                <a:off x="4110825" y="33027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2" name="Group 91">
              <a:extLst>
                <a:ext uri="{FF2B5EF4-FFF2-40B4-BE49-F238E27FC236}">
                  <a16:creationId xmlns:a16="http://schemas.microsoft.com/office/drawing/2014/main" id="{2ED17EA7-ECE5-66EC-CA02-B3E4E145C3A9}"/>
                </a:ext>
              </a:extLst>
            </p:cNvPr>
            <p:cNvGrpSpPr/>
            <p:nvPr/>
          </p:nvGrpSpPr>
          <p:grpSpPr>
            <a:xfrm>
              <a:off x="3180279" y="4471324"/>
              <a:ext cx="1865769" cy="31305"/>
              <a:chOff x="1335819" y="3302771"/>
              <a:chExt cx="3490624" cy="60631"/>
            </a:xfrm>
          </p:grpSpPr>
          <p:sp>
            <p:nvSpPr>
              <p:cNvPr id="93" name="Rectangle 92">
                <a:extLst>
                  <a:ext uri="{FF2B5EF4-FFF2-40B4-BE49-F238E27FC236}">
                    <a16:creationId xmlns:a16="http://schemas.microsoft.com/office/drawing/2014/main" id="{C4754911-6AD2-394A-2CE7-1D195BB518FC}"/>
                  </a:ext>
                </a:extLst>
              </p:cNvPr>
              <p:cNvSpPr/>
              <p:nvPr/>
            </p:nvSpPr>
            <p:spPr>
              <a:xfrm>
                <a:off x="1335819" y="33077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70C2D6CC-E818-B7FA-8E34-E5AC27994A1B}"/>
                  </a:ext>
                </a:extLst>
              </p:cNvPr>
              <p:cNvSpPr/>
              <p:nvPr/>
            </p:nvSpPr>
            <p:spPr>
              <a:xfrm>
                <a:off x="2051437" y="33077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D4955A00-0338-1704-52CC-04557DADE8B7}"/>
                  </a:ext>
                </a:extLst>
              </p:cNvPr>
              <p:cNvSpPr/>
              <p:nvPr/>
            </p:nvSpPr>
            <p:spPr>
              <a:xfrm>
                <a:off x="4110825" y="33027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6" name="Group 95">
              <a:extLst>
                <a:ext uri="{FF2B5EF4-FFF2-40B4-BE49-F238E27FC236}">
                  <a16:creationId xmlns:a16="http://schemas.microsoft.com/office/drawing/2014/main" id="{5282168F-571A-4EFE-3699-9C1B2C0EA268}"/>
                </a:ext>
              </a:extLst>
            </p:cNvPr>
            <p:cNvGrpSpPr/>
            <p:nvPr/>
          </p:nvGrpSpPr>
          <p:grpSpPr>
            <a:xfrm>
              <a:off x="3629542" y="4364966"/>
              <a:ext cx="1865769" cy="31305"/>
              <a:chOff x="6627413" y="3275350"/>
              <a:chExt cx="3490624" cy="60631"/>
            </a:xfrm>
          </p:grpSpPr>
          <p:sp>
            <p:nvSpPr>
              <p:cNvPr id="97" name="Rectangle 96">
                <a:extLst>
                  <a:ext uri="{FF2B5EF4-FFF2-40B4-BE49-F238E27FC236}">
                    <a16:creationId xmlns:a16="http://schemas.microsoft.com/office/drawing/2014/main" id="{6E612DB6-A8D7-18C8-EF26-6C4B899EB224}"/>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0C591242-F8BE-5D91-4F22-98E0249ADE7D}"/>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Rectangle 98">
                <a:extLst>
                  <a:ext uri="{FF2B5EF4-FFF2-40B4-BE49-F238E27FC236}">
                    <a16:creationId xmlns:a16="http://schemas.microsoft.com/office/drawing/2014/main" id="{B80145C3-AB01-408E-386F-AE69A5CE98FA}"/>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0" name="Group 99">
              <a:extLst>
                <a:ext uri="{FF2B5EF4-FFF2-40B4-BE49-F238E27FC236}">
                  <a16:creationId xmlns:a16="http://schemas.microsoft.com/office/drawing/2014/main" id="{82163D43-7085-5F16-2C2E-C3CB9AD23BE7}"/>
                </a:ext>
              </a:extLst>
            </p:cNvPr>
            <p:cNvGrpSpPr/>
            <p:nvPr/>
          </p:nvGrpSpPr>
          <p:grpSpPr>
            <a:xfrm>
              <a:off x="3959601" y="4159683"/>
              <a:ext cx="1865769" cy="31305"/>
              <a:chOff x="6627413" y="3275350"/>
              <a:chExt cx="3490624" cy="60631"/>
            </a:xfrm>
          </p:grpSpPr>
          <p:sp>
            <p:nvSpPr>
              <p:cNvPr id="101" name="Rectangle 100">
                <a:extLst>
                  <a:ext uri="{FF2B5EF4-FFF2-40B4-BE49-F238E27FC236}">
                    <a16:creationId xmlns:a16="http://schemas.microsoft.com/office/drawing/2014/main" id="{35C8B7CF-50A6-19E0-8F5F-DB77F73762C6}"/>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Rectangle 101">
                <a:extLst>
                  <a:ext uri="{FF2B5EF4-FFF2-40B4-BE49-F238E27FC236}">
                    <a16:creationId xmlns:a16="http://schemas.microsoft.com/office/drawing/2014/main" id="{9BA99196-F50F-E286-63A1-52467D207D0F}"/>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F9738F7E-1E8E-0621-FA7D-511D0B7DE84E}"/>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4" name="Group 103">
              <a:extLst>
                <a:ext uri="{FF2B5EF4-FFF2-40B4-BE49-F238E27FC236}">
                  <a16:creationId xmlns:a16="http://schemas.microsoft.com/office/drawing/2014/main" id="{37D4315D-E1D5-615B-99C1-6F9AA31D3989}"/>
                </a:ext>
              </a:extLst>
            </p:cNvPr>
            <p:cNvGrpSpPr/>
            <p:nvPr/>
          </p:nvGrpSpPr>
          <p:grpSpPr>
            <a:xfrm>
              <a:off x="5163314" y="4447628"/>
              <a:ext cx="1865769" cy="31305"/>
              <a:chOff x="6627413" y="3275350"/>
              <a:chExt cx="3490624" cy="60631"/>
            </a:xfrm>
          </p:grpSpPr>
          <p:sp>
            <p:nvSpPr>
              <p:cNvPr id="105" name="Rectangle 104">
                <a:extLst>
                  <a:ext uri="{FF2B5EF4-FFF2-40B4-BE49-F238E27FC236}">
                    <a16:creationId xmlns:a16="http://schemas.microsoft.com/office/drawing/2014/main" id="{1156390D-CDF5-2B71-E75C-FAAE4C559597}"/>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49BC5D45-E9A3-E58E-F7B2-9178F00046A7}"/>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CAFE3B54-73BC-9755-A668-CE7D7530B5E7}"/>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8" name="Group 107">
              <a:extLst>
                <a:ext uri="{FF2B5EF4-FFF2-40B4-BE49-F238E27FC236}">
                  <a16:creationId xmlns:a16="http://schemas.microsoft.com/office/drawing/2014/main" id="{52D1B2E8-676E-2B5F-D412-BAAF198D1B42}"/>
                </a:ext>
              </a:extLst>
            </p:cNvPr>
            <p:cNvGrpSpPr/>
            <p:nvPr/>
          </p:nvGrpSpPr>
          <p:grpSpPr>
            <a:xfrm>
              <a:off x="4979826" y="4634110"/>
              <a:ext cx="1865769" cy="31305"/>
              <a:chOff x="6627413" y="3275350"/>
              <a:chExt cx="3490624" cy="60631"/>
            </a:xfrm>
          </p:grpSpPr>
          <p:sp>
            <p:nvSpPr>
              <p:cNvPr id="109" name="Rectangle 108">
                <a:extLst>
                  <a:ext uri="{FF2B5EF4-FFF2-40B4-BE49-F238E27FC236}">
                    <a16:creationId xmlns:a16="http://schemas.microsoft.com/office/drawing/2014/main" id="{2E0233D9-C916-10FE-466B-A7834ABD78D4}"/>
                  </a:ext>
                </a:extLst>
              </p:cNvPr>
              <p:cNvSpPr/>
              <p:nvPr/>
            </p:nvSpPr>
            <p:spPr>
              <a:xfrm>
                <a:off x="6627413" y="32803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F3E52590-FE32-C1E2-83BA-B36AD25CCC69}"/>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0B7B34EF-917B-82FE-C404-C9E874E9BC4A}"/>
                  </a:ext>
                </a:extLst>
              </p:cNvPr>
              <p:cNvSpPr/>
              <p:nvPr/>
            </p:nvSpPr>
            <p:spPr>
              <a:xfrm>
                <a:off x="9402419" y="32753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2" name="Group 111">
              <a:extLst>
                <a:ext uri="{FF2B5EF4-FFF2-40B4-BE49-F238E27FC236}">
                  <a16:creationId xmlns:a16="http://schemas.microsoft.com/office/drawing/2014/main" id="{4CA019A5-1F70-2BAF-54D1-3EA16B53BDC8}"/>
                </a:ext>
              </a:extLst>
            </p:cNvPr>
            <p:cNvGrpSpPr/>
            <p:nvPr/>
          </p:nvGrpSpPr>
          <p:grpSpPr>
            <a:xfrm>
              <a:off x="2750643" y="4769754"/>
              <a:ext cx="1865769" cy="31305"/>
              <a:chOff x="6627413" y="3275350"/>
              <a:chExt cx="3490624" cy="60631"/>
            </a:xfrm>
          </p:grpSpPr>
          <p:sp>
            <p:nvSpPr>
              <p:cNvPr id="113" name="Rectangle 112">
                <a:extLst>
                  <a:ext uri="{FF2B5EF4-FFF2-40B4-BE49-F238E27FC236}">
                    <a16:creationId xmlns:a16="http://schemas.microsoft.com/office/drawing/2014/main" id="{910D8E6E-3937-87B4-739B-37909A71AAB7}"/>
                  </a:ext>
                </a:extLst>
              </p:cNvPr>
              <p:cNvSpPr/>
              <p:nvPr/>
            </p:nvSpPr>
            <p:spPr>
              <a:xfrm>
                <a:off x="6627413" y="32803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8D4EE7BA-D076-CB2D-BFB7-EA1D90B72448}"/>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Rectangle 114">
                <a:extLst>
                  <a:ext uri="{FF2B5EF4-FFF2-40B4-BE49-F238E27FC236}">
                    <a16:creationId xmlns:a16="http://schemas.microsoft.com/office/drawing/2014/main" id="{B4A0304D-E72B-8499-F6DE-97F067D31525}"/>
                  </a:ext>
                </a:extLst>
              </p:cNvPr>
              <p:cNvSpPr/>
              <p:nvPr/>
            </p:nvSpPr>
            <p:spPr>
              <a:xfrm>
                <a:off x="9402419" y="32753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6" name="Group 115">
              <a:extLst>
                <a:ext uri="{FF2B5EF4-FFF2-40B4-BE49-F238E27FC236}">
                  <a16:creationId xmlns:a16="http://schemas.microsoft.com/office/drawing/2014/main" id="{0A26B4E1-547A-5908-B6AB-F8D8A5FE937A}"/>
                </a:ext>
              </a:extLst>
            </p:cNvPr>
            <p:cNvGrpSpPr/>
            <p:nvPr/>
          </p:nvGrpSpPr>
          <p:grpSpPr>
            <a:xfrm>
              <a:off x="5582792" y="4343994"/>
              <a:ext cx="1865769" cy="31305"/>
              <a:chOff x="6627413" y="3275350"/>
              <a:chExt cx="3490624" cy="60631"/>
            </a:xfrm>
          </p:grpSpPr>
          <p:sp>
            <p:nvSpPr>
              <p:cNvPr id="117" name="Rectangle 116">
                <a:extLst>
                  <a:ext uri="{FF2B5EF4-FFF2-40B4-BE49-F238E27FC236}">
                    <a16:creationId xmlns:a16="http://schemas.microsoft.com/office/drawing/2014/main" id="{70D039E8-ADD0-2E24-6DB7-C5FDA46B7C2F}"/>
                  </a:ext>
                </a:extLst>
              </p:cNvPr>
              <p:cNvSpPr/>
              <p:nvPr/>
            </p:nvSpPr>
            <p:spPr>
              <a:xfrm>
                <a:off x="6627413" y="32803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117">
                <a:extLst>
                  <a:ext uri="{FF2B5EF4-FFF2-40B4-BE49-F238E27FC236}">
                    <a16:creationId xmlns:a16="http://schemas.microsoft.com/office/drawing/2014/main" id="{B5B73B1C-7208-A50F-7454-94C7893C013E}"/>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Rectangle 118">
                <a:extLst>
                  <a:ext uri="{FF2B5EF4-FFF2-40B4-BE49-F238E27FC236}">
                    <a16:creationId xmlns:a16="http://schemas.microsoft.com/office/drawing/2014/main" id="{9FF58097-A4E9-C7DC-5B63-AB9E5E3224DA}"/>
                  </a:ext>
                </a:extLst>
              </p:cNvPr>
              <p:cNvSpPr/>
              <p:nvPr/>
            </p:nvSpPr>
            <p:spPr>
              <a:xfrm>
                <a:off x="9402419" y="32753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2" name="Straight Arrow Connector 121">
              <a:extLst>
                <a:ext uri="{FF2B5EF4-FFF2-40B4-BE49-F238E27FC236}">
                  <a16:creationId xmlns:a16="http://schemas.microsoft.com/office/drawing/2014/main" id="{27852FC2-BDD5-E2D9-C022-CE49D06727D5}"/>
                </a:ext>
              </a:extLst>
            </p:cNvPr>
            <p:cNvCxnSpPr/>
            <p:nvPr/>
          </p:nvCxnSpPr>
          <p:spPr>
            <a:xfrm>
              <a:off x="5264721" y="3457769"/>
              <a:ext cx="0" cy="4822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4" name="TextBox 123">
              <a:extLst>
                <a:ext uri="{FF2B5EF4-FFF2-40B4-BE49-F238E27FC236}">
                  <a16:creationId xmlns:a16="http://schemas.microsoft.com/office/drawing/2014/main" id="{385B797D-52F9-4EA1-FDD9-4436A0162CE0}"/>
                </a:ext>
              </a:extLst>
            </p:cNvPr>
            <p:cNvSpPr txBox="1"/>
            <p:nvPr/>
          </p:nvSpPr>
          <p:spPr>
            <a:xfrm>
              <a:off x="5403908" y="3539745"/>
              <a:ext cx="3843681" cy="276999"/>
            </a:xfrm>
            <a:prstGeom prst="rect">
              <a:avLst/>
            </a:prstGeom>
            <a:noFill/>
          </p:spPr>
          <p:txBody>
            <a:bodyPr wrap="none" rtlCol="0">
              <a:spAutoFit/>
            </a:bodyPr>
            <a:lstStyle/>
            <a:p>
              <a:r>
                <a:rPr lang="en-US" sz="1200" b="1" dirty="0"/>
                <a:t>Pool all 3 samples together and sequence all at once</a:t>
              </a:r>
            </a:p>
          </p:txBody>
        </p:sp>
      </p:grpSp>
      <p:grpSp>
        <p:nvGrpSpPr>
          <p:cNvPr id="177" name="Group 176">
            <a:extLst>
              <a:ext uri="{FF2B5EF4-FFF2-40B4-BE49-F238E27FC236}">
                <a16:creationId xmlns:a16="http://schemas.microsoft.com/office/drawing/2014/main" id="{DA426BE5-B77C-B9D3-6606-093FC6CC707C}"/>
              </a:ext>
            </a:extLst>
          </p:cNvPr>
          <p:cNvGrpSpPr/>
          <p:nvPr/>
        </p:nvGrpSpPr>
        <p:grpSpPr>
          <a:xfrm>
            <a:off x="1696824" y="4573285"/>
            <a:ext cx="8881290" cy="1162080"/>
            <a:chOff x="1696824" y="4915191"/>
            <a:chExt cx="8881290" cy="1162080"/>
          </a:xfrm>
        </p:grpSpPr>
        <p:grpSp>
          <p:nvGrpSpPr>
            <p:cNvPr id="125" name="Group 124">
              <a:extLst>
                <a:ext uri="{FF2B5EF4-FFF2-40B4-BE49-F238E27FC236}">
                  <a16:creationId xmlns:a16="http://schemas.microsoft.com/office/drawing/2014/main" id="{835735D5-FE85-E354-B363-425E71CA8388}"/>
                </a:ext>
              </a:extLst>
            </p:cNvPr>
            <p:cNvGrpSpPr/>
            <p:nvPr/>
          </p:nvGrpSpPr>
          <p:grpSpPr>
            <a:xfrm>
              <a:off x="4230231" y="5588766"/>
              <a:ext cx="1865769" cy="31305"/>
              <a:chOff x="6627413" y="3275350"/>
              <a:chExt cx="3490624" cy="60631"/>
            </a:xfrm>
          </p:grpSpPr>
          <p:sp>
            <p:nvSpPr>
              <p:cNvPr id="126" name="Rectangle 125">
                <a:extLst>
                  <a:ext uri="{FF2B5EF4-FFF2-40B4-BE49-F238E27FC236}">
                    <a16:creationId xmlns:a16="http://schemas.microsoft.com/office/drawing/2014/main" id="{43ACB83D-4E46-ACC9-F3AC-8A1E163D8E74}"/>
                  </a:ext>
                </a:extLst>
              </p:cNvPr>
              <p:cNvSpPr/>
              <p:nvPr/>
            </p:nvSpPr>
            <p:spPr>
              <a:xfrm>
                <a:off x="6627413" y="32803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ctangle 126">
                <a:extLst>
                  <a:ext uri="{FF2B5EF4-FFF2-40B4-BE49-F238E27FC236}">
                    <a16:creationId xmlns:a16="http://schemas.microsoft.com/office/drawing/2014/main" id="{06D6F713-A61C-7520-304A-D321BA405601}"/>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8" name="Rectangle 127">
                <a:extLst>
                  <a:ext uri="{FF2B5EF4-FFF2-40B4-BE49-F238E27FC236}">
                    <a16:creationId xmlns:a16="http://schemas.microsoft.com/office/drawing/2014/main" id="{C6EE3DEF-BAE1-9306-BF32-D03C39437E54}"/>
                  </a:ext>
                </a:extLst>
              </p:cNvPr>
              <p:cNvSpPr/>
              <p:nvPr/>
            </p:nvSpPr>
            <p:spPr>
              <a:xfrm>
                <a:off x="9402419" y="32753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9" name="Group 128">
              <a:extLst>
                <a:ext uri="{FF2B5EF4-FFF2-40B4-BE49-F238E27FC236}">
                  <a16:creationId xmlns:a16="http://schemas.microsoft.com/office/drawing/2014/main" id="{BF8E73C0-4E46-D1FE-13A4-1C9973770738}"/>
                </a:ext>
              </a:extLst>
            </p:cNvPr>
            <p:cNvGrpSpPr/>
            <p:nvPr/>
          </p:nvGrpSpPr>
          <p:grpSpPr>
            <a:xfrm>
              <a:off x="1696824" y="5588766"/>
              <a:ext cx="1865769" cy="31305"/>
              <a:chOff x="1335819" y="3302771"/>
              <a:chExt cx="3490624" cy="60631"/>
            </a:xfrm>
          </p:grpSpPr>
          <p:sp>
            <p:nvSpPr>
              <p:cNvPr id="130" name="Rectangle 129">
                <a:extLst>
                  <a:ext uri="{FF2B5EF4-FFF2-40B4-BE49-F238E27FC236}">
                    <a16:creationId xmlns:a16="http://schemas.microsoft.com/office/drawing/2014/main" id="{DB1DD12C-E005-90E6-ED22-B40939B7B7F8}"/>
                  </a:ext>
                </a:extLst>
              </p:cNvPr>
              <p:cNvSpPr/>
              <p:nvPr/>
            </p:nvSpPr>
            <p:spPr>
              <a:xfrm>
                <a:off x="1335819" y="33077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1" name="Rectangle 130">
                <a:extLst>
                  <a:ext uri="{FF2B5EF4-FFF2-40B4-BE49-F238E27FC236}">
                    <a16:creationId xmlns:a16="http://schemas.microsoft.com/office/drawing/2014/main" id="{BE0FACA6-0F0E-0525-4596-40A5B0CA035E}"/>
                  </a:ext>
                </a:extLst>
              </p:cNvPr>
              <p:cNvSpPr/>
              <p:nvPr/>
            </p:nvSpPr>
            <p:spPr>
              <a:xfrm>
                <a:off x="2051437" y="33077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Rectangle 131">
                <a:extLst>
                  <a:ext uri="{FF2B5EF4-FFF2-40B4-BE49-F238E27FC236}">
                    <a16:creationId xmlns:a16="http://schemas.microsoft.com/office/drawing/2014/main" id="{7D784175-DCA5-56F5-AA6B-97A486D9BE38}"/>
                  </a:ext>
                </a:extLst>
              </p:cNvPr>
              <p:cNvSpPr/>
              <p:nvPr/>
            </p:nvSpPr>
            <p:spPr>
              <a:xfrm>
                <a:off x="4110825" y="33027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3" name="Group 132">
              <a:extLst>
                <a:ext uri="{FF2B5EF4-FFF2-40B4-BE49-F238E27FC236}">
                  <a16:creationId xmlns:a16="http://schemas.microsoft.com/office/drawing/2014/main" id="{FDD88F9B-A8CD-877C-C5D3-600E5AE1A10D}"/>
                </a:ext>
              </a:extLst>
            </p:cNvPr>
            <p:cNvGrpSpPr/>
            <p:nvPr/>
          </p:nvGrpSpPr>
          <p:grpSpPr>
            <a:xfrm>
              <a:off x="6968337" y="5588766"/>
              <a:ext cx="1865769" cy="31305"/>
              <a:chOff x="6627413" y="3275350"/>
              <a:chExt cx="3490624" cy="60631"/>
            </a:xfrm>
          </p:grpSpPr>
          <p:sp>
            <p:nvSpPr>
              <p:cNvPr id="134" name="Rectangle 133">
                <a:extLst>
                  <a:ext uri="{FF2B5EF4-FFF2-40B4-BE49-F238E27FC236}">
                    <a16:creationId xmlns:a16="http://schemas.microsoft.com/office/drawing/2014/main" id="{93200048-B0DC-859F-4FA9-3E6D4ED5E5EF}"/>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Rectangle 134">
                <a:extLst>
                  <a:ext uri="{FF2B5EF4-FFF2-40B4-BE49-F238E27FC236}">
                    <a16:creationId xmlns:a16="http://schemas.microsoft.com/office/drawing/2014/main" id="{2A0AAE35-E98F-064E-1220-6FE91D565B1A}"/>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6" name="Rectangle 135">
                <a:extLst>
                  <a:ext uri="{FF2B5EF4-FFF2-40B4-BE49-F238E27FC236}">
                    <a16:creationId xmlns:a16="http://schemas.microsoft.com/office/drawing/2014/main" id="{DFDC66DE-C775-B9D9-2A2D-10FD0E914373}"/>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7" name="Group 136">
              <a:extLst>
                <a:ext uri="{FF2B5EF4-FFF2-40B4-BE49-F238E27FC236}">
                  <a16:creationId xmlns:a16="http://schemas.microsoft.com/office/drawing/2014/main" id="{6F2132BD-607E-D5DF-A9DB-23D13C40DEEE}"/>
                </a:ext>
              </a:extLst>
            </p:cNvPr>
            <p:cNvGrpSpPr/>
            <p:nvPr/>
          </p:nvGrpSpPr>
          <p:grpSpPr>
            <a:xfrm>
              <a:off x="1849224" y="5741166"/>
              <a:ext cx="1865769" cy="31305"/>
              <a:chOff x="1335819" y="3302771"/>
              <a:chExt cx="3490624" cy="60631"/>
            </a:xfrm>
          </p:grpSpPr>
          <p:sp>
            <p:nvSpPr>
              <p:cNvPr id="138" name="Rectangle 137">
                <a:extLst>
                  <a:ext uri="{FF2B5EF4-FFF2-40B4-BE49-F238E27FC236}">
                    <a16:creationId xmlns:a16="http://schemas.microsoft.com/office/drawing/2014/main" id="{71CBE4B5-AB85-B3E9-6F95-BFD5F6B1C255}"/>
                  </a:ext>
                </a:extLst>
              </p:cNvPr>
              <p:cNvSpPr/>
              <p:nvPr/>
            </p:nvSpPr>
            <p:spPr>
              <a:xfrm>
                <a:off x="1335819" y="33077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9" name="Rectangle 138">
                <a:extLst>
                  <a:ext uri="{FF2B5EF4-FFF2-40B4-BE49-F238E27FC236}">
                    <a16:creationId xmlns:a16="http://schemas.microsoft.com/office/drawing/2014/main" id="{B432C561-E5C9-3689-663C-33C1A8A826CC}"/>
                  </a:ext>
                </a:extLst>
              </p:cNvPr>
              <p:cNvSpPr/>
              <p:nvPr/>
            </p:nvSpPr>
            <p:spPr>
              <a:xfrm>
                <a:off x="2051437" y="33077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F66401B9-51B8-5318-0546-D07032302F6A}"/>
                  </a:ext>
                </a:extLst>
              </p:cNvPr>
              <p:cNvSpPr/>
              <p:nvPr/>
            </p:nvSpPr>
            <p:spPr>
              <a:xfrm>
                <a:off x="4110825" y="33027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1" name="Group 140">
              <a:extLst>
                <a:ext uri="{FF2B5EF4-FFF2-40B4-BE49-F238E27FC236}">
                  <a16:creationId xmlns:a16="http://schemas.microsoft.com/office/drawing/2014/main" id="{F620136C-BE59-D3BB-E25C-5575F4D7B721}"/>
                </a:ext>
              </a:extLst>
            </p:cNvPr>
            <p:cNvGrpSpPr/>
            <p:nvPr/>
          </p:nvGrpSpPr>
          <p:grpSpPr>
            <a:xfrm>
              <a:off x="2001624" y="5893566"/>
              <a:ext cx="1865769" cy="31305"/>
              <a:chOff x="1335819" y="3302771"/>
              <a:chExt cx="3490624" cy="60631"/>
            </a:xfrm>
          </p:grpSpPr>
          <p:sp>
            <p:nvSpPr>
              <p:cNvPr id="142" name="Rectangle 141">
                <a:extLst>
                  <a:ext uri="{FF2B5EF4-FFF2-40B4-BE49-F238E27FC236}">
                    <a16:creationId xmlns:a16="http://schemas.microsoft.com/office/drawing/2014/main" id="{C5C16767-421F-E6ED-5855-4D5E7171AE96}"/>
                  </a:ext>
                </a:extLst>
              </p:cNvPr>
              <p:cNvSpPr/>
              <p:nvPr/>
            </p:nvSpPr>
            <p:spPr>
              <a:xfrm>
                <a:off x="1335819" y="33077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Rectangle 142">
                <a:extLst>
                  <a:ext uri="{FF2B5EF4-FFF2-40B4-BE49-F238E27FC236}">
                    <a16:creationId xmlns:a16="http://schemas.microsoft.com/office/drawing/2014/main" id="{95025B45-5F76-95FC-5642-2BE8D1E24A5D}"/>
                  </a:ext>
                </a:extLst>
              </p:cNvPr>
              <p:cNvSpPr/>
              <p:nvPr/>
            </p:nvSpPr>
            <p:spPr>
              <a:xfrm>
                <a:off x="2051437" y="33077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Rectangle 143">
                <a:extLst>
                  <a:ext uri="{FF2B5EF4-FFF2-40B4-BE49-F238E27FC236}">
                    <a16:creationId xmlns:a16="http://schemas.microsoft.com/office/drawing/2014/main" id="{D624E83B-8397-3387-1701-B328891E9468}"/>
                  </a:ext>
                </a:extLst>
              </p:cNvPr>
              <p:cNvSpPr/>
              <p:nvPr/>
            </p:nvSpPr>
            <p:spPr>
              <a:xfrm>
                <a:off x="4110825" y="33027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5" name="Group 144">
              <a:extLst>
                <a:ext uri="{FF2B5EF4-FFF2-40B4-BE49-F238E27FC236}">
                  <a16:creationId xmlns:a16="http://schemas.microsoft.com/office/drawing/2014/main" id="{407924C2-4CD4-EB18-45EB-3F38F415F78C}"/>
                </a:ext>
              </a:extLst>
            </p:cNvPr>
            <p:cNvGrpSpPr/>
            <p:nvPr/>
          </p:nvGrpSpPr>
          <p:grpSpPr>
            <a:xfrm>
              <a:off x="2154024" y="6045966"/>
              <a:ext cx="1865769" cy="31305"/>
              <a:chOff x="1335819" y="3302771"/>
              <a:chExt cx="3490624" cy="60631"/>
            </a:xfrm>
          </p:grpSpPr>
          <p:sp>
            <p:nvSpPr>
              <p:cNvPr id="146" name="Rectangle 145">
                <a:extLst>
                  <a:ext uri="{FF2B5EF4-FFF2-40B4-BE49-F238E27FC236}">
                    <a16:creationId xmlns:a16="http://schemas.microsoft.com/office/drawing/2014/main" id="{8C0DA95F-58CA-C2B3-E4C9-2D51A4BD685E}"/>
                  </a:ext>
                </a:extLst>
              </p:cNvPr>
              <p:cNvSpPr/>
              <p:nvPr/>
            </p:nvSpPr>
            <p:spPr>
              <a:xfrm>
                <a:off x="1335819" y="3307743"/>
                <a:ext cx="715618" cy="556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146">
                <a:extLst>
                  <a:ext uri="{FF2B5EF4-FFF2-40B4-BE49-F238E27FC236}">
                    <a16:creationId xmlns:a16="http://schemas.microsoft.com/office/drawing/2014/main" id="{1B466E75-4F3C-E0C3-7588-62E57D8A312C}"/>
                  </a:ext>
                </a:extLst>
              </p:cNvPr>
              <p:cNvSpPr/>
              <p:nvPr/>
            </p:nvSpPr>
            <p:spPr>
              <a:xfrm>
                <a:off x="2051437" y="3307742"/>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Rectangle 147">
                <a:extLst>
                  <a:ext uri="{FF2B5EF4-FFF2-40B4-BE49-F238E27FC236}">
                    <a16:creationId xmlns:a16="http://schemas.microsoft.com/office/drawing/2014/main" id="{587F8A26-1732-412E-F76F-CF58D1F50317}"/>
                  </a:ext>
                </a:extLst>
              </p:cNvPr>
              <p:cNvSpPr/>
              <p:nvPr/>
            </p:nvSpPr>
            <p:spPr>
              <a:xfrm>
                <a:off x="4110825" y="3302771"/>
                <a:ext cx="715618" cy="5565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9" name="Group 148">
              <a:extLst>
                <a:ext uri="{FF2B5EF4-FFF2-40B4-BE49-F238E27FC236}">
                  <a16:creationId xmlns:a16="http://schemas.microsoft.com/office/drawing/2014/main" id="{EACF4AA8-ED5D-852B-8F85-D8A5E5CF322D}"/>
                </a:ext>
              </a:extLst>
            </p:cNvPr>
            <p:cNvGrpSpPr/>
            <p:nvPr/>
          </p:nvGrpSpPr>
          <p:grpSpPr>
            <a:xfrm>
              <a:off x="4382631" y="5741166"/>
              <a:ext cx="1865769" cy="31305"/>
              <a:chOff x="6627413" y="3275350"/>
              <a:chExt cx="3490624" cy="60631"/>
            </a:xfrm>
          </p:grpSpPr>
          <p:sp>
            <p:nvSpPr>
              <p:cNvPr id="150" name="Rectangle 149">
                <a:extLst>
                  <a:ext uri="{FF2B5EF4-FFF2-40B4-BE49-F238E27FC236}">
                    <a16:creationId xmlns:a16="http://schemas.microsoft.com/office/drawing/2014/main" id="{78BC3E40-D4DB-D7AA-7F33-5063FA72F3E1}"/>
                  </a:ext>
                </a:extLst>
              </p:cNvPr>
              <p:cNvSpPr/>
              <p:nvPr/>
            </p:nvSpPr>
            <p:spPr>
              <a:xfrm>
                <a:off x="6627413" y="32803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C84B982B-1846-6CF6-B337-301C02B8243F}"/>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2" name="Rectangle 151">
                <a:extLst>
                  <a:ext uri="{FF2B5EF4-FFF2-40B4-BE49-F238E27FC236}">
                    <a16:creationId xmlns:a16="http://schemas.microsoft.com/office/drawing/2014/main" id="{D8844708-36BD-74C1-CF99-642683503295}"/>
                  </a:ext>
                </a:extLst>
              </p:cNvPr>
              <p:cNvSpPr/>
              <p:nvPr/>
            </p:nvSpPr>
            <p:spPr>
              <a:xfrm>
                <a:off x="9402419" y="32753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3" name="Group 152">
              <a:extLst>
                <a:ext uri="{FF2B5EF4-FFF2-40B4-BE49-F238E27FC236}">
                  <a16:creationId xmlns:a16="http://schemas.microsoft.com/office/drawing/2014/main" id="{43AB1FC8-7E05-E378-07D7-2CE8DFCAA77C}"/>
                </a:ext>
              </a:extLst>
            </p:cNvPr>
            <p:cNvGrpSpPr/>
            <p:nvPr/>
          </p:nvGrpSpPr>
          <p:grpSpPr>
            <a:xfrm>
              <a:off x="4535031" y="5893566"/>
              <a:ext cx="1865769" cy="31305"/>
              <a:chOff x="6627413" y="3275350"/>
              <a:chExt cx="3490624" cy="60631"/>
            </a:xfrm>
          </p:grpSpPr>
          <p:sp>
            <p:nvSpPr>
              <p:cNvPr id="154" name="Rectangle 153">
                <a:extLst>
                  <a:ext uri="{FF2B5EF4-FFF2-40B4-BE49-F238E27FC236}">
                    <a16:creationId xmlns:a16="http://schemas.microsoft.com/office/drawing/2014/main" id="{642A65D1-870F-1357-7484-70B329C68C2D}"/>
                  </a:ext>
                </a:extLst>
              </p:cNvPr>
              <p:cNvSpPr/>
              <p:nvPr/>
            </p:nvSpPr>
            <p:spPr>
              <a:xfrm>
                <a:off x="6627413" y="32803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Rectangle 154">
                <a:extLst>
                  <a:ext uri="{FF2B5EF4-FFF2-40B4-BE49-F238E27FC236}">
                    <a16:creationId xmlns:a16="http://schemas.microsoft.com/office/drawing/2014/main" id="{146F9F24-A196-B6C1-29E7-A948925E06F4}"/>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Rectangle 155">
                <a:extLst>
                  <a:ext uri="{FF2B5EF4-FFF2-40B4-BE49-F238E27FC236}">
                    <a16:creationId xmlns:a16="http://schemas.microsoft.com/office/drawing/2014/main" id="{04FA0375-6F2D-B607-3F40-4371DF9F25A8}"/>
                  </a:ext>
                </a:extLst>
              </p:cNvPr>
              <p:cNvSpPr/>
              <p:nvPr/>
            </p:nvSpPr>
            <p:spPr>
              <a:xfrm>
                <a:off x="9402419" y="32753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7" name="Group 156">
              <a:extLst>
                <a:ext uri="{FF2B5EF4-FFF2-40B4-BE49-F238E27FC236}">
                  <a16:creationId xmlns:a16="http://schemas.microsoft.com/office/drawing/2014/main" id="{E6AE4899-C92D-406E-595E-779DA67A6CC2}"/>
                </a:ext>
              </a:extLst>
            </p:cNvPr>
            <p:cNvGrpSpPr/>
            <p:nvPr/>
          </p:nvGrpSpPr>
          <p:grpSpPr>
            <a:xfrm>
              <a:off x="4687431" y="6045966"/>
              <a:ext cx="1865769" cy="31305"/>
              <a:chOff x="6627413" y="3275350"/>
              <a:chExt cx="3490624" cy="60631"/>
            </a:xfrm>
          </p:grpSpPr>
          <p:sp>
            <p:nvSpPr>
              <p:cNvPr id="158" name="Rectangle 157">
                <a:extLst>
                  <a:ext uri="{FF2B5EF4-FFF2-40B4-BE49-F238E27FC236}">
                    <a16:creationId xmlns:a16="http://schemas.microsoft.com/office/drawing/2014/main" id="{1E461CDA-1B9C-CADC-0980-56D660CE8F9A}"/>
                  </a:ext>
                </a:extLst>
              </p:cNvPr>
              <p:cNvSpPr/>
              <p:nvPr/>
            </p:nvSpPr>
            <p:spPr>
              <a:xfrm>
                <a:off x="6627413" y="3280322"/>
                <a:ext cx="715618" cy="5565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Rectangle 158">
                <a:extLst>
                  <a:ext uri="{FF2B5EF4-FFF2-40B4-BE49-F238E27FC236}">
                    <a16:creationId xmlns:a16="http://schemas.microsoft.com/office/drawing/2014/main" id="{6D220F77-C753-7C2D-B881-DC775EB91490}"/>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Rectangle 159">
                <a:extLst>
                  <a:ext uri="{FF2B5EF4-FFF2-40B4-BE49-F238E27FC236}">
                    <a16:creationId xmlns:a16="http://schemas.microsoft.com/office/drawing/2014/main" id="{9BED7DA5-54E4-C23A-5718-3040254ABE2B}"/>
                  </a:ext>
                </a:extLst>
              </p:cNvPr>
              <p:cNvSpPr/>
              <p:nvPr/>
            </p:nvSpPr>
            <p:spPr>
              <a:xfrm>
                <a:off x="9402419" y="3275350"/>
                <a:ext cx="715618" cy="556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1" name="Group 160">
              <a:extLst>
                <a:ext uri="{FF2B5EF4-FFF2-40B4-BE49-F238E27FC236}">
                  <a16:creationId xmlns:a16="http://schemas.microsoft.com/office/drawing/2014/main" id="{A95A55C2-A7FF-A9E3-80B5-551AC34B3483}"/>
                </a:ext>
              </a:extLst>
            </p:cNvPr>
            <p:cNvGrpSpPr/>
            <p:nvPr/>
          </p:nvGrpSpPr>
          <p:grpSpPr>
            <a:xfrm>
              <a:off x="7120737" y="5741166"/>
              <a:ext cx="1865769" cy="31305"/>
              <a:chOff x="6627413" y="3275350"/>
              <a:chExt cx="3490624" cy="60631"/>
            </a:xfrm>
          </p:grpSpPr>
          <p:sp>
            <p:nvSpPr>
              <p:cNvPr id="162" name="Rectangle 161">
                <a:extLst>
                  <a:ext uri="{FF2B5EF4-FFF2-40B4-BE49-F238E27FC236}">
                    <a16:creationId xmlns:a16="http://schemas.microsoft.com/office/drawing/2014/main" id="{3F42F703-F7E2-BB9E-026D-276525CBE9E8}"/>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Rectangle 162">
                <a:extLst>
                  <a:ext uri="{FF2B5EF4-FFF2-40B4-BE49-F238E27FC236}">
                    <a16:creationId xmlns:a16="http://schemas.microsoft.com/office/drawing/2014/main" id="{14918A44-F815-ECD1-C636-85CA53EB1A33}"/>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Rectangle 163">
                <a:extLst>
                  <a:ext uri="{FF2B5EF4-FFF2-40B4-BE49-F238E27FC236}">
                    <a16:creationId xmlns:a16="http://schemas.microsoft.com/office/drawing/2014/main" id="{EDEECA86-6F81-A01C-EEC9-77ADD3CF2524}"/>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5" name="Group 164">
              <a:extLst>
                <a:ext uri="{FF2B5EF4-FFF2-40B4-BE49-F238E27FC236}">
                  <a16:creationId xmlns:a16="http://schemas.microsoft.com/office/drawing/2014/main" id="{78C13D18-E033-5A0C-08B2-3D98E91AA0A8}"/>
                </a:ext>
              </a:extLst>
            </p:cNvPr>
            <p:cNvGrpSpPr/>
            <p:nvPr/>
          </p:nvGrpSpPr>
          <p:grpSpPr>
            <a:xfrm>
              <a:off x="7273137" y="5893566"/>
              <a:ext cx="1865769" cy="31305"/>
              <a:chOff x="6627413" y="3275350"/>
              <a:chExt cx="3490624" cy="60631"/>
            </a:xfrm>
          </p:grpSpPr>
          <p:sp>
            <p:nvSpPr>
              <p:cNvPr id="166" name="Rectangle 165">
                <a:extLst>
                  <a:ext uri="{FF2B5EF4-FFF2-40B4-BE49-F238E27FC236}">
                    <a16:creationId xmlns:a16="http://schemas.microsoft.com/office/drawing/2014/main" id="{79DD0A83-E88A-2425-3F06-E150F8FB8184}"/>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7" name="Rectangle 166">
                <a:extLst>
                  <a:ext uri="{FF2B5EF4-FFF2-40B4-BE49-F238E27FC236}">
                    <a16:creationId xmlns:a16="http://schemas.microsoft.com/office/drawing/2014/main" id="{D860BAEC-78C9-204A-F620-9735AA47C181}"/>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Rectangle 167">
                <a:extLst>
                  <a:ext uri="{FF2B5EF4-FFF2-40B4-BE49-F238E27FC236}">
                    <a16:creationId xmlns:a16="http://schemas.microsoft.com/office/drawing/2014/main" id="{B0C44393-7FAE-B562-E8AB-EE0874411E36}"/>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9" name="Group 168">
              <a:extLst>
                <a:ext uri="{FF2B5EF4-FFF2-40B4-BE49-F238E27FC236}">
                  <a16:creationId xmlns:a16="http://schemas.microsoft.com/office/drawing/2014/main" id="{1CF9CEC7-DF22-CB71-8F7B-B71C8C4C853E}"/>
                </a:ext>
              </a:extLst>
            </p:cNvPr>
            <p:cNvGrpSpPr/>
            <p:nvPr/>
          </p:nvGrpSpPr>
          <p:grpSpPr>
            <a:xfrm>
              <a:off x="7425537" y="6045966"/>
              <a:ext cx="1865769" cy="31305"/>
              <a:chOff x="6627413" y="3275350"/>
              <a:chExt cx="3490624" cy="60631"/>
            </a:xfrm>
          </p:grpSpPr>
          <p:sp>
            <p:nvSpPr>
              <p:cNvPr id="170" name="Rectangle 169">
                <a:extLst>
                  <a:ext uri="{FF2B5EF4-FFF2-40B4-BE49-F238E27FC236}">
                    <a16:creationId xmlns:a16="http://schemas.microsoft.com/office/drawing/2014/main" id="{0247BACC-086E-E839-C57C-25BE4E36ABF0}"/>
                  </a:ext>
                </a:extLst>
              </p:cNvPr>
              <p:cNvSpPr/>
              <p:nvPr/>
            </p:nvSpPr>
            <p:spPr>
              <a:xfrm>
                <a:off x="6627413" y="3280322"/>
                <a:ext cx="715618" cy="556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1" name="Rectangle 170">
                <a:extLst>
                  <a:ext uri="{FF2B5EF4-FFF2-40B4-BE49-F238E27FC236}">
                    <a16:creationId xmlns:a16="http://schemas.microsoft.com/office/drawing/2014/main" id="{5A17EF41-5236-53C0-8E4B-9B3CA0F2D88B}"/>
                  </a:ext>
                </a:extLst>
              </p:cNvPr>
              <p:cNvSpPr/>
              <p:nvPr/>
            </p:nvSpPr>
            <p:spPr>
              <a:xfrm>
                <a:off x="7343031" y="3280321"/>
                <a:ext cx="2051436" cy="4571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171">
                <a:extLst>
                  <a:ext uri="{FF2B5EF4-FFF2-40B4-BE49-F238E27FC236}">
                    <a16:creationId xmlns:a16="http://schemas.microsoft.com/office/drawing/2014/main" id="{41E9023C-5F60-9B00-82FF-E3686ADC1936}"/>
                  </a:ext>
                </a:extLst>
              </p:cNvPr>
              <p:cNvSpPr/>
              <p:nvPr/>
            </p:nvSpPr>
            <p:spPr>
              <a:xfrm>
                <a:off x="9402419" y="3275350"/>
                <a:ext cx="715618" cy="556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73" name="Straight Arrow Connector 172">
              <a:extLst>
                <a:ext uri="{FF2B5EF4-FFF2-40B4-BE49-F238E27FC236}">
                  <a16:creationId xmlns:a16="http://schemas.microsoft.com/office/drawing/2014/main" id="{6E621262-220C-D20B-A3C4-5EEA4B05968D}"/>
                </a:ext>
              </a:extLst>
            </p:cNvPr>
            <p:cNvCxnSpPr/>
            <p:nvPr/>
          </p:nvCxnSpPr>
          <p:spPr>
            <a:xfrm>
              <a:off x="5264721" y="4941249"/>
              <a:ext cx="0" cy="4822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4" name="TextBox 173">
              <a:extLst>
                <a:ext uri="{FF2B5EF4-FFF2-40B4-BE49-F238E27FC236}">
                  <a16:creationId xmlns:a16="http://schemas.microsoft.com/office/drawing/2014/main" id="{F0DD8541-3195-5A93-842C-48035101A43F}"/>
                </a:ext>
              </a:extLst>
            </p:cNvPr>
            <p:cNvSpPr txBox="1"/>
            <p:nvPr/>
          </p:nvSpPr>
          <p:spPr>
            <a:xfrm>
              <a:off x="5403908" y="4915191"/>
              <a:ext cx="5174206" cy="461665"/>
            </a:xfrm>
            <a:prstGeom prst="rect">
              <a:avLst/>
            </a:prstGeom>
            <a:noFill/>
          </p:spPr>
          <p:txBody>
            <a:bodyPr wrap="square" rtlCol="0">
              <a:spAutoFit/>
            </a:bodyPr>
            <a:lstStyle/>
            <a:p>
              <a:r>
                <a:rPr lang="en-US" sz="1200" b="1" dirty="0"/>
                <a:t>Separate the 3 samples </a:t>
              </a:r>
              <a:r>
                <a:rPr lang="en-US" sz="1200" b="1" u="sng" dirty="0"/>
                <a:t>bioinformatically</a:t>
              </a:r>
              <a:r>
                <a:rPr lang="en-US" sz="1200" b="1" dirty="0"/>
                <a:t> based on the unique indexes on each fragment of each sequencing read generated</a:t>
              </a:r>
            </a:p>
          </p:txBody>
        </p:sp>
      </p:grpSp>
      <p:sp>
        <p:nvSpPr>
          <p:cNvPr id="180" name="TextBox 179">
            <a:extLst>
              <a:ext uri="{FF2B5EF4-FFF2-40B4-BE49-F238E27FC236}">
                <a16:creationId xmlns:a16="http://schemas.microsoft.com/office/drawing/2014/main" id="{336ECD24-C072-9D18-8233-D280EEDEB8CB}"/>
              </a:ext>
            </a:extLst>
          </p:cNvPr>
          <p:cNvSpPr txBox="1"/>
          <p:nvPr/>
        </p:nvSpPr>
        <p:spPr>
          <a:xfrm>
            <a:off x="1047102" y="6048161"/>
            <a:ext cx="9807237" cy="276999"/>
          </a:xfrm>
          <a:prstGeom prst="rect">
            <a:avLst/>
          </a:prstGeom>
          <a:noFill/>
        </p:spPr>
        <p:txBody>
          <a:bodyPr wrap="none" rtlCol="0">
            <a:spAutoFit/>
          </a:bodyPr>
          <a:lstStyle/>
          <a:p>
            <a:pPr marL="171450" indent="-171450">
              <a:buFont typeface="Arial" panose="020B0604020202020204" pitchFamily="34" charset="0"/>
              <a:buChar char="•"/>
            </a:pPr>
            <a:r>
              <a:rPr lang="en-US" sz="1200" b="1" dirty="0">
                <a:solidFill>
                  <a:srgbClr val="FF0000"/>
                </a:solidFill>
              </a:rPr>
              <a:t>A huge amount of data is generated in a short period of time and the method of parallel sequencing is cost effective and well as accurate</a:t>
            </a:r>
          </a:p>
        </p:txBody>
      </p:sp>
      <p:sp>
        <p:nvSpPr>
          <p:cNvPr id="181" name="TextBox 180">
            <a:extLst>
              <a:ext uri="{FF2B5EF4-FFF2-40B4-BE49-F238E27FC236}">
                <a16:creationId xmlns:a16="http://schemas.microsoft.com/office/drawing/2014/main" id="{4EC9BD4A-4DC3-02A4-A7F9-19088DDCBE16}"/>
              </a:ext>
            </a:extLst>
          </p:cNvPr>
          <p:cNvSpPr txBox="1"/>
          <p:nvPr/>
        </p:nvSpPr>
        <p:spPr>
          <a:xfrm>
            <a:off x="9619087" y="2257909"/>
            <a:ext cx="623889" cy="200055"/>
          </a:xfrm>
          <a:prstGeom prst="rect">
            <a:avLst/>
          </a:prstGeom>
          <a:noFill/>
        </p:spPr>
        <p:txBody>
          <a:bodyPr wrap="none" rtlCol="0">
            <a:spAutoFit/>
          </a:bodyPr>
          <a:lstStyle/>
          <a:p>
            <a:r>
              <a:rPr lang="en-US" sz="700" b="1" dirty="0"/>
              <a:t>ATCCGTAT</a:t>
            </a:r>
          </a:p>
        </p:txBody>
      </p:sp>
      <p:sp>
        <p:nvSpPr>
          <p:cNvPr id="182" name="TextBox 181">
            <a:extLst>
              <a:ext uri="{FF2B5EF4-FFF2-40B4-BE49-F238E27FC236}">
                <a16:creationId xmlns:a16="http://schemas.microsoft.com/office/drawing/2014/main" id="{E79F4782-7742-42D4-6C55-C22955366CAE}"/>
              </a:ext>
            </a:extLst>
          </p:cNvPr>
          <p:cNvSpPr txBox="1"/>
          <p:nvPr/>
        </p:nvSpPr>
        <p:spPr>
          <a:xfrm>
            <a:off x="9627038" y="2403212"/>
            <a:ext cx="635110" cy="200055"/>
          </a:xfrm>
          <a:prstGeom prst="rect">
            <a:avLst/>
          </a:prstGeom>
          <a:noFill/>
        </p:spPr>
        <p:txBody>
          <a:bodyPr wrap="none" rtlCol="0">
            <a:spAutoFit/>
          </a:bodyPr>
          <a:lstStyle/>
          <a:p>
            <a:r>
              <a:rPr lang="en-US" sz="700" b="1" dirty="0"/>
              <a:t>GACCTATA</a:t>
            </a:r>
          </a:p>
        </p:txBody>
      </p:sp>
      <p:sp>
        <p:nvSpPr>
          <p:cNvPr id="183" name="TextBox 182">
            <a:extLst>
              <a:ext uri="{FF2B5EF4-FFF2-40B4-BE49-F238E27FC236}">
                <a16:creationId xmlns:a16="http://schemas.microsoft.com/office/drawing/2014/main" id="{4192DE13-C0A6-F5B7-BF11-33DDD8F10D27}"/>
              </a:ext>
            </a:extLst>
          </p:cNvPr>
          <p:cNvSpPr txBox="1"/>
          <p:nvPr/>
        </p:nvSpPr>
        <p:spPr>
          <a:xfrm>
            <a:off x="9627038" y="2540036"/>
            <a:ext cx="651140" cy="200055"/>
          </a:xfrm>
          <a:prstGeom prst="rect">
            <a:avLst/>
          </a:prstGeom>
          <a:noFill/>
        </p:spPr>
        <p:txBody>
          <a:bodyPr wrap="none" rtlCol="0">
            <a:spAutoFit/>
          </a:bodyPr>
          <a:lstStyle/>
          <a:p>
            <a:r>
              <a:rPr lang="en-US" sz="700" b="1" dirty="0"/>
              <a:t>TGCAGCGT</a:t>
            </a:r>
          </a:p>
        </p:txBody>
      </p:sp>
      <p:sp>
        <p:nvSpPr>
          <p:cNvPr id="184" name="TextBox 183">
            <a:extLst>
              <a:ext uri="{FF2B5EF4-FFF2-40B4-BE49-F238E27FC236}">
                <a16:creationId xmlns:a16="http://schemas.microsoft.com/office/drawing/2014/main" id="{1C3156CC-0056-D975-A0A1-E30FAD374228}"/>
              </a:ext>
            </a:extLst>
          </p:cNvPr>
          <p:cNvSpPr txBox="1"/>
          <p:nvPr/>
        </p:nvSpPr>
        <p:spPr>
          <a:xfrm>
            <a:off x="9606163" y="2779806"/>
            <a:ext cx="643125" cy="200055"/>
          </a:xfrm>
          <a:prstGeom prst="rect">
            <a:avLst/>
          </a:prstGeom>
          <a:noFill/>
        </p:spPr>
        <p:txBody>
          <a:bodyPr wrap="none" rtlCol="0">
            <a:spAutoFit/>
          </a:bodyPr>
          <a:lstStyle/>
          <a:p>
            <a:r>
              <a:rPr lang="en-US" sz="700" b="1" dirty="0"/>
              <a:t>GAGCTTAC</a:t>
            </a:r>
          </a:p>
        </p:txBody>
      </p:sp>
      <p:sp>
        <p:nvSpPr>
          <p:cNvPr id="188" name="TextBox 187">
            <a:extLst>
              <a:ext uri="{FF2B5EF4-FFF2-40B4-BE49-F238E27FC236}">
                <a16:creationId xmlns:a16="http://schemas.microsoft.com/office/drawing/2014/main" id="{FFA3107F-FA3A-8DDE-82D4-525B762D2085}"/>
              </a:ext>
            </a:extLst>
          </p:cNvPr>
          <p:cNvSpPr txBox="1"/>
          <p:nvPr/>
        </p:nvSpPr>
        <p:spPr>
          <a:xfrm>
            <a:off x="9602874" y="2673014"/>
            <a:ext cx="643125" cy="200055"/>
          </a:xfrm>
          <a:prstGeom prst="rect">
            <a:avLst/>
          </a:prstGeom>
          <a:noFill/>
        </p:spPr>
        <p:txBody>
          <a:bodyPr wrap="none" rtlCol="0">
            <a:spAutoFit/>
          </a:bodyPr>
          <a:lstStyle/>
          <a:p>
            <a:r>
              <a:rPr lang="en-US" sz="700" b="1" dirty="0"/>
              <a:t>CCATTACG</a:t>
            </a:r>
          </a:p>
        </p:txBody>
      </p:sp>
      <p:sp>
        <p:nvSpPr>
          <p:cNvPr id="189" name="TextBox 188">
            <a:extLst>
              <a:ext uri="{FF2B5EF4-FFF2-40B4-BE49-F238E27FC236}">
                <a16:creationId xmlns:a16="http://schemas.microsoft.com/office/drawing/2014/main" id="{168E8283-F317-A003-EB1E-E39C3F15A882}"/>
              </a:ext>
            </a:extLst>
          </p:cNvPr>
          <p:cNvSpPr txBox="1"/>
          <p:nvPr/>
        </p:nvSpPr>
        <p:spPr>
          <a:xfrm>
            <a:off x="9607866" y="2912784"/>
            <a:ext cx="623889" cy="200055"/>
          </a:xfrm>
          <a:prstGeom prst="rect">
            <a:avLst/>
          </a:prstGeom>
          <a:noFill/>
        </p:spPr>
        <p:txBody>
          <a:bodyPr wrap="none" rtlCol="0">
            <a:spAutoFit/>
          </a:bodyPr>
          <a:lstStyle/>
          <a:p>
            <a:r>
              <a:rPr lang="en-US" sz="700" b="1" dirty="0"/>
              <a:t>TATGCATC</a:t>
            </a:r>
          </a:p>
        </p:txBody>
      </p:sp>
    </p:spTree>
    <p:extLst>
      <p:ext uri="{BB962C8B-B14F-4D97-AF65-F5344CB8AC3E}">
        <p14:creationId xmlns:p14="http://schemas.microsoft.com/office/powerpoint/2010/main" val="146947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B96119-BF7B-A15F-68AE-3850355EFD82}"/>
              </a:ext>
            </a:extLst>
          </p:cNvPr>
          <p:cNvSpPr txBox="1"/>
          <p:nvPr/>
        </p:nvSpPr>
        <p:spPr>
          <a:xfrm>
            <a:off x="1806178" y="183341"/>
            <a:ext cx="8455969" cy="461665"/>
          </a:xfrm>
          <a:prstGeom prst="rect">
            <a:avLst/>
          </a:prstGeom>
          <a:noFill/>
        </p:spPr>
        <p:txBody>
          <a:bodyPr wrap="none" rtlCol="0">
            <a:spAutoFit/>
          </a:bodyPr>
          <a:lstStyle/>
          <a:p>
            <a:r>
              <a:rPr lang="en-US" sz="2400" dirty="0"/>
              <a:t>Next Generation Sequencing (NGS)- 2</a:t>
            </a:r>
            <a:r>
              <a:rPr lang="en-US" sz="2400" baseline="30000" dirty="0"/>
              <a:t>nd</a:t>
            </a:r>
            <a:r>
              <a:rPr lang="en-US" sz="2400" dirty="0"/>
              <a:t> generation sequencing</a:t>
            </a:r>
          </a:p>
        </p:txBody>
      </p:sp>
      <p:sp>
        <p:nvSpPr>
          <p:cNvPr id="5" name="TextBox 4">
            <a:extLst>
              <a:ext uri="{FF2B5EF4-FFF2-40B4-BE49-F238E27FC236}">
                <a16:creationId xmlns:a16="http://schemas.microsoft.com/office/drawing/2014/main" id="{7927C275-E77A-36CD-B6C6-8210B8E81A3F}"/>
              </a:ext>
            </a:extLst>
          </p:cNvPr>
          <p:cNvSpPr txBox="1"/>
          <p:nvPr/>
        </p:nvSpPr>
        <p:spPr>
          <a:xfrm>
            <a:off x="3321394" y="659851"/>
            <a:ext cx="5549211" cy="461665"/>
          </a:xfrm>
          <a:prstGeom prst="rect">
            <a:avLst/>
          </a:prstGeom>
          <a:noFill/>
        </p:spPr>
        <p:txBody>
          <a:bodyPr wrap="none" rtlCol="0">
            <a:spAutoFit/>
          </a:bodyPr>
          <a:lstStyle/>
          <a:p>
            <a:r>
              <a:rPr lang="en-US" sz="2400" dirty="0"/>
              <a:t>Timeline of technological advancements</a:t>
            </a:r>
          </a:p>
        </p:txBody>
      </p:sp>
      <p:grpSp>
        <p:nvGrpSpPr>
          <p:cNvPr id="24" name="Group 23">
            <a:extLst>
              <a:ext uri="{FF2B5EF4-FFF2-40B4-BE49-F238E27FC236}">
                <a16:creationId xmlns:a16="http://schemas.microsoft.com/office/drawing/2014/main" id="{173F93ED-2486-FDEB-79C4-86DC8A036260}"/>
              </a:ext>
            </a:extLst>
          </p:cNvPr>
          <p:cNvGrpSpPr/>
          <p:nvPr/>
        </p:nvGrpSpPr>
        <p:grpSpPr>
          <a:xfrm>
            <a:off x="1482041" y="1336583"/>
            <a:ext cx="9104244" cy="2343617"/>
            <a:chOff x="1806179" y="1776138"/>
            <a:chExt cx="9104244" cy="2343617"/>
          </a:xfrm>
        </p:grpSpPr>
        <p:cxnSp>
          <p:nvCxnSpPr>
            <p:cNvPr id="7" name="Straight Connector 6">
              <a:extLst>
                <a:ext uri="{FF2B5EF4-FFF2-40B4-BE49-F238E27FC236}">
                  <a16:creationId xmlns:a16="http://schemas.microsoft.com/office/drawing/2014/main" id="{5E265544-AA0A-9BDB-04C3-D416AF358D61}"/>
                </a:ext>
              </a:extLst>
            </p:cNvPr>
            <p:cNvCxnSpPr/>
            <p:nvPr/>
          </p:nvCxnSpPr>
          <p:spPr>
            <a:xfrm>
              <a:off x="1806179" y="2926080"/>
              <a:ext cx="9104244"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43D58DDA-3DE9-65E3-E68A-22EB3C7CE70E}"/>
                </a:ext>
              </a:extLst>
            </p:cNvPr>
            <p:cNvCxnSpPr/>
            <p:nvPr/>
          </p:nvCxnSpPr>
          <p:spPr>
            <a:xfrm>
              <a:off x="1806179" y="2775005"/>
              <a:ext cx="0" cy="326004"/>
            </a:xfrm>
            <a:prstGeom prst="line">
              <a:avLst/>
            </a:prstGeom>
            <a:ln w="38100"/>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4161133B-2119-32AB-50A4-18C8FA0035EA}"/>
                </a:ext>
              </a:extLst>
            </p:cNvPr>
            <p:cNvCxnSpPr/>
            <p:nvPr/>
          </p:nvCxnSpPr>
          <p:spPr>
            <a:xfrm>
              <a:off x="2554927" y="2775005"/>
              <a:ext cx="0" cy="326004"/>
            </a:xfrm>
            <a:prstGeom prst="line">
              <a:avLst/>
            </a:prstGeom>
            <a:ln w="38100"/>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21C6F5B0-DE49-1DDA-9799-C0DFC93EBADC}"/>
                </a:ext>
              </a:extLst>
            </p:cNvPr>
            <p:cNvSpPr txBox="1"/>
            <p:nvPr/>
          </p:nvSpPr>
          <p:spPr>
            <a:xfrm>
              <a:off x="2226365" y="1776138"/>
              <a:ext cx="1876508" cy="923330"/>
            </a:xfrm>
            <a:prstGeom prst="rect">
              <a:avLst/>
            </a:prstGeom>
            <a:noFill/>
          </p:spPr>
          <p:txBody>
            <a:bodyPr wrap="square" rtlCol="0">
              <a:spAutoFit/>
            </a:bodyPr>
            <a:lstStyle/>
            <a:p>
              <a:r>
                <a:rPr lang="en-US" dirty="0"/>
                <a:t>2005: Roche-pyrosequencing (SBS)</a:t>
              </a:r>
            </a:p>
          </p:txBody>
        </p:sp>
        <p:cxnSp>
          <p:nvCxnSpPr>
            <p:cNvPr id="14" name="Straight Connector 13">
              <a:extLst>
                <a:ext uri="{FF2B5EF4-FFF2-40B4-BE49-F238E27FC236}">
                  <a16:creationId xmlns:a16="http://schemas.microsoft.com/office/drawing/2014/main" id="{16710B35-0E8D-A866-E321-9FE8CDEF7499}"/>
                </a:ext>
              </a:extLst>
            </p:cNvPr>
            <p:cNvCxnSpPr/>
            <p:nvPr/>
          </p:nvCxnSpPr>
          <p:spPr>
            <a:xfrm>
              <a:off x="3828461" y="2775005"/>
              <a:ext cx="0" cy="326004"/>
            </a:xfrm>
            <a:prstGeom prst="line">
              <a:avLst/>
            </a:prstGeom>
            <a:ln w="38100"/>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C132233E-E6B8-1E1C-B1C5-AC06BAE6B4B5}"/>
                </a:ext>
              </a:extLst>
            </p:cNvPr>
            <p:cNvSpPr txBox="1"/>
            <p:nvPr/>
          </p:nvSpPr>
          <p:spPr>
            <a:xfrm>
              <a:off x="3221604" y="3196425"/>
              <a:ext cx="1876508" cy="923330"/>
            </a:xfrm>
            <a:prstGeom prst="rect">
              <a:avLst/>
            </a:prstGeom>
            <a:noFill/>
          </p:spPr>
          <p:txBody>
            <a:bodyPr wrap="square" rtlCol="0">
              <a:spAutoFit/>
            </a:bodyPr>
            <a:lstStyle/>
            <a:p>
              <a:r>
                <a:rPr lang="en-US" b="1" dirty="0">
                  <a:solidFill>
                    <a:srgbClr val="FF0000"/>
                  </a:solidFill>
                </a:rPr>
                <a:t>2006: Illumina- Genome analyzer(SBS)</a:t>
              </a:r>
            </a:p>
          </p:txBody>
        </p:sp>
        <p:sp>
          <p:nvSpPr>
            <p:cNvPr id="16" name="TextBox 15">
              <a:extLst>
                <a:ext uri="{FF2B5EF4-FFF2-40B4-BE49-F238E27FC236}">
                  <a16:creationId xmlns:a16="http://schemas.microsoft.com/office/drawing/2014/main" id="{7195620A-D889-C933-6F3C-C67AF19F2AFE}"/>
                </a:ext>
              </a:extLst>
            </p:cNvPr>
            <p:cNvSpPr txBox="1"/>
            <p:nvPr/>
          </p:nvSpPr>
          <p:spPr>
            <a:xfrm>
              <a:off x="4858247" y="1957575"/>
              <a:ext cx="1876508" cy="646331"/>
            </a:xfrm>
            <a:prstGeom prst="rect">
              <a:avLst/>
            </a:prstGeom>
            <a:noFill/>
          </p:spPr>
          <p:txBody>
            <a:bodyPr wrap="square" rtlCol="0">
              <a:spAutoFit/>
            </a:bodyPr>
            <a:lstStyle/>
            <a:p>
              <a:r>
                <a:rPr lang="en-US" dirty="0"/>
                <a:t>2007: </a:t>
              </a:r>
              <a:r>
                <a:rPr lang="en-US" dirty="0" err="1"/>
                <a:t>Helicos</a:t>
              </a:r>
              <a:r>
                <a:rPr lang="en-US" dirty="0"/>
                <a:t>- </a:t>
              </a:r>
              <a:r>
                <a:rPr lang="en-US" dirty="0" err="1"/>
                <a:t>Heliscope</a:t>
              </a:r>
              <a:endParaRPr lang="en-US" dirty="0"/>
            </a:p>
          </p:txBody>
        </p:sp>
        <p:cxnSp>
          <p:nvCxnSpPr>
            <p:cNvPr id="17" name="Straight Connector 16">
              <a:extLst>
                <a:ext uri="{FF2B5EF4-FFF2-40B4-BE49-F238E27FC236}">
                  <a16:creationId xmlns:a16="http://schemas.microsoft.com/office/drawing/2014/main" id="{9E4FA14D-D3FC-8A37-B585-F006ED83D201}"/>
                </a:ext>
              </a:extLst>
            </p:cNvPr>
            <p:cNvCxnSpPr/>
            <p:nvPr/>
          </p:nvCxnSpPr>
          <p:spPr>
            <a:xfrm>
              <a:off x="5634733" y="2753801"/>
              <a:ext cx="0" cy="326004"/>
            </a:xfrm>
            <a:prstGeom prst="line">
              <a:avLst/>
            </a:prstGeom>
            <a:ln w="38100"/>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330C2B09-5B26-1DB7-2D44-9FFD6AB42952}"/>
                </a:ext>
              </a:extLst>
            </p:cNvPr>
            <p:cNvCxnSpPr/>
            <p:nvPr/>
          </p:nvCxnSpPr>
          <p:spPr>
            <a:xfrm>
              <a:off x="5723522" y="2752476"/>
              <a:ext cx="0" cy="326004"/>
            </a:xfrm>
            <a:prstGeom prst="line">
              <a:avLst/>
            </a:prstGeom>
            <a:ln w="38100"/>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4ECE6707-1E81-28ED-52D0-B04EB65B383D}"/>
                </a:ext>
              </a:extLst>
            </p:cNvPr>
            <p:cNvSpPr txBox="1"/>
            <p:nvPr/>
          </p:nvSpPr>
          <p:spPr>
            <a:xfrm>
              <a:off x="5137020" y="3242808"/>
              <a:ext cx="1876508" cy="369332"/>
            </a:xfrm>
            <a:prstGeom prst="rect">
              <a:avLst/>
            </a:prstGeom>
            <a:noFill/>
          </p:spPr>
          <p:txBody>
            <a:bodyPr wrap="square" rtlCol="0">
              <a:spAutoFit/>
            </a:bodyPr>
            <a:lstStyle/>
            <a:p>
              <a:r>
                <a:rPr lang="en-US" dirty="0"/>
                <a:t>2007: ABI </a:t>
              </a:r>
              <a:r>
                <a:rPr lang="en-US" dirty="0" err="1"/>
                <a:t>SOLiD</a:t>
              </a:r>
              <a:endParaRPr lang="en-US" dirty="0"/>
            </a:p>
          </p:txBody>
        </p:sp>
        <p:cxnSp>
          <p:nvCxnSpPr>
            <p:cNvPr id="20" name="Straight Connector 19">
              <a:extLst>
                <a:ext uri="{FF2B5EF4-FFF2-40B4-BE49-F238E27FC236}">
                  <a16:creationId xmlns:a16="http://schemas.microsoft.com/office/drawing/2014/main" id="{9ABCCBF9-8280-F721-DBF1-C3D5E17E573D}"/>
                </a:ext>
              </a:extLst>
            </p:cNvPr>
            <p:cNvCxnSpPr/>
            <p:nvPr/>
          </p:nvCxnSpPr>
          <p:spPr>
            <a:xfrm>
              <a:off x="10902380" y="2752476"/>
              <a:ext cx="0" cy="326004"/>
            </a:xfrm>
            <a:prstGeom prst="line">
              <a:avLst/>
            </a:prstGeom>
            <a:ln w="38100"/>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E4525388-261A-4956-444C-03D1CD885B0A}"/>
                </a:ext>
              </a:extLst>
            </p:cNvPr>
            <p:cNvCxnSpPr/>
            <p:nvPr/>
          </p:nvCxnSpPr>
          <p:spPr>
            <a:xfrm>
              <a:off x="9154418" y="2752476"/>
              <a:ext cx="0" cy="326004"/>
            </a:xfrm>
            <a:prstGeom prst="line">
              <a:avLst/>
            </a:prstGeom>
            <a:ln w="38100"/>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C0E0B70E-328E-E9D6-8924-C34B4BAAF5A9}"/>
                </a:ext>
              </a:extLst>
            </p:cNvPr>
            <p:cNvSpPr txBox="1"/>
            <p:nvPr/>
          </p:nvSpPr>
          <p:spPr>
            <a:xfrm>
              <a:off x="8216164" y="3212033"/>
              <a:ext cx="1876508" cy="369332"/>
            </a:xfrm>
            <a:prstGeom prst="rect">
              <a:avLst/>
            </a:prstGeom>
            <a:noFill/>
          </p:spPr>
          <p:txBody>
            <a:bodyPr wrap="square" rtlCol="0">
              <a:spAutoFit/>
            </a:bodyPr>
            <a:lstStyle/>
            <a:p>
              <a:r>
                <a:rPr lang="en-US" dirty="0"/>
                <a:t>2010: Ion Torrent</a:t>
              </a:r>
            </a:p>
          </p:txBody>
        </p:sp>
      </p:grpSp>
      <p:sp>
        <p:nvSpPr>
          <p:cNvPr id="23" name="TextBox 22">
            <a:extLst>
              <a:ext uri="{FF2B5EF4-FFF2-40B4-BE49-F238E27FC236}">
                <a16:creationId xmlns:a16="http://schemas.microsoft.com/office/drawing/2014/main" id="{39056725-5DFA-4C7B-59DB-343FCF437728}"/>
              </a:ext>
            </a:extLst>
          </p:cNvPr>
          <p:cNvSpPr txBox="1"/>
          <p:nvPr/>
        </p:nvSpPr>
        <p:spPr>
          <a:xfrm>
            <a:off x="868111" y="4106519"/>
            <a:ext cx="4604252" cy="1938992"/>
          </a:xfrm>
          <a:prstGeom prst="rect">
            <a:avLst/>
          </a:prstGeom>
          <a:noFill/>
        </p:spPr>
        <p:txBody>
          <a:bodyPr wrap="square" rtlCol="0">
            <a:spAutoFit/>
          </a:bodyPr>
          <a:lstStyle/>
          <a:p>
            <a:pPr marL="171450" indent="-171450">
              <a:buFont typeface="Arial" panose="020B0604020202020204" pitchFamily="34" charset="0"/>
              <a:buChar char="•"/>
            </a:pPr>
            <a:r>
              <a:rPr lang="en-US" sz="1200" dirty="0"/>
              <a:t>SBS- sequencing by synthesis</a:t>
            </a:r>
          </a:p>
          <a:p>
            <a:pPr marL="628650" lvl="1" indent="-171450">
              <a:buFont typeface="Arial" panose="020B0604020202020204" pitchFamily="34" charset="0"/>
              <a:buChar char="•"/>
            </a:pPr>
            <a:r>
              <a:rPr lang="en-US" sz="1200" dirty="0"/>
              <a:t>DNA fragments bind to flow cell and PCR1</a:t>
            </a:r>
          </a:p>
          <a:p>
            <a:pPr marL="628650" lvl="1" indent="-171450">
              <a:buFont typeface="Arial" panose="020B0604020202020204" pitchFamily="34" charset="0"/>
              <a:buChar char="•"/>
            </a:pPr>
            <a:r>
              <a:rPr lang="en-US" sz="1200" dirty="0"/>
              <a:t>PCR based </a:t>
            </a:r>
            <a:r>
              <a:rPr lang="en-US" sz="1200" b="1" dirty="0">
                <a:solidFill>
                  <a:srgbClr val="FF0000"/>
                </a:solidFill>
              </a:rPr>
              <a:t>SBS- sequencing by synthesis</a:t>
            </a:r>
            <a:endParaRPr lang="en-US" sz="1200" dirty="0"/>
          </a:p>
          <a:p>
            <a:pPr lvl="1"/>
            <a:endParaRPr lang="en-US" sz="1200" dirty="0"/>
          </a:p>
          <a:p>
            <a:pPr marL="171450" indent="-171450">
              <a:buFont typeface="Arial" panose="020B0604020202020204" pitchFamily="34" charset="0"/>
              <a:buChar char="•"/>
            </a:pPr>
            <a:r>
              <a:rPr lang="en-US" sz="1200" dirty="0"/>
              <a:t>Why did Illumina become the gold standard for NGS sequencing?</a:t>
            </a:r>
          </a:p>
          <a:p>
            <a:pPr marL="628650" lvl="1" indent="-171450">
              <a:buFont typeface="Arial" panose="020B0604020202020204" pitchFamily="34" charset="0"/>
              <a:buChar char="•"/>
            </a:pPr>
            <a:r>
              <a:rPr lang="en-US" sz="1200" b="0" i="0" dirty="0">
                <a:solidFill>
                  <a:srgbClr val="000000"/>
                </a:solidFill>
                <a:effectLst/>
              </a:rPr>
              <a:t>Cluster amplification technology enhanced the accuracy of base calling which helped reduce the need for sequencing redundancy and reduce thereby cost</a:t>
            </a:r>
          </a:p>
          <a:p>
            <a:pPr marL="628650" lvl="1" indent="-171450">
              <a:buFont typeface="Arial" panose="020B0604020202020204" pitchFamily="34" charset="0"/>
              <a:buChar char="•"/>
            </a:pPr>
            <a:r>
              <a:rPr lang="en-US" sz="1200" b="0" i="0" dirty="0">
                <a:solidFill>
                  <a:srgbClr val="000000"/>
                </a:solidFill>
                <a:effectLst/>
              </a:rPr>
              <a:t>Better optics generated stronger signals</a:t>
            </a:r>
            <a:endParaRPr lang="en-US" sz="1200" dirty="0"/>
          </a:p>
        </p:txBody>
      </p:sp>
      <p:pic>
        <p:nvPicPr>
          <p:cNvPr id="32" name="Picture 31">
            <a:extLst>
              <a:ext uri="{FF2B5EF4-FFF2-40B4-BE49-F238E27FC236}">
                <a16:creationId xmlns:a16="http://schemas.microsoft.com/office/drawing/2014/main" id="{B7841F41-45B1-7B42-7C74-7EC97033AC45}"/>
              </a:ext>
            </a:extLst>
          </p:cNvPr>
          <p:cNvPicPr>
            <a:picLocks noChangeAspect="1"/>
          </p:cNvPicPr>
          <p:nvPr/>
        </p:nvPicPr>
        <p:blipFill>
          <a:blip r:embed="rId3"/>
          <a:stretch>
            <a:fillRect/>
          </a:stretch>
        </p:blipFill>
        <p:spPr>
          <a:xfrm>
            <a:off x="6845316" y="3545621"/>
            <a:ext cx="2530292" cy="1002663"/>
          </a:xfrm>
          <a:prstGeom prst="rect">
            <a:avLst/>
          </a:prstGeom>
        </p:spPr>
      </p:pic>
      <p:pic>
        <p:nvPicPr>
          <p:cNvPr id="33" name="Picture 32">
            <a:extLst>
              <a:ext uri="{FF2B5EF4-FFF2-40B4-BE49-F238E27FC236}">
                <a16:creationId xmlns:a16="http://schemas.microsoft.com/office/drawing/2014/main" id="{A552E903-23C2-B273-5544-0FDFCDDDF77C}"/>
              </a:ext>
            </a:extLst>
          </p:cNvPr>
          <p:cNvPicPr>
            <a:picLocks noChangeAspect="1"/>
          </p:cNvPicPr>
          <p:nvPr/>
        </p:nvPicPr>
        <p:blipFill>
          <a:blip r:embed="rId4"/>
          <a:stretch>
            <a:fillRect/>
          </a:stretch>
        </p:blipFill>
        <p:spPr>
          <a:xfrm>
            <a:off x="6760055" y="4571815"/>
            <a:ext cx="2842915" cy="1035564"/>
          </a:xfrm>
          <a:prstGeom prst="rect">
            <a:avLst/>
          </a:prstGeom>
        </p:spPr>
      </p:pic>
      <p:pic>
        <p:nvPicPr>
          <p:cNvPr id="39" name="Picture 38">
            <a:extLst>
              <a:ext uri="{FF2B5EF4-FFF2-40B4-BE49-F238E27FC236}">
                <a16:creationId xmlns:a16="http://schemas.microsoft.com/office/drawing/2014/main" id="{45708E06-5B83-CDB6-7207-8C5EC0019521}"/>
              </a:ext>
            </a:extLst>
          </p:cNvPr>
          <p:cNvPicPr>
            <a:picLocks noChangeAspect="1"/>
          </p:cNvPicPr>
          <p:nvPr/>
        </p:nvPicPr>
        <p:blipFill>
          <a:blip r:embed="rId5"/>
          <a:stretch>
            <a:fillRect/>
          </a:stretch>
        </p:blipFill>
        <p:spPr>
          <a:xfrm>
            <a:off x="9554207" y="5256106"/>
            <a:ext cx="2152266" cy="1487430"/>
          </a:xfrm>
          <a:prstGeom prst="rect">
            <a:avLst/>
          </a:prstGeom>
        </p:spPr>
      </p:pic>
      <p:cxnSp>
        <p:nvCxnSpPr>
          <p:cNvPr id="41" name="Straight Arrow Connector 40">
            <a:extLst>
              <a:ext uri="{FF2B5EF4-FFF2-40B4-BE49-F238E27FC236}">
                <a16:creationId xmlns:a16="http://schemas.microsoft.com/office/drawing/2014/main" id="{0B1F3C77-144A-B9DF-D6AF-1C5665662746}"/>
              </a:ext>
            </a:extLst>
          </p:cNvPr>
          <p:cNvCxnSpPr>
            <a:cxnSpLocks/>
          </p:cNvCxnSpPr>
          <p:nvPr/>
        </p:nvCxnSpPr>
        <p:spPr>
          <a:xfrm>
            <a:off x="8865143" y="5660921"/>
            <a:ext cx="510465" cy="225933"/>
          </a:xfrm>
          <a:prstGeom prst="straightConnector1">
            <a:avLst/>
          </a:prstGeom>
          <a:ln>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22697FAF-DC5B-6BB7-6C25-CEC71F012AB6}"/>
              </a:ext>
            </a:extLst>
          </p:cNvPr>
          <p:cNvSpPr txBox="1"/>
          <p:nvPr/>
        </p:nvSpPr>
        <p:spPr>
          <a:xfrm>
            <a:off x="7892026" y="2995257"/>
            <a:ext cx="4604252" cy="523220"/>
          </a:xfrm>
          <a:prstGeom prst="rect">
            <a:avLst/>
          </a:prstGeom>
          <a:noFill/>
        </p:spPr>
        <p:txBody>
          <a:bodyPr wrap="square">
            <a:spAutoFit/>
          </a:bodyPr>
          <a:lstStyle/>
          <a:p>
            <a:r>
              <a:rPr lang="en-US" sz="1400" dirty="0">
                <a:hlinkClick r:id="rId6"/>
              </a:rPr>
              <a:t>Ion Torrent:  https://youtu.be/zBPKj0mMcDg</a:t>
            </a:r>
            <a:endParaRPr lang="en-US" sz="1400" dirty="0"/>
          </a:p>
          <a:p>
            <a:endParaRPr lang="en-US" sz="1400" dirty="0"/>
          </a:p>
        </p:txBody>
      </p:sp>
    </p:spTree>
    <p:extLst>
      <p:ext uri="{BB962C8B-B14F-4D97-AF65-F5344CB8AC3E}">
        <p14:creationId xmlns:p14="http://schemas.microsoft.com/office/powerpoint/2010/main" val="3539883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Why has the reverse read 2 a worse quality than the forward read 1 in  Illumina sequencing?">
            <a:extLst>
              <a:ext uri="{FF2B5EF4-FFF2-40B4-BE49-F238E27FC236}">
                <a16:creationId xmlns:a16="http://schemas.microsoft.com/office/drawing/2014/main" id="{4E58820D-EE96-AC21-1BB0-7E3E6AB51B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4810" y="897507"/>
            <a:ext cx="3746509" cy="15872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1259994-D43B-B71D-4C37-A05C3730FB5E}"/>
              </a:ext>
            </a:extLst>
          </p:cNvPr>
          <p:cNvPicPr>
            <a:picLocks noChangeAspect="1"/>
          </p:cNvPicPr>
          <p:nvPr/>
        </p:nvPicPr>
        <p:blipFill>
          <a:blip r:embed="rId4"/>
          <a:stretch>
            <a:fillRect/>
          </a:stretch>
        </p:blipFill>
        <p:spPr>
          <a:xfrm>
            <a:off x="318286" y="375658"/>
            <a:ext cx="5710030" cy="3617581"/>
          </a:xfrm>
          <a:prstGeom prst="rect">
            <a:avLst/>
          </a:prstGeom>
        </p:spPr>
      </p:pic>
      <p:sp>
        <p:nvSpPr>
          <p:cNvPr id="6" name="TextBox 5">
            <a:extLst>
              <a:ext uri="{FF2B5EF4-FFF2-40B4-BE49-F238E27FC236}">
                <a16:creationId xmlns:a16="http://schemas.microsoft.com/office/drawing/2014/main" id="{DEB0914F-0871-E21E-0CB7-8E44115C6325}"/>
              </a:ext>
            </a:extLst>
          </p:cNvPr>
          <p:cNvSpPr txBox="1"/>
          <p:nvPr/>
        </p:nvSpPr>
        <p:spPr>
          <a:xfrm>
            <a:off x="4848382" y="144826"/>
            <a:ext cx="2896947" cy="461665"/>
          </a:xfrm>
          <a:prstGeom prst="rect">
            <a:avLst/>
          </a:prstGeom>
          <a:noFill/>
        </p:spPr>
        <p:txBody>
          <a:bodyPr wrap="none" rtlCol="0">
            <a:spAutoFit/>
          </a:bodyPr>
          <a:lstStyle/>
          <a:p>
            <a:r>
              <a:rPr lang="en-US" sz="2400" dirty="0"/>
              <a:t>Illumina Sequencing</a:t>
            </a:r>
          </a:p>
        </p:txBody>
      </p:sp>
      <p:pic>
        <p:nvPicPr>
          <p:cNvPr id="10246" name="Picture 6" descr="4 Reads Per Cluster! Simultaneously Paired End-Sequencing!">
            <a:extLst>
              <a:ext uri="{FF2B5EF4-FFF2-40B4-BE49-F238E27FC236}">
                <a16:creationId xmlns:a16="http://schemas.microsoft.com/office/drawing/2014/main" id="{9B94E972-71EA-23C9-C82A-2BF0DDA2DF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9748" y="2874051"/>
            <a:ext cx="2047875" cy="2238375"/>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8D1DEF96-40A0-3555-922F-5B4B6AC219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910" y="4178350"/>
            <a:ext cx="4850782" cy="262548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332479E-F61C-4A90-D9AD-D02F7826B768}"/>
              </a:ext>
            </a:extLst>
          </p:cNvPr>
          <p:cNvSpPr txBox="1"/>
          <p:nvPr/>
        </p:nvSpPr>
        <p:spPr>
          <a:xfrm>
            <a:off x="4324455" y="606491"/>
            <a:ext cx="746295" cy="307777"/>
          </a:xfrm>
          <a:prstGeom prst="rect">
            <a:avLst/>
          </a:prstGeom>
          <a:noFill/>
        </p:spPr>
        <p:txBody>
          <a:bodyPr wrap="none" rtlCol="0">
            <a:spAutoFit/>
          </a:bodyPr>
          <a:lstStyle/>
          <a:p>
            <a:r>
              <a:rPr lang="en-US" sz="1400" b="1" dirty="0">
                <a:solidFill>
                  <a:srgbClr val="FF0000"/>
                </a:solidFill>
              </a:rPr>
              <a:t>Library</a:t>
            </a:r>
          </a:p>
        </p:txBody>
      </p:sp>
      <p:sp>
        <p:nvSpPr>
          <p:cNvPr id="3" name="TextBox 2">
            <a:extLst>
              <a:ext uri="{FF2B5EF4-FFF2-40B4-BE49-F238E27FC236}">
                <a16:creationId xmlns:a16="http://schemas.microsoft.com/office/drawing/2014/main" id="{ECEC89A3-D055-42FF-FA00-A8EC401A90B0}"/>
              </a:ext>
            </a:extLst>
          </p:cNvPr>
          <p:cNvSpPr txBox="1"/>
          <p:nvPr/>
        </p:nvSpPr>
        <p:spPr>
          <a:xfrm>
            <a:off x="10072735" y="2330860"/>
            <a:ext cx="1694888" cy="307777"/>
          </a:xfrm>
          <a:prstGeom prst="rect">
            <a:avLst/>
          </a:prstGeom>
          <a:noFill/>
        </p:spPr>
        <p:txBody>
          <a:bodyPr wrap="none" rtlCol="0">
            <a:spAutoFit/>
          </a:bodyPr>
          <a:lstStyle/>
          <a:p>
            <a:r>
              <a:rPr lang="en-US" sz="1400" b="1" dirty="0">
                <a:solidFill>
                  <a:srgbClr val="FF0000"/>
                </a:solidFill>
              </a:rPr>
              <a:t>Cluster generation</a:t>
            </a:r>
          </a:p>
        </p:txBody>
      </p:sp>
      <p:cxnSp>
        <p:nvCxnSpPr>
          <p:cNvPr id="10" name="Straight Arrow Connector 9">
            <a:extLst>
              <a:ext uri="{FF2B5EF4-FFF2-40B4-BE49-F238E27FC236}">
                <a16:creationId xmlns:a16="http://schemas.microsoft.com/office/drawing/2014/main" id="{2F2CCAC9-0B9F-F074-FF28-AB21EE6C7D36}"/>
              </a:ext>
            </a:extLst>
          </p:cNvPr>
          <p:cNvCxnSpPr>
            <a:cxnSpLocks/>
          </p:cNvCxnSpPr>
          <p:nvPr/>
        </p:nvCxnSpPr>
        <p:spPr>
          <a:xfrm flipH="1">
            <a:off x="6158046" y="4289092"/>
            <a:ext cx="3431973" cy="70221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DEB2390-6C4E-1C4E-7F8C-26AAD49D1325}"/>
              </a:ext>
            </a:extLst>
          </p:cNvPr>
          <p:cNvSpPr txBox="1"/>
          <p:nvPr/>
        </p:nvSpPr>
        <p:spPr>
          <a:xfrm>
            <a:off x="6547775" y="4991310"/>
            <a:ext cx="4495333" cy="2400657"/>
          </a:xfrm>
          <a:prstGeom prst="rect">
            <a:avLst/>
          </a:prstGeom>
          <a:noFill/>
        </p:spPr>
        <p:txBody>
          <a:bodyPr wrap="none" rtlCol="0">
            <a:spAutoFit/>
          </a:bodyPr>
          <a:lstStyle/>
          <a:p>
            <a:r>
              <a:rPr lang="en-US" sz="1400" b="1" dirty="0">
                <a:solidFill>
                  <a:srgbClr val="FF0000"/>
                </a:solidFill>
              </a:rPr>
              <a:t>Sequencing:</a:t>
            </a:r>
          </a:p>
          <a:p>
            <a:pPr marL="228600" indent="-228600">
              <a:buAutoNum type="arabicPeriod"/>
            </a:pPr>
            <a:r>
              <a:rPr lang="en-US" sz="1200" dirty="0">
                <a:solidFill>
                  <a:srgbClr val="FF0000"/>
                </a:solidFill>
              </a:rPr>
              <a:t>Primer binds</a:t>
            </a:r>
          </a:p>
          <a:p>
            <a:pPr marL="228600" indent="-228600">
              <a:buAutoNum type="arabicPeriod"/>
            </a:pPr>
            <a:r>
              <a:rPr lang="en-US" sz="1200" dirty="0">
                <a:solidFill>
                  <a:srgbClr val="FF0000"/>
                </a:solidFill>
              </a:rPr>
              <a:t>Flow cell flooded with fluorescently- tagged dNTPs  w. blocker</a:t>
            </a:r>
          </a:p>
          <a:p>
            <a:pPr marL="228600" indent="-228600">
              <a:buAutoNum type="arabicPeriod"/>
            </a:pPr>
            <a:r>
              <a:rPr lang="en-US" sz="1200" dirty="0">
                <a:solidFill>
                  <a:srgbClr val="FF0000"/>
                </a:solidFill>
              </a:rPr>
              <a:t>Only </a:t>
            </a:r>
            <a:r>
              <a:rPr lang="en-US" sz="1200" b="1" dirty="0">
                <a:solidFill>
                  <a:srgbClr val="FF0000"/>
                </a:solidFill>
              </a:rPr>
              <a:t>ONE</a:t>
            </a:r>
            <a:r>
              <a:rPr lang="en-US" sz="1200" dirty="0">
                <a:solidFill>
                  <a:srgbClr val="FF0000"/>
                </a:solidFill>
              </a:rPr>
              <a:t> dNTP binds per DNA fragment (</a:t>
            </a:r>
            <a:r>
              <a:rPr lang="en-US" sz="1200" dirty="0" err="1">
                <a:solidFill>
                  <a:srgbClr val="FF0000"/>
                </a:solidFill>
              </a:rPr>
              <a:t>bc</a:t>
            </a:r>
            <a:r>
              <a:rPr lang="en-US" sz="1200" dirty="0">
                <a:solidFill>
                  <a:srgbClr val="FF0000"/>
                </a:solidFill>
              </a:rPr>
              <a:t> of blocker)</a:t>
            </a:r>
          </a:p>
          <a:p>
            <a:pPr marL="228600" indent="-228600">
              <a:buAutoNum type="arabicPeriod"/>
            </a:pPr>
            <a:r>
              <a:rPr lang="en-US" sz="1200" dirty="0">
                <a:solidFill>
                  <a:srgbClr val="FF0000"/>
                </a:solidFill>
              </a:rPr>
              <a:t>Wash away excess dNTP</a:t>
            </a:r>
          </a:p>
          <a:p>
            <a:pPr marL="228600" indent="-228600">
              <a:buAutoNum type="arabicPeriod"/>
            </a:pPr>
            <a:r>
              <a:rPr lang="en-US" sz="1200" dirty="0">
                <a:solidFill>
                  <a:srgbClr val="FF0000"/>
                </a:solidFill>
              </a:rPr>
              <a:t>Records florescence</a:t>
            </a:r>
          </a:p>
          <a:p>
            <a:pPr marL="228600" indent="-228600">
              <a:buAutoNum type="arabicPeriod"/>
            </a:pPr>
            <a:r>
              <a:rPr lang="en-US" sz="1200" dirty="0">
                <a:solidFill>
                  <a:srgbClr val="FF0000"/>
                </a:solidFill>
              </a:rPr>
              <a:t>Cleave blocker = completion of cycle 1</a:t>
            </a:r>
          </a:p>
          <a:p>
            <a:pPr marL="228600" indent="-228600">
              <a:buAutoNum type="arabicPeriod"/>
            </a:pPr>
            <a:r>
              <a:rPr lang="en-US" sz="1200" dirty="0">
                <a:solidFill>
                  <a:srgbClr val="FF0000"/>
                </a:solidFill>
              </a:rPr>
              <a:t>Repeat (usually 50-300 cycles)</a:t>
            </a:r>
          </a:p>
          <a:p>
            <a:pPr marL="228600" indent="-228600">
              <a:buAutoNum type="arabicPeriod"/>
            </a:pPr>
            <a:endParaRPr lang="en-US" sz="1200" dirty="0">
              <a:solidFill>
                <a:srgbClr val="FF0000"/>
              </a:solidFill>
            </a:endParaRPr>
          </a:p>
          <a:p>
            <a:pPr marL="228600" indent="-228600">
              <a:buAutoNum type="arabicPeriod"/>
            </a:pPr>
            <a:endParaRPr lang="en-US" sz="1200" dirty="0">
              <a:solidFill>
                <a:srgbClr val="FF0000"/>
              </a:solidFill>
            </a:endParaRPr>
          </a:p>
          <a:p>
            <a:pPr marL="342900" indent="-342900">
              <a:buAutoNum type="arabicPeriod"/>
            </a:pPr>
            <a:endParaRPr lang="en-US" sz="1400" b="1" dirty="0">
              <a:solidFill>
                <a:srgbClr val="FF0000"/>
              </a:solidFill>
            </a:endParaRPr>
          </a:p>
          <a:p>
            <a:endParaRPr lang="en-US" sz="1400" b="1" dirty="0">
              <a:solidFill>
                <a:srgbClr val="FF0000"/>
              </a:solidFill>
            </a:endParaRPr>
          </a:p>
        </p:txBody>
      </p:sp>
    </p:spTree>
    <p:extLst>
      <p:ext uri="{BB962C8B-B14F-4D97-AF65-F5344CB8AC3E}">
        <p14:creationId xmlns:p14="http://schemas.microsoft.com/office/powerpoint/2010/main" val="3380658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D47427-2A17-B1C2-04DB-C6A01CA3D215}"/>
              </a:ext>
            </a:extLst>
          </p:cNvPr>
          <p:cNvSpPr txBox="1"/>
          <p:nvPr/>
        </p:nvSpPr>
        <p:spPr>
          <a:xfrm>
            <a:off x="3048663" y="2413337"/>
            <a:ext cx="6094674" cy="646331"/>
          </a:xfrm>
          <a:prstGeom prst="rect">
            <a:avLst/>
          </a:prstGeom>
          <a:noFill/>
        </p:spPr>
        <p:txBody>
          <a:bodyPr wrap="square">
            <a:spAutoFit/>
          </a:bodyPr>
          <a:lstStyle/>
          <a:p>
            <a:r>
              <a:rPr lang="en-US" dirty="0">
                <a:solidFill>
                  <a:srgbClr val="FF0000"/>
                </a:solidFill>
                <a:hlinkClick r:id="rId3">
                  <a:extLst>
                    <a:ext uri="{A12FA001-AC4F-418D-AE19-62706E023703}">
                      <ahyp:hlinkClr xmlns:ahyp="http://schemas.microsoft.com/office/drawing/2018/hyperlinkcolor" val="tx"/>
                    </a:ext>
                  </a:extLst>
                </a:hlinkClick>
              </a:rPr>
              <a:t>https://www.youtube.com/watch?v=fCd6B5HRaZ8</a:t>
            </a:r>
            <a:endParaRPr lang="en-US" dirty="0">
              <a:solidFill>
                <a:srgbClr val="FF0000"/>
              </a:solidFill>
            </a:endParaRPr>
          </a:p>
          <a:p>
            <a:endParaRPr lang="en-US" dirty="0">
              <a:solidFill>
                <a:srgbClr val="FF0000"/>
              </a:solidFill>
            </a:endParaRPr>
          </a:p>
        </p:txBody>
      </p:sp>
      <p:sp>
        <p:nvSpPr>
          <p:cNvPr id="6" name="TextBox 5">
            <a:extLst>
              <a:ext uri="{FF2B5EF4-FFF2-40B4-BE49-F238E27FC236}">
                <a16:creationId xmlns:a16="http://schemas.microsoft.com/office/drawing/2014/main" id="{7ABF2052-71DC-9A7C-C873-9D6D4A0300EB}"/>
              </a:ext>
            </a:extLst>
          </p:cNvPr>
          <p:cNvSpPr txBox="1"/>
          <p:nvPr/>
        </p:nvSpPr>
        <p:spPr>
          <a:xfrm>
            <a:off x="3048663" y="3059668"/>
            <a:ext cx="5181355" cy="646331"/>
          </a:xfrm>
          <a:prstGeom prst="rect">
            <a:avLst/>
          </a:prstGeom>
          <a:noFill/>
        </p:spPr>
        <p:txBody>
          <a:bodyPr wrap="none" rtlCol="0">
            <a:spAutoFit/>
          </a:bodyPr>
          <a:lstStyle/>
          <a:p>
            <a:r>
              <a:rPr lang="en-US" dirty="0">
                <a:hlinkClick r:id="rId4"/>
              </a:rPr>
              <a:t>https://www.youtube.com/watch?v=EDVKxSNdSic</a:t>
            </a:r>
            <a:endParaRPr lang="en-US" dirty="0"/>
          </a:p>
          <a:p>
            <a:endParaRPr lang="en-US" dirty="0"/>
          </a:p>
        </p:txBody>
      </p:sp>
    </p:spTree>
    <p:extLst>
      <p:ext uri="{BB962C8B-B14F-4D97-AF65-F5344CB8AC3E}">
        <p14:creationId xmlns:p14="http://schemas.microsoft.com/office/powerpoint/2010/main" val="2715065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8E78935-DF52-9586-60BA-86982953F68C}"/>
              </a:ext>
            </a:extLst>
          </p:cNvPr>
          <p:cNvSpPr txBox="1"/>
          <p:nvPr/>
        </p:nvSpPr>
        <p:spPr>
          <a:xfrm>
            <a:off x="2977565" y="276308"/>
            <a:ext cx="6589561" cy="738664"/>
          </a:xfrm>
          <a:prstGeom prst="rect">
            <a:avLst/>
          </a:prstGeom>
          <a:noFill/>
        </p:spPr>
        <p:txBody>
          <a:bodyPr wrap="none" rtlCol="0">
            <a:spAutoFit/>
          </a:bodyPr>
          <a:lstStyle/>
          <a:p>
            <a:r>
              <a:rPr lang="en-US" sz="2400" dirty="0"/>
              <a:t>Library Preparation- prepare DNA for sequencing</a:t>
            </a:r>
          </a:p>
          <a:p>
            <a:r>
              <a:rPr lang="en-US" dirty="0">
                <a:solidFill>
                  <a:srgbClr val="FF0000"/>
                </a:solidFill>
              </a:rPr>
              <a:t>1. </a:t>
            </a:r>
            <a:r>
              <a:rPr lang="en-US" dirty="0" err="1">
                <a:solidFill>
                  <a:srgbClr val="FF0000"/>
                </a:solidFill>
              </a:rPr>
              <a:t>DNAseq</a:t>
            </a:r>
            <a:r>
              <a:rPr lang="en-US" dirty="0">
                <a:solidFill>
                  <a:srgbClr val="FF0000"/>
                </a:solidFill>
              </a:rPr>
              <a:t>: WGS, WES, amplicons</a:t>
            </a:r>
          </a:p>
        </p:txBody>
      </p:sp>
      <p:pic>
        <p:nvPicPr>
          <p:cNvPr id="11270" name="Picture 6" descr="Overview of NGS library preparation by fragmentation">
            <a:extLst>
              <a:ext uri="{FF2B5EF4-FFF2-40B4-BE49-F238E27FC236}">
                <a16:creationId xmlns:a16="http://schemas.microsoft.com/office/drawing/2014/main" id="{D32AB0E0-C8A2-BB35-455E-00AA394C6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028" y="1135049"/>
            <a:ext cx="9316028" cy="544664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B7D12C4-7718-8CAD-8138-C8ACC0E20823}"/>
              </a:ext>
            </a:extLst>
          </p:cNvPr>
          <p:cNvSpPr txBox="1"/>
          <p:nvPr/>
        </p:nvSpPr>
        <p:spPr>
          <a:xfrm>
            <a:off x="10389056" y="1308139"/>
            <a:ext cx="1297406" cy="830997"/>
          </a:xfrm>
          <a:prstGeom prst="rect">
            <a:avLst/>
          </a:prstGeom>
          <a:noFill/>
        </p:spPr>
        <p:txBody>
          <a:bodyPr wrap="none" rtlCol="0">
            <a:spAutoFit/>
          </a:bodyPr>
          <a:lstStyle/>
          <a:p>
            <a:r>
              <a:rPr lang="en-US" sz="1200" b="1" dirty="0"/>
              <a:t>Fragmentation:</a:t>
            </a:r>
          </a:p>
          <a:p>
            <a:pPr marL="285750" indent="-285750">
              <a:buFont typeface="Arial" panose="020B0604020202020204" pitchFamily="34" charset="0"/>
              <a:buChar char="•"/>
            </a:pPr>
            <a:r>
              <a:rPr lang="en-US" sz="1200" dirty="0"/>
              <a:t>Enzyme</a:t>
            </a:r>
          </a:p>
          <a:p>
            <a:pPr marL="285750" indent="-285750">
              <a:buFont typeface="Arial" panose="020B0604020202020204" pitchFamily="34" charset="0"/>
              <a:buChar char="•"/>
            </a:pPr>
            <a:r>
              <a:rPr lang="en-US" sz="1200" dirty="0"/>
              <a:t>Mechanical</a:t>
            </a:r>
          </a:p>
          <a:p>
            <a:pPr marL="285750" indent="-285750">
              <a:buFont typeface="Arial" panose="020B0604020202020204" pitchFamily="34" charset="0"/>
              <a:buChar char="•"/>
            </a:pPr>
            <a:r>
              <a:rPr lang="en-US" sz="1200" dirty="0"/>
              <a:t>transposase</a:t>
            </a:r>
          </a:p>
        </p:txBody>
      </p:sp>
      <p:sp>
        <p:nvSpPr>
          <p:cNvPr id="15" name="TextBox 14">
            <a:extLst>
              <a:ext uri="{FF2B5EF4-FFF2-40B4-BE49-F238E27FC236}">
                <a16:creationId xmlns:a16="http://schemas.microsoft.com/office/drawing/2014/main" id="{CEC1FCA5-BE75-809A-7878-FF69CDC1E0CF}"/>
              </a:ext>
            </a:extLst>
          </p:cNvPr>
          <p:cNvSpPr txBox="1"/>
          <p:nvPr/>
        </p:nvSpPr>
        <p:spPr>
          <a:xfrm>
            <a:off x="10390405" y="2505561"/>
            <a:ext cx="1696940" cy="1569660"/>
          </a:xfrm>
          <a:prstGeom prst="rect">
            <a:avLst/>
          </a:prstGeom>
          <a:noFill/>
        </p:spPr>
        <p:txBody>
          <a:bodyPr wrap="square">
            <a:spAutoFit/>
          </a:bodyPr>
          <a:lstStyle/>
          <a:p>
            <a:r>
              <a:rPr lang="en-US" sz="1200" b="1" i="0" dirty="0">
                <a:effectLst/>
              </a:rPr>
              <a:t>Adenylation</a:t>
            </a:r>
            <a:r>
              <a:rPr lang="en-US" sz="1200" b="0" i="0" dirty="0">
                <a:effectLst/>
              </a:rPr>
              <a:t>:</a:t>
            </a:r>
          </a:p>
          <a:p>
            <a:pPr marL="171450" indent="-171450">
              <a:buFont typeface="Arial" panose="020B0604020202020204" pitchFamily="34" charset="0"/>
              <a:buChar char="•"/>
            </a:pPr>
            <a:r>
              <a:rPr lang="en-US" sz="1200" b="0" i="0" dirty="0">
                <a:effectLst/>
              </a:rPr>
              <a:t>it activates the DNA ends</a:t>
            </a:r>
            <a:endParaRPr lang="en-US" sz="1200" dirty="0"/>
          </a:p>
          <a:p>
            <a:pPr marL="171450" indent="-171450">
              <a:buFont typeface="Arial" panose="020B0604020202020204" pitchFamily="34" charset="0"/>
              <a:buChar char="•"/>
            </a:pPr>
            <a:r>
              <a:rPr lang="en-US" sz="1200" b="0" i="0" dirty="0">
                <a:effectLst/>
              </a:rPr>
              <a:t>provides the necessary energy</a:t>
            </a:r>
          </a:p>
          <a:p>
            <a:pPr marL="171450" indent="-171450">
              <a:buFont typeface="Arial" panose="020B0604020202020204" pitchFamily="34" charset="0"/>
              <a:buChar char="•"/>
            </a:pPr>
            <a:r>
              <a:rPr lang="en-US" sz="1200" b="0" i="0" dirty="0">
                <a:effectLst/>
              </a:rPr>
              <a:t>ensures the reaction occurs with high specificity. </a:t>
            </a:r>
            <a:endParaRPr lang="en-US" sz="1200" dirty="0"/>
          </a:p>
        </p:txBody>
      </p:sp>
      <p:sp>
        <p:nvSpPr>
          <p:cNvPr id="16" name="TextBox 15">
            <a:extLst>
              <a:ext uri="{FF2B5EF4-FFF2-40B4-BE49-F238E27FC236}">
                <a16:creationId xmlns:a16="http://schemas.microsoft.com/office/drawing/2014/main" id="{42E6700A-E92D-B12C-7D20-9FE1BF753D17}"/>
              </a:ext>
            </a:extLst>
          </p:cNvPr>
          <p:cNvSpPr txBox="1"/>
          <p:nvPr/>
        </p:nvSpPr>
        <p:spPr>
          <a:xfrm>
            <a:off x="10390405" y="4384301"/>
            <a:ext cx="1696940" cy="1754326"/>
          </a:xfrm>
          <a:prstGeom prst="rect">
            <a:avLst/>
          </a:prstGeom>
          <a:noFill/>
        </p:spPr>
        <p:txBody>
          <a:bodyPr wrap="square">
            <a:spAutoFit/>
          </a:bodyPr>
          <a:lstStyle/>
          <a:p>
            <a:r>
              <a:rPr lang="en-US" sz="1200" b="1" i="0" dirty="0">
                <a:effectLst/>
              </a:rPr>
              <a:t>Adapters</a:t>
            </a:r>
            <a:r>
              <a:rPr lang="en-US" sz="1200" b="0" i="0" dirty="0">
                <a:effectLst/>
              </a:rPr>
              <a:t>:</a:t>
            </a:r>
          </a:p>
          <a:p>
            <a:pPr marL="171450" indent="-171450">
              <a:buFont typeface="Arial" panose="020B0604020202020204" pitchFamily="34" charset="0"/>
              <a:buChar char="•"/>
            </a:pPr>
            <a:r>
              <a:rPr lang="en-US" sz="1200" b="0" i="0" dirty="0">
                <a:effectLst/>
              </a:rPr>
              <a:t>Flow cell binding site (linkers)</a:t>
            </a:r>
          </a:p>
          <a:p>
            <a:pPr marL="171450" indent="-171450">
              <a:buFont typeface="Arial" panose="020B0604020202020204" pitchFamily="34" charset="0"/>
              <a:buChar char="•"/>
            </a:pPr>
            <a:r>
              <a:rPr lang="en-US" sz="1200" dirty="0"/>
              <a:t>Sequencing primer binding site</a:t>
            </a:r>
          </a:p>
          <a:p>
            <a:pPr marL="171450" indent="-171450">
              <a:buFont typeface="Arial" panose="020B0604020202020204" pitchFamily="34" charset="0"/>
              <a:buChar char="•"/>
            </a:pPr>
            <a:r>
              <a:rPr lang="en-US" sz="1200" dirty="0"/>
              <a:t>Unique indexes to identify individual samples (added during PCR step)</a:t>
            </a:r>
          </a:p>
        </p:txBody>
      </p:sp>
    </p:spTree>
    <p:extLst>
      <p:ext uri="{BB962C8B-B14F-4D97-AF65-F5344CB8AC3E}">
        <p14:creationId xmlns:p14="http://schemas.microsoft.com/office/powerpoint/2010/main" val="1045671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68D0EF-865E-FDF6-D057-35DEA31C78D4}"/>
              </a:ext>
            </a:extLst>
          </p:cNvPr>
          <p:cNvSpPr txBox="1"/>
          <p:nvPr/>
        </p:nvSpPr>
        <p:spPr>
          <a:xfrm>
            <a:off x="5172783" y="251535"/>
            <a:ext cx="1283749" cy="461665"/>
          </a:xfrm>
          <a:prstGeom prst="rect">
            <a:avLst/>
          </a:prstGeom>
          <a:noFill/>
        </p:spPr>
        <p:txBody>
          <a:bodyPr wrap="none" rtlCol="0">
            <a:spAutoFit/>
          </a:bodyPr>
          <a:lstStyle/>
          <a:p>
            <a:r>
              <a:rPr lang="en-US" sz="2400" dirty="0" err="1"/>
              <a:t>DNAseq</a:t>
            </a:r>
            <a:endParaRPr lang="en-US" sz="2400" dirty="0"/>
          </a:p>
        </p:txBody>
      </p:sp>
      <p:sp>
        <p:nvSpPr>
          <p:cNvPr id="4" name="TextBox 3">
            <a:extLst>
              <a:ext uri="{FF2B5EF4-FFF2-40B4-BE49-F238E27FC236}">
                <a16:creationId xmlns:a16="http://schemas.microsoft.com/office/drawing/2014/main" id="{2CF9D62F-4CCD-831E-7660-9C9503C7D096}"/>
              </a:ext>
            </a:extLst>
          </p:cNvPr>
          <p:cNvSpPr txBox="1"/>
          <p:nvPr/>
        </p:nvSpPr>
        <p:spPr>
          <a:xfrm>
            <a:off x="1082703" y="662681"/>
            <a:ext cx="10026594" cy="6463308"/>
          </a:xfrm>
          <a:prstGeom prst="rect">
            <a:avLst/>
          </a:prstGeom>
          <a:noFill/>
        </p:spPr>
        <p:txBody>
          <a:bodyPr wrap="square" rtlCol="0">
            <a:spAutoFit/>
          </a:bodyPr>
          <a:lstStyle/>
          <a:p>
            <a:endParaRPr lang="en-US" sz="1600" dirty="0"/>
          </a:p>
          <a:p>
            <a:pPr marL="285750" indent="-285750">
              <a:buFont typeface="Arial" panose="020B0604020202020204" pitchFamily="34" charset="0"/>
              <a:buChar char="•"/>
            </a:pPr>
            <a:r>
              <a:rPr lang="en-US" sz="1600" dirty="0"/>
              <a:t>Many types of </a:t>
            </a:r>
            <a:r>
              <a:rPr lang="en-US" sz="1600" dirty="0" err="1"/>
              <a:t>DNAseq</a:t>
            </a:r>
            <a:r>
              <a:rPr lang="en-US" sz="1600" dirty="0"/>
              <a:t>: </a:t>
            </a:r>
          </a:p>
          <a:p>
            <a:endParaRPr lang="en-US" sz="1600" dirty="0"/>
          </a:p>
          <a:p>
            <a:pPr marL="742950" lvl="1" indent="-285750">
              <a:buFont typeface="Arial" panose="020B0604020202020204" pitchFamily="34" charset="0"/>
              <a:buChar char="•"/>
            </a:pPr>
            <a:r>
              <a:rPr lang="en-US" sz="1600" u="sng" dirty="0"/>
              <a:t>WGS- whole genome sequencing-</a:t>
            </a:r>
          </a:p>
          <a:p>
            <a:pPr marL="1200150" lvl="2" indent="-285750">
              <a:buFont typeface="Arial" panose="020B0604020202020204" pitchFamily="34" charset="0"/>
              <a:buChar char="•"/>
            </a:pPr>
            <a:r>
              <a:rPr lang="en-US" sz="1600" dirty="0"/>
              <a:t>Determine the complete DNA sequence of an organism’s genome</a:t>
            </a:r>
          </a:p>
          <a:p>
            <a:pPr marL="1200150" lvl="2" indent="-285750">
              <a:buFont typeface="Arial" panose="020B0604020202020204" pitchFamily="34" charset="0"/>
              <a:buChar char="•"/>
            </a:pPr>
            <a:r>
              <a:rPr lang="en-US" sz="1600" dirty="0"/>
              <a:t>Provides comprehensive view of the organism’s genetic make-up</a:t>
            </a:r>
          </a:p>
          <a:p>
            <a:pPr marL="1200150" lvl="2" indent="-285750">
              <a:buFont typeface="Arial" panose="020B0604020202020204" pitchFamily="34" charset="0"/>
              <a:buChar char="•"/>
            </a:pPr>
            <a:r>
              <a:rPr lang="en-US" sz="1600" dirty="0"/>
              <a:t>Includes both introns (non-coding) and exons (coding)</a:t>
            </a:r>
          </a:p>
          <a:p>
            <a:pPr marL="1200150" lvl="2" indent="-285750">
              <a:buFont typeface="Arial" panose="020B0604020202020204" pitchFamily="34" charset="0"/>
              <a:buChar char="•"/>
            </a:pPr>
            <a:r>
              <a:rPr lang="en-US" sz="1600" b="0" i="0" dirty="0">
                <a:solidFill>
                  <a:srgbClr val="001D35"/>
                </a:solidFill>
                <a:effectLst/>
              </a:rPr>
              <a:t>detects a broad spectrum of genetic variations, including single nucleotide variants, insertions, deletions, and structural variants, which may be missed by targeted sequencing methods. </a:t>
            </a:r>
          </a:p>
          <a:p>
            <a:pPr marL="1200150" lvl="2" indent="-285750">
              <a:buFont typeface="Arial" panose="020B0604020202020204" pitchFamily="34" charset="0"/>
              <a:buChar char="•"/>
            </a:pPr>
            <a:r>
              <a:rPr lang="en-US" sz="1600" dirty="0">
                <a:solidFill>
                  <a:srgbClr val="001D35"/>
                </a:solidFill>
              </a:rPr>
              <a:t>Disadvantage: cost, complex data analysis, ethical concerns</a:t>
            </a:r>
          </a:p>
          <a:p>
            <a:pPr lvl="2"/>
            <a:endParaRPr lang="en-US" sz="1600" dirty="0"/>
          </a:p>
          <a:p>
            <a:pPr marL="742950" lvl="1" indent="-285750">
              <a:buFont typeface="Arial" panose="020B0604020202020204" pitchFamily="34" charset="0"/>
              <a:buChar char="•"/>
            </a:pPr>
            <a:r>
              <a:rPr lang="en-US" sz="1600" u="sng" dirty="0"/>
              <a:t>Exome sequencing-</a:t>
            </a:r>
          </a:p>
          <a:p>
            <a:pPr marL="1200150" lvl="2" indent="-285750">
              <a:buFont typeface="Arial" panose="020B0604020202020204" pitchFamily="34" charset="0"/>
              <a:buChar char="•"/>
            </a:pPr>
            <a:r>
              <a:rPr lang="en-US" sz="1600" b="0" i="0" dirty="0">
                <a:effectLst/>
              </a:rPr>
              <a:t>Exome sequencing focuses on the exons-only the coding regions, rather than the entire genome, making it a more efficient and cost-effective approach. </a:t>
            </a:r>
          </a:p>
          <a:p>
            <a:pPr marL="1200150" lvl="2" indent="-285750">
              <a:buFont typeface="Arial" panose="020B0604020202020204" pitchFamily="34" charset="0"/>
              <a:buChar char="•"/>
            </a:pPr>
            <a:r>
              <a:rPr lang="en-US" sz="1600" dirty="0"/>
              <a:t>WGS library 1</a:t>
            </a:r>
            <a:r>
              <a:rPr lang="en-US" sz="1600" baseline="30000" dirty="0"/>
              <a:t>st</a:t>
            </a:r>
            <a:r>
              <a:rPr lang="en-US" sz="1600" dirty="0"/>
              <a:t> made, exomes are enriched and then sequenced</a:t>
            </a:r>
            <a:endParaRPr lang="en-US" sz="1600" b="0" i="0" dirty="0">
              <a:effectLst/>
            </a:endParaRPr>
          </a:p>
          <a:p>
            <a:pPr marL="1200150" lvl="2" indent="-285750">
              <a:buFont typeface="Arial" panose="020B0604020202020204" pitchFamily="34" charset="0"/>
              <a:buChar char="•"/>
            </a:pPr>
            <a:r>
              <a:rPr lang="en-US" sz="1600" dirty="0">
                <a:solidFill>
                  <a:srgbClr val="001D35"/>
                </a:solidFill>
              </a:rPr>
              <a:t>Disadvantage: can miss variants that may be in the non-coding regions that could influence regulation of gene expression</a:t>
            </a:r>
          </a:p>
          <a:p>
            <a:pPr lvl="2"/>
            <a:endParaRPr lang="en-US" sz="1600" dirty="0"/>
          </a:p>
          <a:p>
            <a:pPr marL="742950" lvl="1" indent="-285750">
              <a:buFont typeface="Arial" panose="020B0604020202020204" pitchFamily="34" charset="0"/>
              <a:buChar char="•"/>
            </a:pPr>
            <a:r>
              <a:rPr lang="en-US" sz="1600" u="sng" dirty="0"/>
              <a:t>Amplicon sequencing- </a:t>
            </a:r>
            <a:r>
              <a:rPr lang="en-US" sz="1600" dirty="0"/>
              <a:t>1</a:t>
            </a:r>
            <a:r>
              <a:rPr lang="en-US" sz="1600" baseline="30000" dirty="0"/>
              <a:t>st</a:t>
            </a:r>
            <a:r>
              <a:rPr lang="en-US" sz="1600" dirty="0"/>
              <a:t> PCR amplify targeted regions of the genome which are of interest which are then sequenced</a:t>
            </a:r>
          </a:p>
          <a:p>
            <a:pPr lvl="2"/>
            <a:endParaRPr lang="en-US" sz="1600" dirty="0"/>
          </a:p>
          <a:p>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124123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00AF5E-DD82-C6FB-9DFD-2BB451EC9D37}"/>
              </a:ext>
            </a:extLst>
          </p:cNvPr>
          <p:cNvSpPr txBox="1"/>
          <p:nvPr/>
        </p:nvSpPr>
        <p:spPr>
          <a:xfrm>
            <a:off x="4102088" y="80012"/>
            <a:ext cx="3987823" cy="461665"/>
          </a:xfrm>
          <a:prstGeom prst="rect">
            <a:avLst/>
          </a:prstGeom>
          <a:noFill/>
        </p:spPr>
        <p:txBody>
          <a:bodyPr wrap="none" rtlCol="0">
            <a:spAutoFit/>
          </a:bodyPr>
          <a:lstStyle/>
          <a:p>
            <a:r>
              <a:rPr lang="en-US" sz="2400" dirty="0"/>
              <a:t>Types of Library Preparations</a:t>
            </a:r>
          </a:p>
        </p:txBody>
      </p:sp>
      <p:sp>
        <p:nvSpPr>
          <p:cNvPr id="14" name="TextBox 13">
            <a:extLst>
              <a:ext uri="{FF2B5EF4-FFF2-40B4-BE49-F238E27FC236}">
                <a16:creationId xmlns:a16="http://schemas.microsoft.com/office/drawing/2014/main" id="{578F4CBA-4A4C-E7DF-9EAC-C0E7E352F876}"/>
              </a:ext>
            </a:extLst>
          </p:cNvPr>
          <p:cNvSpPr txBox="1"/>
          <p:nvPr/>
        </p:nvSpPr>
        <p:spPr>
          <a:xfrm>
            <a:off x="8458620" y="134992"/>
            <a:ext cx="3143105" cy="1015663"/>
          </a:xfrm>
          <a:prstGeom prst="rect">
            <a:avLst/>
          </a:prstGeom>
          <a:noFill/>
        </p:spPr>
        <p:txBody>
          <a:bodyPr wrap="square" rtlCol="0">
            <a:spAutoFit/>
          </a:bodyPr>
          <a:lstStyle/>
          <a:p>
            <a:r>
              <a:rPr lang="en-US" sz="1200" dirty="0"/>
              <a:t>2 PROBLEMS:</a:t>
            </a:r>
          </a:p>
          <a:p>
            <a:pPr marL="171450" indent="-171450">
              <a:buFont typeface="Arial" panose="020B0604020202020204" pitchFamily="34" charset="0"/>
              <a:buChar char="•"/>
            </a:pPr>
            <a:r>
              <a:rPr lang="en-US" sz="1200" dirty="0"/>
              <a:t>Most of our RNA in cells is rRNA- conserved, won’t see many differences- </a:t>
            </a:r>
            <a:r>
              <a:rPr lang="en-US" sz="1200" u="sng" dirty="0">
                <a:solidFill>
                  <a:srgbClr val="FF0000"/>
                </a:solidFill>
              </a:rPr>
              <a:t>want mRNA </a:t>
            </a:r>
            <a:r>
              <a:rPr lang="en-US" sz="1200" dirty="0"/>
              <a:t>and must remove rRNA</a:t>
            </a:r>
          </a:p>
          <a:p>
            <a:pPr marL="171450" indent="-171450">
              <a:buFont typeface="Arial" panose="020B0604020202020204" pitchFamily="34" charset="0"/>
              <a:buChar char="•"/>
            </a:pPr>
            <a:r>
              <a:rPr lang="en-US" sz="1200" dirty="0"/>
              <a:t>RNA is unstable- can’t sequence directly</a:t>
            </a:r>
          </a:p>
        </p:txBody>
      </p:sp>
      <p:grpSp>
        <p:nvGrpSpPr>
          <p:cNvPr id="19" name="Group 18">
            <a:extLst>
              <a:ext uri="{FF2B5EF4-FFF2-40B4-BE49-F238E27FC236}">
                <a16:creationId xmlns:a16="http://schemas.microsoft.com/office/drawing/2014/main" id="{4890ECD8-1160-943E-5DB0-AA1601766C9B}"/>
              </a:ext>
            </a:extLst>
          </p:cNvPr>
          <p:cNvGrpSpPr/>
          <p:nvPr/>
        </p:nvGrpSpPr>
        <p:grpSpPr>
          <a:xfrm>
            <a:off x="4102088" y="466499"/>
            <a:ext cx="8089912" cy="6335483"/>
            <a:chOff x="1717618" y="-1885405"/>
            <a:chExt cx="8089912" cy="6335483"/>
          </a:xfrm>
        </p:grpSpPr>
        <p:sp>
          <p:nvSpPr>
            <p:cNvPr id="3" name="TextBox 2">
              <a:extLst>
                <a:ext uri="{FF2B5EF4-FFF2-40B4-BE49-F238E27FC236}">
                  <a16:creationId xmlns:a16="http://schemas.microsoft.com/office/drawing/2014/main" id="{1291CC68-3F4A-4A6B-2315-0202C2B128A2}"/>
                </a:ext>
              </a:extLst>
            </p:cNvPr>
            <p:cNvSpPr txBox="1"/>
            <p:nvPr/>
          </p:nvSpPr>
          <p:spPr>
            <a:xfrm>
              <a:off x="1717618" y="-1885405"/>
              <a:ext cx="3620928" cy="369332"/>
            </a:xfrm>
            <a:prstGeom prst="rect">
              <a:avLst/>
            </a:prstGeom>
            <a:noFill/>
          </p:spPr>
          <p:txBody>
            <a:bodyPr wrap="none" rtlCol="0">
              <a:spAutoFit/>
            </a:bodyPr>
            <a:lstStyle/>
            <a:p>
              <a:r>
                <a:rPr lang="en-US" dirty="0">
                  <a:solidFill>
                    <a:srgbClr val="FF0000"/>
                  </a:solidFill>
                </a:rPr>
                <a:t>2. </a:t>
              </a:r>
              <a:r>
                <a:rPr lang="en-US" dirty="0" err="1">
                  <a:solidFill>
                    <a:srgbClr val="FF0000"/>
                  </a:solidFill>
                </a:rPr>
                <a:t>RNAseq</a:t>
              </a:r>
              <a:r>
                <a:rPr lang="en-US" dirty="0">
                  <a:solidFill>
                    <a:srgbClr val="FF0000"/>
                  </a:solidFill>
                </a:rPr>
                <a:t>- Transcriptomic studies</a:t>
              </a:r>
            </a:p>
          </p:txBody>
        </p:sp>
        <p:grpSp>
          <p:nvGrpSpPr>
            <p:cNvPr id="13" name="Group 12">
              <a:extLst>
                <a:ext uri="{FF2B5EF4-FFF2-40B4-BE49-F238E27FC236}">
                  <a16:creationId xmlns:a16="http://schemas.microsoft.com/office/drawing/2014/main" id="{3F2199BF-A80D-3A5B-7DB1-EA333589F9C4}"/>
                </a:ext>
              </a:extLst>
            </p:cNvPr>
            <p:cNvGrpSpPr/>
            <p:nvPr/>
          </p:nvGrpSpPr>
          <p:grpSpPr>
            <a:xfrm>
              <a:off x="3717297" y="-1097053"/>
              <a:ext cx="6090233" cy="5547131"/>
              <a:chOff x="3840480" y="436085"/>
              <a:chExt cx="5447531" cy="4621251"/>
            </a:xfrm>
          </p:grpSpPr>
          <p:pic>
            <p:nvPicPr>
              <p:cNvPr id="5" name="Picture 4">
                <a:extLst>
                  <a:ext uri="{FF2B5EF4-FFF2-40B4-BE49-F238E27FC236}">
                    <a16:creationId xmlns:a16="http://schemas.microsoft.com/office/drawing/2014/main" id="{2C1B365E-C5EC-412E-5EA9-2B207014D648}"/>
                  </a:ext>
                </a:extLst>
              </p:cNvPr>
              <p:cNvPicPr>
                <a:picLocks noChangeAspect="1"/>
              </p:cNvPicPr>
              <p:nvPr/>
            </p:nvPicPr>
            <p:blipFill>
              <a:blip r:embed="rId3"/>
              <a:stretch>
                <a:fillRect/>
              </a:stretch>
            </p:blipFill>
            <p:spPr>
              <a:xfrm>
                <a:off x="4065067" y="436085"/>
                <a:ext cx="5222944" cy="4621251"/>
              </a:xfrm>
              <a:prstGeom prst="rect">
                <a:avLst/>
              </a:prstGeom>
            </p:spPr>
          </p:pic>
          <p:sp>
            <p:nvSpPr>
              <p:cNvPr id="6" name="TextBox 5">
                <a:extLst>
                  <a:ext uri="{FF2B5EF4-FFF2-40B4-BE49-F238E27FC236}">
                    <a16:creationId xmlns:a16="http://schemas.microsoft.com/office/drawing/2014/main" id="{8CA01CCF-55A9-3945-7392-5A6FDA61A57F}"/>
                  </a:ext>
                </a:extLst>
              </p:cNvPr>
              <p:cNvSpPr txBox="1"/>
              <p:nvPr/>
            </p:nvSpPr>
            <p:spPr>
              <a:xfrm>
                <a:off x="6879229" y="1132588"/>
                <a:ext cx="2282197" cy="846137"/>
              </a:xfrm>
              <a:prstGeom prst="rect">
                <a:avLst/>
              </a:prstGeom>
              <a:noFill/>
            </p:spPr>
            <p:txBody>
              <a:bodyPr wrap="square" rtlCol="0">
                <a:spAutoFit/>
              </a:bodyPr>
              <a:lstStyle/>
              <a:p>
                <a:pPr marL="171450" indent="-171450">
                  <a:buFont typeface="Arial" panose="020B0604020202020204" pitchFamily="34" charset="0"/>
                  <a:buChar char="•"/>
                </a:pPr>
                <a:r>
                  <a:rPr lang="en-US" sz="1200" dirty="0"/>
                  <a:t>Reverse transcriptase- generates ssDNA also known as 1</a:t>
                </a:r>
                <a:r>
                  <a:rPr lang="en-US" sz="1200" baseline="30000" dirty="0"/>
                  <a:t>st</a:t>
                </a:r>
                <a:r>
                  <a:rPr lang="en-US" sz="1200" dirty="0"/>
                  <a:t> strand synthesis</a:t>
                </a:r>
              </a:p>
              <a:p>
                <a:pPr marL="171450" indent="-171450">
                  <a:buFont typeface="Arial" panose="020B0604020202020204" pitchFamily="34" charset="0"/>
                  <a:buChar char="•"/>
                </a:pPr>
                <a:r>
                  <a:rPr lang="en-US" sz="1200" dirty="0"/>
                  <a:t>DNA polymerase- generates double stranded DNA = cDNA</a:t>
                </a:r>
              </a:p>
            </p:txBody>
          </p:sp>
          <p:sp>
            <p:nvSpPr>
              <p:cNvPr id="7" name="Rectangle 6">
                <a:extLst>
                  <a:ext uri="{FF2B5EF4-FFF2-40B4-BE49-F238E27FC236}">
                    <a16:creationId xmlns:a16="http://schemas.microsoft.com/office/drawing/2014/main" id="{9F470F0D-4395-9576-8D0A-394282BE54CE}"/>
                  </a:ext>
                </a:extLst>
              </p:cNvPr>
              <p:cNvSpPr/>
              <p:nvPr/>
            </p:nvSpPr>
            <p:spPr>
              <a:xfrm>
                <a:off x="3840480" y="3697357"/>
                <a:ext cx="787179" cy="5009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4DE47861-FBEB-F8A8-1E50-E1D60BB27D97}"/>
                </a:ext>
              </a:extLst>
            </p:cNvPr>
            <p:cNvSpPr txBox="1"/>
            <p:nvPr/>
          </p:nvSpPr>
          <p:spPr>
            <a:xfrm>
              <a:off x="7198877" y="1151098"/>
              <a:ext cx="2018378"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a:t>General library preparation workflow (previous slide)</a:t>
              </a:r>
            </a:p>
          </p:txBody>
        </p:sp>
      </p:grpSp>
      <p:sp>
        <p:nvSpPr>
          <p:cNvPr id="23" name="Rectangle 22">
            <a:extLst>
              <a:ext uri="{FF2B5EF4-FFF2-40B4-BE49-F238E27FC236}">
                <a16:creationId xmlns:a16="http://schemas.microsoft.com/office/drawing/2014/main" id="{0AB74B3E-4506-F565-3D5A-3687670BF8C9}"/>
              </a:ext>
            </a:extLst>
          </p:cNvPr>
          <p:cNvSpPr/>
          <p:nvPr/>
        </p:nvSpPr>
        <p:spPr>
          <a:xfrm>
            <a:off x="1563683" y="3286455"/>
            <a:ext cx="880051" cy="6012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40" name="TextBox 15439">
            <a:extLst>
              <a:ext uri="{FF2B5EF4-FFF2-40B4-BE49-F238E27FC236}">
                <a16:creationId xmlns:a16="http://schemas.microsoft.com/office/drawing/2014/main" id="{AFBB35C3-B8BF-03CF-C47C-8FDEA002B98D}"/>
              </a:ext>
            </a:extLst>
          </p:cNvPr>
          <p:cNvSpPr txBox="1"/>
          <p:nvPr/>
        </p:nvSpPr>
        <p:spPr>
          <a:xfrm>
            <a:off x="10918676" y="6451565"/>
            <a:ext cx="1127232" cy="246221"/>
          </a:xfrm>
          <a:prstGeom prst="rect">
            <a:avLst/>
          </a:prstGeom>
          <a:noFill/>
        </p:spPr>
        <p:txBody>
          <a:bodyPr wrap="none" rtlCol="0">
            <a:spAutoFit/>
          </a:bodyPr>
          <a:lstStyle/>
          <a:p>
            <a:r>
              <a:rPr lang="en-US" sz="1000" dirty="0"/>
              <a:t>IDT Technologies</a:t>
            </a:r>
          </a:p>
        </p:txBody>
      </p:sp>
      <p:grpSp>
        <p:nvGrpSpPr>
          <p:cNvPr id="4" name="Group 3">
            <a:extLst>
              <a:ext uri="{FF2B5EF4-FFF2-40B4-BE49-F238E27FC236}">
                <a16:creationId xmlns:a16="http://schemas.microsoft.com/office/drawing/2014/main" id="{7F503CA0-9CB9-EE68-4986-E99588806C43}"/>
              </a:ext>
            </a:extLst>
          </p:cNvPr>
          <p:cNvGrpSpPr/>
          <p:nvPr/>
        </p:nvGrpSpPr>
        <p:grpSpPr>
          <a:xfrm>
            <a:off x="775726" y="1040216"/>
            <a:ext cx="6070123" cy="1825007"/>
            <a:chOff x="6465493" y="2093917"/>
            <a:chExt cx="6070123" cy="1825007"/>
          </a:xfrm>
        </p:grpSpPr>
        <p:sp>
          <p:nvSpPr>
            <p:cNvPr id="9" name="TextBox 8">
              <a:extLst>
                <a:ext uri="{FF2B5EF4-FFF2-40B4-BE49-F238E27FC236}">
                  <a16:creationId xmlns:a16="http://schemas.microsoft.com/office/drawing/2014/main" id="{01834716-FD62-7BD7-17ED-02A66279B5E2}"/>
                </a:ext>
              </a:extLst>
            </p:cNvPr>
            <p:cNvSpPr txBox="1"/>
            <p:nvPr/>
          </p:nvSpPr>
          <p:spPr>
            <a:xfrm>
              <a:off x="6465493" y="2093917"/>
              <a:ext cx="6070123" cy="276999"/>
            </a:xfrm>
            <a:prstGeom prst="rect">
              <a:avLst/>
            </a:prstGeom>
            <a:noFill/>
          </p:spPr>
          <p:txBody>
            <a:bodyPr wrap="none" rtlCol="0">
              <a:spAutoFit/>
            </a:bodyPr>
            <a:lstStyle/>
            <a:p>
              <a:r>
                <a:rPr lang="en-US" sz="1200" b="1" u="sng" dirty="0"/>
                <a:t>POSITIVE SELECTION OF mRNA: </a:t>
              </a:r>
              <a:r>
                <a:rPr lang="en-US" sz="1200" b="1" u="sng" dirty="0" err="1"/>
                <a:t>mRNAseq</a:t>
              </a:r>
              <a:r>
                <a:rPr lang="en-US" sz="1200" b="1" u="sng" dirty="0"/>
                <a:t> (capture mRNA using </a:t>
              </a:r>
              <a:r>
                <a:rPr lang="en-US" sz="1200" b="1" u="sng" dirty="0" err="1"/>
                <a:t>polyA</a:t>
              </a:r>
              <a:r>
                <a:rPr lang="en-US" sz="1200" b="1" u="sng" dirty="0"/>
                <a:t> tail and KEEP)</a:t>
              </a:r>
            </a:p>
          </p:txBody>
        </p:sp>
        <p:pic>
          <p:nvPicPr>
            <p:cNvPr id="10" name="Picture 2" descr="SENSE mRNA-Seq Library Prep Kit | Lexogen">
              <a:extLst>
                <a:ext uri="{FF2B5EF4-FFF2-40B4-BE49-F238E27FC236}">
                  <a16:creationId xmlns:a16="http://schemas.microsoft.com/office/drawing/2014/main" id="{D8E1867B-FE15-168A-8BC9-82340B019F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9219" y="2379644"/>
              <a:ext cx="4384128" cy="153928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10EAFBF2-3CE1-513F-A591-1B789348E117}"/>
                </a:ext>
              </a:extLst>
            </p:cNvPr>
            <p:cNvSpPr/>
            <p:nvPr/>
          </p:nvSpPr>
          <p:spPr>
            <a:xfrm>
              <a:off x="7657105" y="2865991"/>
              <a:ext cx="2926080" cy="7059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85B45667-6E1D-32B8-9F61-8374C64FDD6C}"/>
              </a:ext>
            </a:extLst>
          </p:cNvPr>
          <p:cNvGrpSpPr/>
          <p:nvPr/>
        </p:nvGrpSpPr>
        <p:grpSpPr>
          <a:xfrm>
            <a:off x="121335" y="2606904"/>
            <a:ext cx="6902038" cy="3415265"/>
            <a:chOff x="5846718" y="3942877"/>
            <a:chExt cx="6902038" cy="3415265"/>
          </a:xfrm>
        </p:grpSpPr>
        <p:grpSp>
          <p:nvGrpSpPr>
            <p:cNvPr id="29" name="Group 28">
              <a:extLst>
                <a:ext uri="{FF2B5EF4-FFF2-40B4-BE49-F238E27FC236}">
                  <a16:creationId xmlns:a16="http://schemas.microsoft.com/office/drawing/2014/main" id="{D6A86E95-E900-D9FE-0C9C-232F47527372}"/>
                </a:ext>
              </a:extLst>
            </p:cNvPr>
            <p:cNvGrpSpPr/>
            <p:nvPr/>
          </p:nvGrpSpPr>
          <p:grpSpPr>
            <a:xfrm>
              <a:off x="5846718" y="3942877"/>
              <a:ext cx="6902038" cy="3415265"/>
              <a:chOff x="5846718" y="3942877"/>
              <a:chExt cx="6902038" cy="3415265"/>
            </a:xfrm>
          </p:grpSpPr>
          <p:pic>
            <p:nvPicPr>
              <p:cNvPr id="31" name="Picture 30">
                <a:extLst>
                  <a:ext uri="{FF2B5EF4-FFF2-40B4-BE49-F238E27FC236}">
                    <a16:creationId xmlns:a16="http://schemas.microsoft.com/office/drawing/2014/main" id="{78CD646E-A6BE-732B-9DE3-89CC349E46CE}"/>
                  </a:ext>
                </a:extLst>
              </p:cNvPr>
              <p:cNvPicPr>
                <a:picLocks noChangeAspect="1"/>
              </p:cNvPicPr>
              <p:nvPr/>
            </p:nvPicPr>
            <p:blipFill>
              <a:blip r:embed="rId5"/>
              <a:stretch>
                <a:fillRect/>
              </a:stretch>
            </p:blipFill>
            <p:spPr>
              <a:xfrm>
                <a:off x="5846718" y="4396125"/>
                <a:ext cx="6345282" cy="2962017"/>
              </a:xfrm>
              <a:prstGeom prst="rect">
                <a:avLst/>
              </a:prstGeom>
            </p:spPr>
          </p:pic>
          <p:sp>
            <p:nvSpPr>
              <p:cNvPr id="32" name="TextBox 31">
                <a:extLst>
                  <a:ext uri="{FF2B5EF4-FFF2-40B4-BE49-F238E27FC236}">
                    <a16:creationId xmlns:a16="http://schemas.microsoft.com/office/drawing/2014/main" id="{FD9818A1-76BD-A54F-E361-89F431E71BB7}"/>
                  </a:ext>
                </a:extLst>
              </p:cNvPr>
              <p:cNvSpPr txBox="1"/>
              <p:nvPr/>
            </p:nvSpPr>
            <p:spPr>
              <a:xfrm>
                <a:off x="6424652" y="3942877"/>
                <a:ext cx="6324104" cy="276999"/>
              </a:xfrm>
              <a:prstGeom prst="rect">
                <a:avLst/>
              </a:prstGeom>
              <a:noFill/>
            </p:spPr>
            <p:txBody>
              <a:bodyPr wrap="none" rtlCol="0">
                <a:spAutoFit/>
              </a:bodyPr>
              <a:lstStyle/>
              <a:p>
                <a:r>
                  <a:rPr lang="en-US" sz="1200" b="1" u="sng" dirty="0"/>
                  <a:t>NEGATIVE SELECTION OF mRNA: </a:t>
                </a:r>
                <a:r>
                  <a:rPr lang="en-US" sz="1200" b="1" u="sng" dirty="0" err="1"/>
                  <a:t>TotalRNAseq</a:t>
                </a:r>
                <a:r>
                  <a:rPr lang="en-US" sz="1200" b="1" u="sng" dirty="0"/>
                  <a:t> (capture rRNA using probes and DISCARD)</a:t>
                </a:r>
              </a:p>
            </p:txBody>
          </p:sp>
        </p:grpSp>
        <p:sp>
          <p:nvSpPr>
            <p:cNvPr id="30" name="TextBox 29">
              <a:extLst>
                <a:ext uri="{FF2B5EF4-FFF2-40B4-BE49-F238E27FC236}">
                  <a16:creationId xmlns:a16="http://schemas.microsoft.com/office/drawing/2014/main" id="{32A2EC12-89D1-47C3-79EA-827B892A566F}"/>
                </a:ext>
              </a:extLst>
            </p:cNvPr>
            <p:cNvSpPr txBox="1"/>
            <p:nvPr/>
          </p:nvSpPr>
          <p:spPr>
            <a:xfrm>
              <a:off x="11555287" y="6572414"/>
              <a:ext cx="636713" cy="246221"/>
            </a:xfrm>
            <a:prstGeom prst="rect">
              <a:avLst/>
            </a:prstGeom>
            <a:noFill/>
          </p:spPr>
          <p:txBody>
            <a:bodyPr wrap="none" rtlCol="0">
              <a:spAutoFit/>
            </a:bodyPr>
            <a:lstStyle/>
            <a:p>
              <a:r>
                <a:rPr lang="en-US" sz="1000" dirty="0"/>
                <a:t>Illumina</a:t>
              </a:r>
            </a:p>
          </p:txBody>
        </p:sp>
      </p:grpSp>
    </p:spTree>
    <p:extLst>
      <p:ext uri="{BB962C8B-B14F-4D97-AF65-F5344CB8AC3E}">
        <p14:creationId xmlns:p14="http://schemas.microsoft.com/office/powerpoint/2010/main" val="7823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E202C-9387-22F3-3646-AAD5C67646D5}"/>
              </a:ext>
            </a:extLst>
          </p:cNvPr>
          <p:cNvSpPr txBox="1"/>
          <p:nvPr/>
        </p:nvSpPr>
        <p:spPr>
          <a:xfrm>
            <a:off x="3458816" y="418942"/>
            <a:ext cx="5638467" cy="461665"/>
          </a:xfrm>
          <a:prstGeom prst="rect">
            <a:avLst/>
          </a:prstGeom>
          <a:noFill/>
        </p:spPr>
        <p:txBody>
          <a:bodyPr wrap="none" rtlCol="0">
            <a:spAutoFit/>
          </a:bodyPr>
          <a:lstStyle/>
          <a:p>
            <a:r>
              <a:rPr lang="en-US" sz="2400" dirty="0" err="1"/>
              <a:t>RNAseq</a:t>
            </a:r>
            <a:r>
              <a:rPr lang="en-US" sz="2400" dirty="0"/>
              <a:t> and the study of Transcriptomics</a:t>
            </a:r>
          </a:p>
        </p:txBody>
      </p:sp>
      <p:sp>
        <p:nvSpPr>
          <p:cNvPr id="3" name="TextBox 2">
            <a:extLst>
              <a:ext uri="{FF2B5EF4-FFF2-40B4-BE49-F238E27FC236}">
                <a16:creationId xmlns:a16="http://schemas.microsoft.com/office/drawing/2014/main" id="{B54D1A4B-6419-6DAA-E9F7-E395B99589B2}"/>
              </a:ext>
            </a:extLst>
          </p:cNvPr>
          <p:cNvSpPr txBox="1"/>
          <p:nvPr/>
        </p:nvSpPr>
        <p:spPr>
          <a:xfrm>
            <a:off x="1082703" y="1443841"/>
            <a:ext cx="10026594"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Transcriptomics- study of the whole transcriptome (all the genes that are actively made into mRNA) as it changes over a variety of biological changes</a:t>
            </a:r>
          </a:p>
          <a:p>
            <a:endParaRPr lang="en-US" dirty="0"/>
          </a:p>
          <a:p>
            <a:pPr marL="285750" indent="-285750">
              <a:buFont typeface="Arial" panose="020B0604020202020204" pitchFamily="34" charset="0"/>
              <a:buChar char="•"/>
            </a:pPr>
            <a:r>
              <a:rPr lang="en-US" dirty="0"/>
              <a:t>Driving force of how disease state or abnormal biological state FUNCTIONALLY differs from normal state in Genomics</a:t>
            </a:r>
          </a:p>
          <a:p>
            <a:endParaRPr lang="en-US" dirty="0"/>
          </a:p>
          <a:p>
            <a:pPr marL="285750" indent="-285750">
              <a:buFont typeface="Arial" panose="020B0604020202020204" pitchFamily="34" charset="0"/>
              <a:buChar char="•"/>
            </a:pPr>
            <a:r>
              <a:rPr lang="en-US" dirty="0"/>
              <a:t>Many types of </a:t>
            </a:r>
            <a:r>
              <a:rPr lang="en-US" dirty="0" err="1"/>
              <a:t>RNAseq</a:t>
            </a:r>
            <a:r>
              <a:rPr lang="en-US" dirty="0"/>
              <a:t>: </a:t>
            </a:r>
          </a:p>
          <a:p>
            <a:pPr marL="742950" lvl="1" indent="-285750">
              <a:buFont typeface="Arial" panose="020B0604020202020204" pitchFamily="34" charset="0"/>
              <a:buChar char="•"/>
            </a:pPr>
            <a:r>
              <a:rPr lang="en-US" dirty="0" err="1">
                <a:solidFill>
                  <a:srgbClr val="FF0000"/>
                </a:solidFill>
              </a:rPr>
              <a:t>mRNAseq</a:t>
            </a:r>
            <a:r>
              <a:rPr lang="en-US" dirty="0">
                <a:solidFill>
                  <a:srgbClr val="FF0000"/>
                </a:solidFill>
              </a:rPr>
              <a:t>- positive selection via </a:t>
            </a:r>
            <a:r>
              <a:rPr lang="en-US" dirty="0" err="1">
                <a:solidFill>
                  <a:srgbClr val="FF0000"/>
                </a:solidFill>
              </a:rPr>
              <a:t>polyA</a:t>
            </a:r>
            <a:r>
              <a:rPr lang="en-US" dirty="0">
                <a:solidFill>
                  <a:srgbClr val="FF0000"/>
                </a:solidFill>
              </a:rPr>
              <a:t> tail</a:t>
            </a:r>
          </a:p>
          <a:p>
            <a:pPr marL="742950" lvl="1" indent="-285750">
              <a:buFont typeface="Arial" panose="020B0604020202020204" pitchFamily="34" charset="0"/>
              <a:buChar char="•"/>
            </a:pPr>
            <a:r>
              <a:rPr lang="en-US" dirty="0">
                <a:solidFill>
                  <a:srgbClr val="FF0000"/>
                </a:solidFill>
              </a:rPr>
              <a:t>total </a:t>
            </a:r>
            <a:r>
              <a:rPr lang="en-US" dirty="0" err="1">
                <a:solidFill>
                  <a:srgbClr val="FF0000"/>
                </a:solidFill>
              </a:rPr>
              <a:t>RNAseq</a:t>
            </a:r>
            <a:r>
              <a:rPr lang="en-US" dirty="0">
                <a:solidFill>
                  <a:srgbClr val="FF0000"/>
                </a:solidFill>
              </a:rPr>
              <a:t>- negative selection by eliminating the rRNA using </a:t>
            </a:r>
            <a:r>
              <a:rPr lang="en-US" dirty="0" err="1">
                <a:solidFill>
                  <a:srgbClr val="FF0000"/>
                </a:solidFill>
              </a:rPr>
              <a:t>RNAseH</a:t>
            </a:r>
            <a:r>
              <a:rPr lang="en-US" dirty="0">
                <a:solidFill>
                  <a:srgbClr val="FF0000"/>
                </a:solidFill>
              </a:rPr>
              <a:t> or biotin-</a:t>
            </a:r>
            <a:r>
              <a:rPr lang="en-US" dirty="0" err="1">
                <a:solidFill>
                  <a:srgbClr val="FF0000"/>
                </a:solidFill>
              </a:rPr>
              <a:t>streptadivin</a:t>
            </a:r>
            <a:r>
              <a:rPr lang="en-US" dirty="0">
                <a:solidFill>
                  <a:srgbClr val="FF0000"/>
                </a:solidFill>
              </a:rPr>
              <a:t>-bead system</a:t>
            </a:r>
          </a:p>
          <a:p>
            <a:pPr marL="742950" lvl="1" indent="-285750">
              <a:buFont typeface="Arial" panose="020B0604020202020204" pitchFamily="34" charset="0"/>
              <a:buChar char="•"/>
            </a:pPr>
            <a:r>
              <a:rPr lang="en-US" dirty="0" err="1"/>
              <a:t>miRNAseq</a:t>
            </a:r>
            <a:r>
              <a:rPr lang="en-US" dirty="0"/>
              <a:t>- (regulation)</a:t>
            </a:r>
          </a:p>
          <a:p>
            <a:pPr marL="742950" lvl="1" indent="-285750">
              <a:buFont typeface="Arial" panose="020B0604020202020204" pitchFamily="34" charset="0"/>
              <a:buChar char="•"/>
            </a:pPr>
            <a:r>
              <a:rPr lang="en-US" dirty="0"/>
              <a:t>RIP-seq- RNA IP (regulation)</a:t>
            </a:r>
          </a:p>
          <a:p>
            <a:pPr marL="742950" lvl="1" indent="-285750">
              <a:buFont typeface="Arial" panose="020B0604020202020204" pitchFamily="34" charset="0"/>
              <a:buChar char="•"/>
            </a:pPr>
            <a:r>
              <a:rPr lang="en-US" dirty="0"/>
              <a:t>single cell </a:t>
            </a:r>
            <a:r>
              <a:rPr lang="en-US" dirty="0" err="1"/>
              <a:t>RNAseq</a:t>
            </a:r>
            <a:endParaRPr lang="en-US" dirty="0"/>
          </a:p>
          <a:p>
            <a:pPr marL="742950" lvl="1" indent="-285750">
              <a:buFont typeface="Arial" panose="020B0604020202020204" pitchFamily="34" charset="0"/>
              <a:buChar char="•"/>
            </a:pPr>
            <a:r>
              <a:rPr lang="en-US" dirty="0"/>
              <a:t>spatial </a:t>
            </a:r>
            <a:r>
              <a:rPr lang="en-US" dirty="0" err="1"/>
              <a:t>RNAseq</a:t>
            </a:r>
            <a:endParaRPr lang="en-US" dirty="0"/>
          </a:p>
        </p:txBody>
      </p:sp>
    </p:spTree>
    <p:extLst>
      <p:ext uri="{BB962C8B-B14F-4D97-AF65-F5344CB8AC3E}">
        <p14:creationId xmlns:p14="http://schemas.microsoft.com/office/powerpoint/2010/main" val="4104379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5081154-2D34-4A71-CD46-65FDE48680A8}"/>
              </a:ext>
            </a:extLst>
          </p:cNvPr>
          <p:cNvGrpSpPr/>
          <p:nvPr/>
        </p:nvGrpSpPr>
        <p:grpSpPr>
          <a:xfrm>
            <a:off x="271288" y="445273"/>
            <a:ext cx="3795710" cy="6463308"/>
            <a:chOff x="271288" y="445273"/>
            <a:chExt cx="3795710" cy="6463308"/>
          </a:xfrm>
        </p:grpSpPr>
        <p:sp>
          <p:nvSpPr>
            <p:cNvPr id="3" name="TextBox 2">
              <a:extLst>
                <a:ext uri="{FF2B5EF4-FFF2-40B4-BE49-F238E27FC236}">
                  <a16:creationId xmlns:a16="http://schemas.microsoft.com/office/drawing/2014/main" id="{99F8BB7F-CD9F-B60B-7BF5-F3308C857A52}"/>
                </a:ext>
              </a:extLst>
            </p:cNvPr>
            <p:cNvSpPr txBox="1"/>
            <p:nvPr/>
          </p:nvSpPr>
          <p:spPr>
            <a:xfrm>
              <a:off x="271288" y="445273"/>
              <a:ext cx="3713714" cy="6463308"/>
            </a:xfrm>
            <a:prstGeom prst="rect">
              <a:avLst/>
            </a:prstGeom>
            <a:noFill/>
          </p:spPr>
          <p:txBody>
            <a:bodyPr wrap="square" rtlCol="0">
              <a:spAutoFit/>
            </a:bodyPr>
            <a:lstStyle/>
            <a:p>
              <a:pPr algn="ctr"/>
              <a:r>
                <a:rPr lang="en-US" u="sng" dirty="0" err="1"/>
                <a:t>miRNAseq</a:t>
              </a:r>
              <a:r>
                <a:rPr lang="en-US" u="sng" dirty="0"/>
                <a:t>-microRNA</a:t>
              </a:r>
            </a:p>
            <a:p>
              <a:endParaRPr lang="en-US" sz="1200" dirty="0"/>
            </a:p>
            <a:p>
              <a:r>
                <a:rPr lang="en-US" sz="1200" dirty="0"/>
                <a:t>miRNA Function in post-transcriptional regulation of mRNA (inhibit or degrade)</a:t>
              </a:r>
            </a:p>
            <a:p>
              <a:endParaRPr lang="en-US" sz="1200" dirty="0"/>
            </a:p>
            <a:p>
              <a:endParaRPr lang="en-US" sz="1200" dirty="0"/>
            </a:p>
            <a:p>
              <a:r>
                <a:rPr lang="en-US" sz="1200" dirty="0"/>
                <a:t>Isolate TOTAL RNA</a:t>
              </a:r>
            </a:p>
            <a:p>
              <a:endParaRPr lang="en-US" sz="1200" dirty="0"/>
            </a:p>
            <a:p>
              <a:r>
                <a:rPr lang="en-US" sz="1200" dirty="0"/>
                <a:t>Proceed with library preparation as normal</a:t>
              </a:r>
            </a:p>
            <a:p>
              <a:endParaRPr lang="en-US" sz="1200" dirty="0"/>
            </a:p>
            <a:p>
              <a:r>
                <a:rPr lang="en-US" sz="1200" dirty="0"/>
                <a:t>After PCR, perform gel electrophoresis to excise bank corresponding to miRNA</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r>
                <a:rPr lang="en-US" sz="1200" dirty="0"/>
                <a:t>Purification of the DNA in the band which corresponds to miRNA</a:t>
              </a:r>
            </a:p>
          </p:txBody>
        </p:sp>
        <p:pic>
          <p:nvPicPr>
            <p:cNvPr id="15362" name="Picture 2" descr="Small RNA Library Prep Kit for Illumina | Norgen Biotek Corp.">
              <a:extLst>
                <a:ext uri="{FF2B5EF4-FFF2-40B4-BE49-F238E27FC236}">
                  <a16:creationId xmlns:a16="http://schemas.microsoft.com/office/drawing/2014/main" id="{4D031ED5-CD7E-8797-5183-B31DA02A0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284" y="2823177"/>
              <a:ext cx="3713714" cy="3250516"/>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TextBox 15">
            <a:extLst>
              <a:ext uri="{FF2B5EF4-FFF2-40B4-BE49-F238E27FC236}">
                <a16:creationId xmlns:a16="http://schemas.microsoft.com/office/drawing/2014/main" id="{A71AE9A0-670C-139D-5BAE-650A952D9153}"/>
              </a:ext>
            </a:extLst>
          </p:cNvPr>
          <p:cNvSpPr txBox="1"/>
          <p:nvPr/>
        </p:nvSpPr>
        <p:spPr>
          <a:xfrm>
            <a:off x="5188014" y="370411"/>
            <a:ext cx="3297235" cy="1938992"/>
          </a:xfrm>
          <a:prstGeom prst="rect">
            <a:avLst/>
          </a:prstGeom>
          <a:noFill/>
        </p:spPr>
        <p:txBody>
          <a:bodyPr wrap="square" rtlCol="0">
            <a:spAutoFit/>
          </a:bodyPr>
          <a:lstStyle/>
          <a:p>
            <a:pPr algn="ctr"/>
            <a:r>
              <a:rPr lang="en-US" u="sng" dirty="0" err="1"/>
              <a:t>RIPseq</a:t>
            </a:r>
            <a:endParaRPr lang="en-US" u="sng" dirty="0"/>
          </a:p>
          <a:p>
            <a:endParaRPr lang="en-US" dirty="0"/>
          </a:p>
          <a:p>
            <a:r>
              <a:rPr lang="en-US" sz="1200" dirty="0"/>
              <a:t>Maps RNA binding sites for proteins.</a:t>
            </a:r>
          </a:p>
          <a:p>
            <a:r>
              <a:rPr lang="en-US" sz="1200" dirty="0">
                <a:solidFill>
                  <a:srgbClr val="001D35"/>
                </a:solidFill>
              </a:rPr>
              <a:t>C</a:t>
            </a:r>
            <a:r>
              <a:rPr lang="en-US" sz="1200" b="0" i="0" dirty="0">
                <a:solidFill>
                  <a:srgbClr val="001D35"/>
                </a:solidFill>
                <a:effectLst/>
              </a:rPr>
              <a:t>rucial for various cellular functions, including DNA repair, RNA splicing, protein synthesis, and gene regulation, and disruptions in these interactions can lead to diseases. </a:t>
            </a:r>
          </a:p>
          <a:p>
            <a:endParaRPr lang="en-US" sz="1200" dirty="0">
              <a:solidFill>
                <a:srgbClr val="001D35"/>
              </a:solidFill>
            </a:endParaRPr>
          </a:p>
          <a:p>
            <a:endParaRPr lang="en-US" sz="1200" dirty="0"/>
          </a:p>
        </p:txBody>
      </p:sp>
      <p:pic>
        <p:nvPicPr>
          <p:cNvPr id="18" name="Picture 17">
            <a:extLst>
              <a:ext uri="{FF2B5EF4-FFF2-40B4-BE49-F238E27FC236}">
                <a16:creationId xmlns:a16="http://schemas.microsoft.com/office/drawing/2014/main" id="{75E574B5-07CC-12FE-C8FA-C7ADC2E838B2}"/>
              </a:ext>
            </a:extLst>
          </p:cNvPr>
          <p:cNvPicPr>
            <a:picLocks noChangeAspect="1"/>
          </p:cNvPicPr>
          <p:nvPr/>
        </p:nvPicPr>
        <p:blipFill>
          <a:blip r:embed="rId3"/>
          <a:stretch>
            <a:fillRect/>
          </a:stretch>
        </p:blipFill>
        <p:spPr>
          <a:xfrm>
            <a:off x="4333315" y="1916634"/>
            <a:ext cx="4998681" cy="4937307"/>
          </a:xfrm>
          <a:prstGeom prst="rect">
            <a:avLst/>
          </a:prstGeom>
        </p:spPr>
      </p:pic>
      <p:sp>
        <p:nvSpPr>
          <p:cNvPr id="15434" name="Rectangle 15433">
            <a:extLst>
              <a:ext uri="{FF2B5EF4-FFF2-40B4-BE49-F238E27FC236}">
                <a16:creationId xmlns:a16="http://schemas.microsoft.com/office/drawing/2014/main" id="{6535DCD9-032E-4DFA-EB9F-937971561C0C}"/>
              </a:ext>
            </a:extLst>
          </p:cNvPr>
          <p:cNvSpPr/>
          <p:nvPr/>
        </p:nvSpPr>
        <p:spPr>
          <a:xfrm>
            <a:off x="8081831" y="5033355"/>
            <a:ext cx="1061405" cy="1012245"/>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grpSp>
        <p:nvGrpSpPr>
          <p:cNvPr id="15438" name="Group 15437">
            <a:extLst>
              <a:ext uri="{FF2B5EF4-FFF2-40B4-BE49-F238E27FC236}">
                <a16:creationId xmlns:a16="http://schemas.microsoft.com/office/drawing/2014/main" id="{6CDA8B1D-E9C2-594A-79B3-FB88794E5749}"/>
              </a:ext>
            </a:extLst>
          </p:cNvPr>
          <p:cNvGrpSpPr/>
          <p:nvPr/>
        </p:nvGrpSpPr>
        <p:grpSpPr>
          <a:xfrm>
            <a:off x="5501332" y="2083243"/>
            <a:ext cx="3687205" cy="3895432"/>
            <a:chOff x="5501332" y="2083243"/>
            <a:chExt cx="3687205" cy="3895432"/>
          </a:xfrm>
        </p:grpSpPr>
        <p:grpSp>
          <p:nvGrpSpPr>
            <p:cNvPr id="15400" name="Group 15399">
              <a:extLst>
                <a:ext uri="{FF2B5EF4-FFF2-40B4-BE49-F238E27FC236}">
                  <a16:creationId xmlns:a16="http://schemas.microsoft.com/office/drawing/2014/main" id="{62489E01-DD9D-D206-4EC5-1FBF82635BEA}"/>
                </a:ext>
              </a:extLst>
            </p:cNvPr>
            <p:cNvGrpSpPr/>
            <p:nvPr/>
          </p:nvGrpSpPr>
          <p:grpSpPr>
            <a:xfrm>
              <a:off x="5501332" y="2083243"/>
              <a:ext cx="1998645" cy="3895432"/>
              <a:chOff x="5501332" y="2083243"/>
              <a:chExt cx="1998645" cy="3895432"/>
            </a:xfrm>
          </p:grpSpPr>
          <p:grpSp>
            <p:nvGrpSpPr>
              <p:cNvPr id="15401" name="Group 15400">
                <a:extLst>
                  <a:ext uri="{FF2B5EF4-FFF2-40B4-BE49-F238E27FC236}">
                    <a16:creationId xmlns:a16="http://schemas.microsoft.com/office/drawing/2014/main" id="{4184EE69-2B72-9FE4-7EE8-1D45EED3E2B6}"/>
                  </a:ext>
                </a:extLst>
              </p:cNvPr>
              <p:cNvGrpSpPr/>
              <p:nvPr/>
            </p:nvGrpSpPr>
            <p:grpSpPr>
              <a:xfrm>
                <a:off x="5834550" y="2083243"/>
                <a:ext cx="113605" cy="133115"/>
                <a:chOff x="5834550" y="2083243"/>
                <a:chExt cx="113605" cy="133115"/>
              </a:xfrm>
            </p:grpSpPr>
            <p:sp>
              <p:nvSpPr>
                <p:cNvPr id="15432" name="Oval 15431">
                  <a:extLst>
                    <a:ext uri="{FF2B5EF4-FFF2-40B4-BE49-F238E27FC236}">
                      <a16:creationId xmlns:a16="http://schemas.microsoft.com/office/drawing/2014/main" id="{B0399DE9-B5DC-3601-0590-FFE100BB576D}"/>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33" name="Diamond 15432">
                  <a:extLst>
                    <a:ext uri="{FF2B5EF4-FFF2-40B4-BE49-F238E27FC236}">
                      <a16:creationId xmlns:a16="http://schemas.microsoft.com/office/drawing/2014/main" id="{72541843-A5FD-870A-2846-11C39F1C986B}"/>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2" name="Group 15401">
                <a:extLst>
                  <a:ext uri="{FF2B5EF4-FFF2-40B4-BE49-F238E27FC236}">
                    <a16:creationId xmlns:a16="http://schemas.microsoft.com/office/drawing/2014/main" id="{079C0618-2E74-9C37-F77C-8841CC75E9A3}"/>
                  </a:ext>
                </a:extLst>
              </p:cNvPr>
              <p:cNvGrpSpPr/>
              <p:nvPr/>
            </p:nvGrpSpPr>
            <p:grpSpPr>
              <a:xfrm>
                <a:off x="5891535" y="2291300"/>
                <a:ext cx="113605" cy="133115"/>
                <a:chOff x="5834550" y="2083243"/>
                <a:chExt cx="113605" cy="133115"/>
              </a:xfrm>
            </p:grpSpPr>
            <p:sp>
              <p:nvSpPr>
                <p:cNvPr id="15430" name="Oval 15429">
                  <a:extLst>
                    <a:ext uri="{FF2B5EF4-FFF2-40B4-BE49-F238E27FC236}">
                      <a16:creationId xmlns:a16="http://schemas.microsoft.com/office/drawing/2014/main" id="{D79C1AA3-7078-BA97-0451-5CDA52CE9826}"/>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31" name="Diamond 15430">
                  <a:extLst>
                    <a:ext uri="{FF2B5EF4-FFF2-40B4-BE49-F238E27FC236}">
                      <a16:creationId xmlns:a16="http://schemas.microsoft.com/office/drawing/2014/main" id="{F3F23DE7-A845-DEB6-6410-84EC462A9DEA}"/>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3" name="Group 15402">
                <a:extLst>
                  <a:ext uri="{FF2B5EF4-FFF2-40B4-BE49-F238E27FC236}">
                    <a16:creationId xmlns:a16="http://schemas.microsoft.com/office/drawing/2014/main" id="{98CB6DAF-20AE-72C2-0469-A516925AA559}"/>
                  </a:ext>
                </a:extLst>
              </p:cNvPr>
              <p:cNvGrpSpPr/>
              <p:nvPr/>
            </p:nvGrpSpPr>
            <p:grpSpPr>
              <a:xfrm>
                <a:off x="6090180" y="3220515"/>
                <a:ext cx="113605" cy="133115"/>
                <a:chOff x="5834550" y="2083243"/>
                <a:chExt cx="113605" cy="133115"/>
              </a:xfrm>
            </p:grpSpPr>
            <p:sp>
              <p:nvSpPr>
                <p:cNvPr id="15428" name="Oval 15427">
                  <a:extLst>
                    <a:ext uri="{FF2B5EF4-FFF2-40B4-BE49-F238E27FC236}">
                      <a16:creationId xmlns:a16="http://schemas.microsoft.com/office/drawing/2014/main" id="{9B007CC4-DC64-5B8C-498D-8D6E463FCC17}"/>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9" name="Diamond 15428">
                  <a:extLst>
                    <a:ext uri="{FF2B5EF4-FFF2-40B4-BE49-F238E27FC236}">
                      <a16:creationId xmlns:a16="http://schemas.microsoft.com/office/drawing/2014/main" id="{EA759387-E1B2-1A3F-1E90-D485C11FE10C}"/>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4" name="Group 15403">
                <a:extLst>
                  <a:ext uri="{FF2B5EF4-FFF2-40B4-BE49-F238E27FC236}">
                    <a16:creationId xmlns:a16="http://schemas.microsoft.com/office/drawing/2014/main" id="{270F27EE-978D-6EF3-0D99-035376E38B4C}"/>
                  </a:ext>
                </a:extLst>
              </p:cNvPr>
              <p:cNvGrpSpPr/>
              <p:nvPr/>
            </p:nvGrpSpPr>
            <p:grpSpPr>
              <a:xfrm>
                <a:off x="5606475" y="3789068"/>
                <a:ext cx="113605" cy="133115"/>
                <a:chOff x="5834550" y="2083243"/>
                <a:chExt cx="113605" cy="133115"/>
              </a:xfrm>
            </p:grpSpPr>
            <p:sp>
              <p:nvSpPr>
                <p:cNvPr id="15426" name="Oval 15425">
                  <a:extLst>
                    <a:ext uri="{FF2B5EF4-FFF2-40B4-BE49-F238E27FC236}">
                      <a16:creationId xmlns:a16="http://schemas.microsoft.com/office/drawing/2014/main" id="{BF4B0786-F55D-A824-3479-131E30C7B200}"/>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7" name="Diamond 15426">
                  <a:extLst>
                    <a:ext uri="{FF2B5EF4-FFF2-40B4-BE49-F238E27FC236}">
                      <a16:creationId xmlns:a16="http://schemas.microsoft.com/office/drawing/2014/main" id="{25DC2CE5-27AB-6E74-0021-650FFF830018}"/>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5" name="Group 15404">
                <a:extLst>
                  <a:ext uri="{FF2B5EF4-FFF2-40B4-BE49-F238E27FC236}">
                    <a16:creationId xmlns:a16="http://schemas.microsoft.com/office/drawing/2014/main" id="{BB14DAFB-4AAD-8202-54DD-DEEB743A8576}"/>
                  </a:ext>
                </a:extLst>
              </p:cNvPr>
              <p:cNvGrpSpPr/>
              <p:nvPr/>
            </p:nvGrpSpPr>
            <p:grpSpPr>
              <a:xfrm>
                <a:off x="5743804" y="4069769"/>
                <a:ext cx="113605" cy="133115"/>
                <a:chOff x="5834550" y="2083243"/>
                <a:chExt cx="113605" cy="133115"/>
              </a:xfrm>
            </p:grpSpPr>
            <p:sp>
              <p:nvSpPr>
                <p:cNvPr id="15424" name="Oval 15423">
                  <a:extLst>
                    <a:ext uri="{FF2B5EF4-FFF2-40B4-BE49-F238E27FC236}">
                      <a16:creationId xmlns:a16="http://schemas.microsoft.com/office/drawing/2014/main" id="{2DA373F4-93A7-459D-2BA8-1712655F544B}"/>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5" name="Diamond 15424">
                  <a:extLst>
                    <a:ext uri="{FF2B5EF4-FFF2-40B4-BE49-F238E27FC236}">
                      <a16:creationId xmlns:a16="http://schemas.microsoft.com/office/drawing/2014/main" id="{E94C8082-2205-C0E4-0FA9-9A8A9F4E21D9}"/>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6" name="Group 15405">
                <a:extLst>
                  <a:ext uri="{FF2B5EF4-FFF2-40B4-BE49-F238E27FC236}">
                    <a16:creationId xmlns:a16="http://schemas.microsoft.com/office/drawing/2014/main" id="{6AC7B4D9-FA9C-0FC7-BBED-8C4DC759436E}"/>
                  </a:ext>
                </a:extLst>
              </p:cNvPr>
              <p:cNvGrpSpPr/>
              <p:nvPr/>
            </p:nvGrpSpPr>
            <p:grpSpPr>
              <a:xfrm>
                <a:off x="6090180" y="5256254"/>
                <a:ext cx="113605" cy="133115"/>
                <a:chOff x="5834550" y="2083243"/>
                <a:chExt cx="113605" cy="133115"/>
              </a:xfrm>
            </p:grpSpPr>
            <p:sp>
              <p:nvSpPr>
                <p:cNvPr id="15422" name="Oval 15421">
                  <a:extLst>
                    <a:ext uri="{FF2B5EF4-FFF2-40B4-BE49-F238E27FC236}">
                      <a16:creationId xmlns:a16="http://schemas.microsoft.com/office/drawing/2014/main" id="{24E9B941-1559-82D0-EA61-3358C2B319EF}"/>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3" name="Diamond 15422">
                  <a:extLst>
                    <a:ext uri="{FF2B5EF4-FFF2-40B4-BE49-F238E27FC236}">
                      <a16:creationId xmlns:a16="http://schemas.microsoft.com/office/drawing/2014/main" id="{77B621B2-1AA6-2BA8-474F-15ACCE7FA321}"/>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7" name="Group 15406">
                <a:extLst>
                  <a:ext uri="{FF2B5EF4-FFF2-40B4-BE49-F238E27FC236}">
                    <a16:creationId xmlns:a16="http://schemas.microsoft.com/office/drawing/2014/main" id="{CEB1A521-573F-D132-C4DC-76798B5314A6}"/>
                  </a:ext>
                </a:extLst>
              </p:cNvPr>
              <p:cNvGrpSpPr/>
              <p:nvPr/>
            </p:nvGrpSpPr>
            <p:grpSpPr>
              <a:xfrm>
                <a:off x="5786074" y="4955014"/>
                <a:ext cx="113605" cy="133115"/>
                <a:chOff x="5834550" y="2083243"/>
                <a:chExt cx="113605" cy="133115"/>
              </a:xfrm>
            </p:grpSpPr>
            <p:sp>
              <p:nvSpPr>
                <p:cNvPr id="15420" name="Oval 15419">
                  <a:extLst>
                    <a:ext uri="{FF2B5EF4-FFF2-40B4-BE49-F238E27FC236}">
                      <a16:creationId xmlns:a16="http://schemas.microsoft.com/office/drawing/2014/main" id="{AAE16387-87B7-148B-0373-595A15E0AD16}"/>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1" name="Diamond 15420">
                  <a:extLst>
                    <a:ext uri="{FF2B5EF4-FFF2-40B4-BE49-F238E27FC236}">
                      <a16:creationId xmlns:a16="http://schemas.microsoft.com/office/drawing/2014/main" id="{9B165083-1156-5318-CCF4-A0CB5B22FFFA}"/>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8" name="Group 15407">
                <a:extLst>
                  <a:ext uri="{FF2B5EF4-FFF2-40B4-BE49-F238E27FC236}">
                    <a16:creationId xmlns:a16="http://schemas.microsoft.com/office/drawing/2014/main" id="{03498C31-D9C6-CBEC-8E39-245C142C75D7}"/>
                  </a:ext>
                </a:extLst>
              </p:cNvPr>
              <p:cNvGrpSpPr/>
              <p:nvPr/>
            </p:nvGrpSpPr>
            <p:grpSpPr>
              <a:xfrm>
                <a:off x="5501332" y="5393897"/>
                <a:ext cx="113605" cy="133115"/>
                <a:chOff x="5834550" y="2083243"/>
                <a:chExt cx="113605" cy="133115"/>
              </a:xfrm>
            </p:grpSpPr>
            <p:sp>
              <p:nvSpPr>
                <p:cNvPr id="15418" name="Oval 15417">
                  <a:extLst>
                    <a:ext uri="{FF2B5EF4-FFF2-40B4-BE49-F238E27FC236}">
                      <a16:creationId xmlns:a16="http://schemas.microsoft.com/office/drawing/2014/main" id="{50536EAD-A914-451D-F30A-D97F364270C5}"/>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19" name="Diamond 15418">
                  <a:extLst>
                    <a:ext uri="{FF2B5EF4-FFF2-40B4-BE49-F238E27FC236}">
                      <a16:creationId xmlns:a16="http://schemas.microsoft.com/office/drawing/2014/main" id="{0E634489-4E52-93D4-4BF5-5786C0B3D69C}"/>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9" name="Group 15408">
                <a:extLst>
                  <a:ext uri="{FF2B5EF4-FFF2-40B4-BE49-F238E27FC236}">
                    <a16:creationId xmlns:a16="http://schemas.microsoft.com/office/drawing/2014/main" id="{D0895026-9D6B-DA8D-899C-E59D9AACD6DA}"/>
                  </a:ext>
                </a:extLst>
              </p:cNvPr>
              <p:cNvGrpSpPr/>
              <p:nvPr/>
            </p:nvGrpSpPr>
            <p:grpSpPr>
              <a:xfrm>
                <a:off x="7049143" y="5452503"/>
                <a:ext cx="113605" cy="133115"/>
                <a:chOff x="5834550" y="2083243"/>
                <a:chExt cx="113605" cy="133115"/>
              </a:xfrm>
            </p:grpSpPr>
            <p:sp>
              <p:nvSpPr>
                <p:cNvPr id="15416" name="Oval 15415">
                  <a:extLst>
                    <a:ext uri="{FF2B5EF4-FFF2-40B4-BE49-F238E27FC236}">
                      <a16:creationId xmlns:a16="http://schemas.microsoft.com/office/drawing/2014/main" id="{E5EF18EC-F8F9-629A-C68B-47C6708CC087}"/>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17" name="Diamond 15416">
                  <a:extLst>
                    <a:ext uri="{FF2B5EF4-FFF2-40B4-BE49-F238E27FC236}">
                      <a16:creationId xmlns:a16="http://schemas.microsoft.com/office/drawing/2014/main" id="{766E4B21-5B41-5C62-C13B-25F6EF1570F5}"/>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10" name="Group 15409">
                <a:extLst>
                  <a:ext uri="{FF2B5EF4-FFF2-40B4-BE49-F238E27FC236}">
                    <a16:creationId xmlns:a16="http://schemas.microsoft.com/office/drawing/2014/main" id="{6B78760D-7078-7655-F5D5-1F7E436DE3F8}"/>
                  </a:ext>
                </a:extLst>
              </p:cNvPr>
              <p:cNvGrpSpPr/>
              <p:nvPr/>
            </p:nvGrpSpPr>
            <p:grpSpPr>
              <a:xfrm>
                <a:off x="7162748" y="5845560"/>
                <a:ext cx="113605" cy="133115"/>
                <a:chOff x="5834550" y="2083243"/>
                <a:chExt cx="113605" cy="133115"/>
              </a:xfrm>
            </p:grpSpPr>
            <p:sp>
              <p:nvSpPr>
                <p:cNvPr id="15414" name="Oval 15413">
                  <a:extLst>
                    <a:ext uri="{FF2B5EF4-FFF2-40B4-BE49-F238E27FC236}">
                      <a16:creationId xmlns:a16="http://schemas.microsoft.com/office/drawing/2014/main" id="{45BDF727-A1D9-B653-B389-D0E7A4792D27}"/>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15" name="Diamond 15414">
                  <a:extLst>
                    <a:ext uri="{FF2B5EF4-FFF2-40B4-BE49-F238E27FC236}">
                      <a16:creationId xmlns:a16="http://schemas.microsoft.com/office/drawing/2014/main" id="{5638AB7B-5A65-C0B6-3D21-D2074ECE0724}"/>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11" name="Group 15410">
                <a:extLst>
                  <a:ext uri="{FF2B5EF4-FFF2-40B4-BE49-F238E27FC236}">
                    <a16:creationId xmlns:a16="http://schemas.microsoft.com/office/drawing/2014/main" id="{3FBCD99A-AA4F-26F8-E26D-61565BB36CA5}"/>
                  </a:ext>
                </a:extLst>
              </p:cNvPr>
              <p:cNvGrpSpPr/>
              <p:nvPr/>
            </p:nvGrpSpPr>
            <p:grpSpPr>
              <a:xfrm>
                <a:off x="7386372" y="5491673"/>
                <a:ext cx="113605" cy="133115"/>
                <a:chOff x="5834550" y="2083243"/>
                <a:chExt cx="113605" cy="133115"/>
              </a:xfrm>
            </p:grpSpPr>
            <p:sp>
              <p:nvSpPr>
                <p:cNvPr id="15412" name="Oval 15411">
                  <a:extLst>
                    <a:ext uri="{FF2B5EF4-FFF2-40B4-BE49-F238E27FC236}">
                      <a16:creationId xmlns:a16="http://schemas.microsoft.com/office/drawing/2014/main" id="{02C48569-0F87-9F1B-68CD-3F28481AB15B}"/>
                    </a:ext>
                  </a:extLst>
                </p:cNvPr>
                <p:cNvSpPr/>
                <p:nvPr/>
              </p:nvSpPr>
              <p:spPr>
                <a:xfrm>
                  <a:off x="5876820" y="2161584"/>
                  <a:ext cx="71335" cy="54774"/>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13" name="Diamond 15412">
                  <a:extLst>
                    <a:ext uri="{FF2B5EF4-FFF2-40B4-BE49-F238E27FC236}">
                      <a16:creationId xmlns:a16="http://schemas.microsoft.com/office/drawing/2014/main" id="{22F66289-1C84-5CAF-F199-221B5D05E7DB}"/>
                    </a:ext>
                  </a:extLst>
                </p:cNvPr>
                <p:cNvSpPr/>
                <p:nvPr/>
              </p:nvSpPr>
              <p:spPr>
                <a:xfrm>
                  <a:off x="5834550" y="2083243"/>
                  <a:ext cx="45719" cy="125164"/>
                </a:xfrm>
                <a:prstGeom prst="diamond">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5435" name="TextBox 15434">
              <a:extLst>
                <a:ext uri="{FF2B5EF4-FFF2-40B4-BE49-F238E27FC236}">
                  <a16:creationId xmlns:a16="http://schemas.microsoft.com/office/drawing/2014/main" id="{6D15F51F-CBE9-07F9-F76C-5659725F6DEE}"/>
                </a:ext>
              </a:extLst>
            </p:cNvPr>
            <p:cNvSpPr txBox="1"/>
            <p:nvPr/>
          </p:nvSpPr>
          <p:spPr>
            <a:xfrm>
              <a:off x="8036528" y="5200698"/>
              <a:ext cx="1152009" cy="707886"/>
            </a:xfrm>
            <a:prstGeom prst="rect">
              <a:avLst/>
            </a:prstGeom>
            <a:noFill/>
          </p:spPr>
          <p:txBody>
            <a:bodyPr wrap="square" rtlCol="0">
              <a:spAutoFit/>
            </a:bodyPr>
            <a:lstStyle/>
            <a:p>
              <a:pPr algn="ctr"/>
              <a:r>
                <a:rPr lang="en-US" sz="1000">
                  <a:solidFill>
                    <a:schemeClr val="tx1"/>
                  </a:solidFill>
                </a:rPr>
                <a:t>Protein analysis to see what other proteins are part of the complex</a:t>
              </a:r>
              <a:endParaRPr lang="en-US" sz="1000" dirty="0">
                <a:solidFill>
                  <a:schemeClr val="tx1"/>
                </a:solidFill>
              </a:endParaRPr>
            </a:p>
          </p:txBody>
        </p:sp>
      </p:grpSp>
      <p:sp>
        <p:nvSpPr>
          <p:cNvPr id="15439" name="TextBox 15438">
            <a:extLst>
              <a:ext uri="{FF2B5EF4-FFF2-40B4-BE49-F238E27FC236}">
                <a16:creationId xmlns:a16="http://schemas.microsoft.com/office/drawing/2014/main" id="{3E237A99-B734-A531-358D-2D6719B39FE0}"/>
              </a:ext>
            </a:extLst>
          </p:cNvPr>
          <p:cNvSpPr txBox="1"/>
          <p:nvPr/>
        </p:nvSpPr>
        <p:spPr>
          <a:xfrm>
            <a:off x="8358653" y="6597595"/>
            <a:ext cx="829073" cy="246221"/>
          </a:xfrm>
          <a:prstGeom prst="rect">
            <a:avLst/>
          </a:prstGeom>
          <a:noFill/>
        </p:spPr>
        <p:txBody>
          <a:bodyPr wrap="none" rtlCol="0">
            <a:spAutoFit/>
          </a:bodyPr>
          <a:lstStyle/>
          <a:p>
            <a:r>
              <a:rPr lang="en-US" sz="1000" dirty="0" err="1"/>
              <a:t>Proteintech</a:t>
            </a:r>
            <a:endParaRPr lang="en-US" sz="1000" dirty="0"/>
          </a:p>
        </p:txBody>
      </p:sp>
      <p:grpSp>
        <p:nvGrpSpPr>
          <p:cNvPr id="2" name="Group 1">
            <a:extLst>
              <a:ext uri="{FF2B5EF4-FFF2-40B4-BE49-F238E27FC236}">
                <a16:creationId xmlns:a16="http://schemas.microsoft.com/office/drawing/2014/main" id="{5944C383-1DD7-40FD-CBD7-CC6D22EFC054}"/>
              </a:ext>
            </a:extLst>
          </p:cNvPr>
          <p:cNvGrpSpPr/>
          <p:nvPr/>
        </p:nvGrpSpPr>
        <p:grpSpPr>
          <a:xfrm>
            <a:off x="9223303" y="0"/>
            <a:ext cx="2901021" cy="3161855"/>
            <a:chOff x="9223303" y="0"/>
            <a:chExt cx="2901021" cy="3161855"/>
          </a:xfrm>
        </p:grpSpPr>
        <p:pic>
          <p:nvPicPr>
            <p:cNvPr id="6" name="Picture 5">
              <a:extLst>
                <a:ext uri="{FF2B5EF4-FFF2-40B4-BE49-F238E27FC236}">
                  <a16:creationId xmlns:a16="http://schemas.microsoft.com/office/drawing/2014/main" id="{48AB0DBE-79EF-8A86-946E-E93E655D6C6B}"/>
                </a:ext>
              </a:extLst>
            </p:cNvPr>
            <p:cNvPicPr>
              <a:picLocks noChangeAspect="1"/>
            </p:cNvPicPr>
            <p:nvPr/>
          </p:nvPicPr>
          <p:blipFill>
            <a:blip r:embed="rId4"/>
            <a:stretch>
              <a:fillRect/>
            </a:stretch>
          </p:blipFill>
          <p:spPr>
            <a:xfrm>
              <a:off x="9223303" y="0"/>
              <a:ext cx="2901021" cy="3161855"/>
            </a:xfrm>
            <a:prstGeom prst="rect">
              <a:avLst/>
            </a:prstGeom>
          </p:spPr>
        </p:pic>
        <p:grpSp>
          <p:nvGrpSpPr>
            <p:cNvPr id="9" name="Group 8">
              <a:extLst>
                <a:ext uri="{FF2B5EF4-FFF2-40B4-BE49-F238E27FC236}">
                  <a16:creationId xmlns:a16="http://schemas.microsoft.com/office/drawing/2014/main" id="{2E361676-9221-6DF9-3AA7-0BEDBF9BBCC9}"/>
                </a:ext>
              </a:extLst>
            </p:cNvPr>
            <p:cNvGrpSpPr/>
            <p:nvPr/>
          </p:nvGrpSpPr>
          <p:grpSpPr>
            <a:xfrm>
              <a:off x="9519807" y="1067505"/>
              <a:ext cx="2399624" cy="944175"/>
              <a:chOff x="9519807" y="1067505"/>
              <a:chExt cx="2399624" cy="944175"/>
            </a:xfrm>
          </p:grpSpPr>
          <p:sp>
            <p:nvSpPr>
              <p:cNvPr id="11" name="Rectangle 10">
                <a:extLst>
                  <a:ext uri="{FF2B5EF4-FFF2-40B4-BE49-F238E27FC236}">
                    <a16:creationId xmlns:a16="http://schemas.microsoft.com/office/drawing/2014/main" id="{B491B84E-5C4F-7A80-0CE5-836C72EACEED}"/>
                  </a:ext>
                </a:extLst>
              </p:cNvPr>
              <p:cNvSpPr/>
              <p:nvPr/>
            </p:nvSpPr>
            <p:spPr>
              <a:xfrm>
                <a:off x="11211339" y="1884459"/>
                <a:ext cx="708092" cy="127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70F680F-A6F0-413A-D0C1-9022504712F0}"/>
                  </a:ext>
                </a:extLst>
              </p:cNvPr>
              <p:cNvSpPr/>
              <p:nvPr/>
            </p:nvSpPr>
            <p:spPr>
              <a:xfrm>
                <a:off x="11100602" y="1619426"/>
                <a:ext cx="708092" cy="127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4A812BC-2E05-5F2E-DA2F-C7D0E07CEC54}"/>
                  </a:ext>
                </a:extLst>
              </p:cNvPr>
              <p:cNvSpPr/>
              <p:nvPr/>
            </p:nvSpPr>
            <p:spPr>
              <a:xfrm>
                <a:off x="11648568" y="1770273"/>
                <a:ext cx="160126" cy="127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7114A48-2492-EDC5-8394-904196BCEF5A}"/>
                  </a:ext>
                </a:extLst>
              </p:cNvPr>
              <p:cNvSpPr/>
              <p:nvPr/>
            </p:nvSpPr>
            <p:spPr>
              <a:xfrm>
                <a:off x="9576573" y="1186070"/>
                <a:ext cx="708092" cy="127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34A58F7-E798-8705-66B1-E692B23B5685}"/>
                  </a:ext>
                </a:extLst>
              </p:cNvPr>
              <p:cNvSpPr/>
              <p:nvPr/>
            </p:nvSpPr>
            <p:spPr>
              <a:xfrm>
                <a:off x="9519807" y="1067505"/>
                <a:ext cx="284829" cy="2457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655803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6" name="Picture 10" descr="GeoMx Digital Spatial Profiler | SelectScience">
            <a:extLst>
              <a:ext uri="{FF2B5EF4-FFF2-40B4-BE49-F238E27FC236}">
                <a16:creationId xmlns:a16="http://schemas.microsoft.com/office/drawing/2014/main" id="{25E7C520-BCCB-AEF9-2813-2C47CC06F2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9135" y="636543"/>
            <a:ext cx="3978856" cy="239468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3165757D-0C51-8964-7B0C-AF40F8CAB2FE}"/>
              </a:ext>
            </a:extLst>
          </p:cNvPr>
          <p:cNvSpPr txBox="1"/>
          <p:nvPr/>
        </p:nvSpPr>
        <p:spPr>
          <a:xfrm>
            <a:off x="5961279" y="207355"/>
            <a:ext cx="2128660" cy="369332"/>
          </a:xfrm>
          <a:prstGeom prst="rect">
            <a:avLst/>
          </a:prstGeom>
          <a:noFill/>
        </p:spPr>
        <p:txBody>
          <a:bodyPr wrap="none" rtlCol="0">
            <a:spAutoFit/>
          </a:bodyPr>
          <a:lstStyle/>
          <a:p>
            <a:r>
              <a:rPr lang="en-US" dirty="0"/>
              <a:t>Spatial sequencing</a:t>
            </a:r>
          </a:p>
        </p:txBody>
      </p:sp>
      <p:pic>
        <p:nvPicPr>
          <p:cNvPr id="18" name="Picture 17">
            <a:extLst>
              <a:ext uri="{FF2B5EF4-FFF2-40B4-BE49-F238E27FC236}">
                <a16:creationId xmlns:a16="http://schemas.microsoft.com/office/drawing/2014/main" id="{D65F84BF-8C43-9185-ECDD-D42C6A9EC48F}"/>
              </a:ext>
            </a:extLst>
          </p:cNvPr>
          <p:cNvPicPr>
            <a:picLocks noChangeAspect="1"/>
          </p:cNvPicPr>
          <p:nvPr/>
        </p:nvPicPr>
        <p:blipFill>
          <a:blip r:embed="rId4"/>
          <a:stretch>
            <a:fillRect/>
          </a:stretch>
        </p:blipFill>
        <p:spPr>
          <a:xfrm>
            <a:off x="153713" y="662052"/>
            <a:ext cx="4721504" cy="2057735"/>
          </a:xfrm>
          <a:prstGeom prst="rect">
            <a:avLst/>
          </a:prstGeom>
        </p:spPr>
      </p:pic>
      <p:sp>
        <p:nvSpPr>
          <p:cNvPr id="19" name="TextBox 18">
            <a:extLst>
              <a:ext uri="{FF2B5EF4-FFF2-40B4-BE49-F238E27FC236}">
                <a16:creationId xmlns:a16="http://schemas.microsoft.com/office/drawing/2014/main" id="{74D92E68-ED65-AB39-5556-0C252D018D29}"/>
              </a:ext>
            </a:extLst>
          </p:cNvPr>
          <p:cNvSpPr txBox="1"/>
          <p:nvPr/>
        </p:nvSpPr>
        <p:spPr>
          <a:xfrm>
            <a:off x="800921" y="200288"/>
            <a:ext cx="3419526" cy="369332"/>
          </a:xfrm>
          <a:prstGeom prst="rect">
            <a:avLst/>
          </a:prstGeom>
          <a:noFill/>
        </p:spPr>
        <p:txBody>
          <a:bodyPr wrap="none" rtlCol="0">
            <a:spAutoFit/>
          </a:bodyPr>
          <a:lstStyle/>
          <a:p>
            <a:r>
              <a:rPr lang="en-US" dirty="0"/>
              <a:t>Single-cell </a:t>
            </a:r>
            <a:r>
              <a:rPr lang="en-US" dirty="0" err="1"/>
              <a:t>RNAseq</a:t>
            </a:r>
            <a:r>
              <a:rPr lang="en-US" dirty="0"/>
              <a:t> (Droplet seq)</a:t>
            </a:r>
          </a:p>
        </p:txBody>
      </p:sp>
      <p:sp>
        <p:nvSpPr>
          <p:cNvPr id="25" name="Rectangle 24">
            <a:extLst>
              <a:ext uri="{FF2B5EF4-FFF2-40B4-BE49-F238E27FC236}">
                <a16:creationId xmlns:a16="http://schemas.microsoft.com/office/drawing/2014/main" id="{59EDA58B-7EF2-104C-7F43-3DCAD44849D6}"/>
              </a:ext>
            </a:extLst>
          </p:cNvPr>
          <p:cNvSpPr/>
          <p:nvPr/>
        </p:nvSpPr>
        <p:spPr>
          <a:xfrm>
            <a:off x="153713" y="107856"/>
            <a:ext cx="4664777" cy="26278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352" name="Picture 16" descr="Getting Started with Single Cell Gene Expression: A Guide to Successfully  Run your Single Cell Gene Expression Experiment with 10x Genomics - 10x  Genomics">
            <a:extLst>
              <a:ext uri="{FF2B5EF4-FFF2-40B4-BE49-F238E27FC236}">
                <a16:creationId xmlns:a16="http://schemas.microsoft.com/office/drawing/2014/main" id="{2456BDA9-720F-713A-4585-1F294C1B9D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713" y="2858967"/>
            <a:ext cx="4826483" cy="2714897"/>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8459A736-540D-6399-E5BD-B1E0840AA78F}"/>
              </a:ext>
            </a:extLst>
          </p:cNvPr>
          <p:cNvSpPr txBox="1"/>
          <p:nvPr/>
        </p:nvSpPr>
        <p:spPr>
          <a:xfrm>
            <a:off x="50348" y="5574032"/>
            <a:ext cx="973343" cy="246221"/>
          </a:xfrm>
          <a:prstGeom prst="rect">
            <a:avLst/>
          </a:prstGeom>
          <a:noFill/>
        </p:spPr>
        <p:txBody>
          <a:bodyPr wrap="none" rtlCol="0">
            <a:spAutoFit/>
          </a:bodyPr>
          <a:lstStyle/>
          <a:p>
            <a:r>
              <a:rPr lang="en-US" sz="1000" dirty="0"/>
              <a:t>10x Genomics</a:t>
            </a:r>
          </a:p>
        </p:txBody>
      </p:sp>
      <p:grpSp>
        <p:nvGrpSpPr>
          <p:cNvPr id="2" name="Group 1">
            <a:extLst>
              <a:ext uri="{FF2B5EF4-FFF2-40B4-BE49-F238E27FC236}">
                <a16:creationId xmlns:a16="http://schemas.microsoft.com/office/drawing/2014/main" id="{C9BC9332-9637-C088-F21C-98C5437C9A90}"/>
              </a:ext>
            </a:extLst>
          </p:cNvPr>
          <p:cNvGrpSpPr/>
          <p:nvPr/>
        </p:nvGrpSpPr>
        <p:grpSpPr>
          <a:xfrm>
            <a:off x="5313069" y="3177718"/>
            <a:ext cx="6820611" cy="3657560"/>
            <a:chOff x="5313069" y="3177718"/>
            <a:chExt cx="6820611" cy="3657560"/>
          </a:xfrm>
        </p:grpSpPr>
        <p:pic>
          <p:nvPicPr>
            <p:cNvPr id="14350" name="Picture 14" descr="3 Tips for Successful CosMx Single-cell Spatial Runs at 1000 plex">
              <a:extLst>
                <a:ext uri="{FF2B5EF4-FFF2-40B4-BE49-F238E27FC236}">
                  <a16:creationId xmlns:a16="http://schemas.microsoft.com/office/drawing/2014/main" id="{B91A8357-5FCF-CB3A-1E97-626B2C6E60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3069" y="3177718"/>
              <a:ext cx="5462547" cy="3641697"/>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CE81BF4B-D701-730A-D537-84D9427621CD}"/>
                </a:ext>
              </a:extLst>
            </p:cNvPr>
            <p:cNvSpPr txBox="1"/>
            <p:nvPr/>
          </p:nvSpPr>
          <p:spPr>
            <a:xfrm>
              <a:off x="10775616" y="6435168"/>
              <a:ext cx="1358064" cy="400110"/>
            </a:xfrm>
            <a:prstGeom prst="rect">
              <a:avLst/>
            </a:prstGeom>
            <a:noFill/>
          </p:spPr>
          <p:txBody>
            <a:bodyPr wrap="none" rtlCol="0">
              <a:spAutoFit/>
            </a:bodyPr>
            <a:lstStyle/>
            <a:p>
              <a:r>
                <a:rPr lang="en-US" sz="1000" dirty="0" err="1"/>
                <a:t>Nanostring</a:t>
              </a:r>
              <a:r>
                <a:rPr lang="en-US" sz="1000" dirty="0"/>
                <a:t> (formerly)</a:t>
              </a:r>
            </a:p>
            <a:p>
              <a:r>
                <a:rPr lang="en-US" sz="1000" dirty="0"/>
                <a:t>Bruker Corporation</a:t>
              </a:r>
            </a:p>
          </p:txBody>
        </p:sp>
      </p:grpSp>
      <p:sp>
        <p:nvSpPr>
          <p:cNvPr id="24" name="Rectangle 1">
            <a:extLst>
              <a:ext uri="{FF2B5EF4-FFF2-40B4-BE49-F238E27FC236}">
                <a16:creationId xmlns:a16="http://schemas.microsoft.com/office/drawing/2014/main" id="{12E09697-835A-4748-62CA-0E3B14F8C514}"/>
              </a:ext>
            </a:extLst>
          </p:cNvPr>
          <p:cNvSpPr>
            <a:spLocks noChangeArrowheads="1"/>
          </p:cNvSpPr>
          <p:nvPr/>
        </p:nvSpPr>
        <p:spPr bwMode="auto">
          <a:xfrm>
            <a:off x="202002" y="-1556910"/>
            <a:ext cx="882803" cy="1782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35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hlinkClick r:id="rId7"/>
              </a:rPr>
              <a:t>Videos - 10x Genomics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6" name="Picture 2">
            <a:hlinkClick r:id="rId7"/>
            <a:extLst>
              <a:ext uri="{FF2B5EF4-FFF2-40B4-BE49-F238E27FC236}">
                <a16:creationId xmlns:a16="http://schemas.microsoft.com/office/drawing/2014/main" id="{4147E776-22B2-D53C-79EA-DDD76C4B41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6459" y="5653369"/>
            <a:ext cx="1929168" cy="1085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47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07C4A-5D7E-7BBD-58FE-729F9DDF93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9E170E-236D-39C1-8850-394C1976D277}"/>
              </a:ext>
            </a:extLst>
          </p:cNvPr>
          <p:cNvSpPr txBox="1"/>
          <p:nvPr/>
        </p:nvSpPr>
        <p:spPr>
          <a:xfrm>
            <a:off x="3856413" y="573241"/>
            <a:ext cx="2475229" cy="369332"/>
          </a:xfrm>
          <a:prstGeom prst="rect">
            <a:avLst/>
          </a:prstGeom>
          <a:noFill/>
        </p:spPr>
        <p:txBody>
          <a:bodyPr wrap="none" rtlCol="0">
            <a:spAutoFit/>
          </a:bodyPr>
          <a:lstStyle/>
          <a:p>
            <a:r>
              <a:rPr lang="en-US" dirty="0">
                <a:solidFill>
                  <a:srgbClr val="FF0000"/>
                </a:solidFill>
              </a:rPr>
              <a:t>3. </a:t>
            </a:r>
            <a:r>
              <a:rPr lang="en-US" dirty="0" err="1">
                <a:solidFill>
                  <a:srgbClr val="FF0000"/>
                </a:solidFill>
              </a:rPr>
              <a:t>DNAseq</a:t>
            </a:r>
            <a:r>
              <a:rPr lang="en-US" dirty="0">
                <a:solidFill>
                  <a:srgbClr val="FF0000"/>
                </a:solidFill>
              </a:rPr>
              <a:t>-epigenetics</a:t>
            </a:r>
          </a:p>
        </p:txBody>
      </p:sp>
      <p:sp>
        <p:nvSpPr>
          <p:cNvPr id="3" name="TextBox 2">
            <a:extLst>
              <a:ext uri="{FF2B5EF4-FFF2-40B4-BE49-F238E27FC236}">
                <a16:creationId xmlns:a16="http://schemas.microsoft.com/office/drawing/2014/main" id="{5CBBB1C6-06D2-867F-8EA4-4F236486AE32}"/>
              </a:ext>
            </a:extLst>
          </p:cNvPr>
          <p:cNvSpPr txBox="1"/>
          <p:nvPr/>
        </p:nvSpPr>
        <p:spPr>
          <a:xfrm>
            <a:off x="3856381" y="206244"/>
            <a:ext cx="3987823" cy="461665"/>
          </a:xfrm>
          <a:prstGeom prst="rect">
            <a:avLst/>
          </a:prstGeom>
          <a:noFill/>
        </p:spPr>
        <p:txBody>
          <a:bodyPr wrap="none" rtlCol="0">
            <a:spAutoFit/>
          </a:bodyPr>
          <a:lstStyle/>
          <a:p>
            <a:r>
              <a:rPr lang="en-US" sz="2400" dirty="0"/>
              <a:t>Types of Library Preparations</a:t>
            </a:r>
          </a:p>
        </p:txBody>
      </p:sp>
      <p:sp>
        <p:nvSpPr>
          <p:cNvPr id="4" name="TextBox 3">
            <a:extLst>
              <a:ext uri="{FF2B5EF4-FFF2-40B4-BE49-F238E27FC236}">
                <a16:creationId xmlns:a16="http://schemas.microsoft.com/office/drawing/2014/main" id="{A29F8635-8E0C-0F64-C203-9DFB50E3D28B}"/>
              </a:ext>
            </a:extLst>
          </p:cNvPr>
          <p:cNvSpPr txBox="1"/>
          <p:nvPr/>
        </p:nvSpPr>
        <p:spPr>
          <a:xfrm>
            <a:off x="1225826" y="1446818"/>
            <a:ext cx="10026594" cy="2646878"/>
          </a:xfrm>
          <a:prstGeom prst="rect">
            <a:avLst/>
          </a:prstGeom>
          <a:noFill/>
        </p:spPr>
        <p:txBody>
          <a:bodyPr wrap="square" rtlCol="0">
            <a:spAutoFit/>
          </a:bodyPr>
          <a:lstStyle/>
          <a:p>
            <a:endParaRPr lang="en-US" dirty="0"/>
          </a:p>
          <a:p>
            <a:pPr marL="742950" lvl="1" indent="-285750">
              <a:buFont typeface="Arial" panose="020B0604020202020204" pitchFamily="34" charset="0"/>
              <a:buChar char="•"/>
            </a:pPr>
            <a:r>
              <a:rPr lang="en-US" sz="1600" b="0" i="0" dirty="0">
                <a:solidFill>
                  <a:srgbClr val="001D35"/>
                </a:solidFill>
                <a:effectLst/>
              </a:rPr>
              <a:t>Epigenetics- study of chromatin structure, organization and function, primarily in gene regulation</a:t>
            </a:r>
          </a:p>
          <a:p>
            <a:pPr lvl="1"/>
            <a:endParaRPr lang="en-US" sz="1600" dirty="0"/>
          </a:p>
          <a:p>
            <a:pPr marL="742950" lvl="1" indent="-285750">
              <a:buFont typeface="Arial" panose="020B0604020202020204" pitchFamily="34" charset="0"/>
              <a:buChar char="•"/>
            </a:pPr>
            <a:r>
              <a:rPr lang="en-US" sz="1600" u="sng" dirty="0" err="1"/>
              <a:t>ChIPseq</a:t>
            </a:r>
            <a:r>
              <a:rPr lang="en-US" sz="1600" u="sng" dirty="0"/>
              <a:t>-</a:t>
            </a:r>
            <a:r>
              <a:rPr lang="en-US" sz="1600" dirty="0"/>
              <a:t> </a:t>
            </a:r>
            <a:r>
              <a:rPr lang="en-US" sz="1600" dirty="0">
                <a:solidFill>
                  <a:srgbClr val="FF0000"/>
                </a:solidFill>
              </a:rPr>
              <a:t>ch</a:t>
            </a:r>
            <a:r>
              <a:rPr lang="en-US" sz="1600" dirty="0"/>
              <a:t>romatin </a:t>
            </a:r>
            <a:r>
              <a:rPr lang="en-US" sz="1600" dirty="0">
                <a:solidFill>
                  <a:srgbClr val="FF0000"/>
                </a:solidFill>
              </a:rPr>
              <a:t>IP</a:t>
            </a:r>
            <a:r>
              <a:rPr lang="en-US" sz="1600" dirty="0"/>
              <a:t>. Offer insight into </a:t>
            </a:r>
            <a:r>
              <a:rPr lang="en-US" sz="1600" b="0" i="0" dirty="0">
                <a:solidFill>
                  <a:srgbClr val="001D35"/>
                </a:solidFill>
                <a:effectLst/>
              </a:rPr>
              <a:t>protein-DNA interactions. Histones</a:t>
            </a:r>
          </a:p>
          <a:p>
            <a:pPr lvl="1"/>
            <a:endParaRPr lang="en-US" sz="1600" dirty="0"/>
          </a:p>
          <a:p>
            <a:pPr marL="742950" lvl="1" indent="-285750">
              <a:buFont typeface="Arial" panose="020B0604020202020204" pitchFamily="34" charset="0"/>
              <a:buChar char="•"/>
            </a:pPr>
            <a:r>
              <a:rPr lang="en-US" sz="1600" u="sng" dirty="0" err="1"/>
              <a:t>ATACseq</a:t>
            </a:r>
            <a:r>
              <a:rPr lang="en-US" sz="1600" dirty="0"/>
              <a:t>- </a:t>
            </a:r>
            <a:r>
              <a:rPr lang="en-US" sz="1600" b="0" i="0" dirty="0">
                <a:solidFill>
                  <a:srgbClr val="001D35"/>
                </a:solidFill>
                <a:effectLst/>
              </a:rPr>
              <a:t>maps chromatin accessibility</a:t>
            </a:r>
          </a:p>
          <a:p>
            <a:pPr lvl="1"/>
            <a:endParaRPr lang="en-US" sz="1600" dirty="0"/>
          </a:p>
          <a:p>
            <a:pPr marL="742950" lvl="1" indent="-285750">
              <a:buFont typeface="Arial" panose="020B0604020202020204" pitchFamily="34" charset="0"/>
              <a:buChar char="•"/>
            </a:pPr>
            <a:r>
              <a:rPr lang="en-US" sz="1600" u="sng" dirty="0"/>
              <a:t>Hi-C</a:t>
            </a:r>
            <a:r>
              <a:rPr lang="en-US" sz="1600" dirty="0"/>
              <a:t>- </a:t>
            </a:r>
            <a:r>
              <a:rPr lang="en-US" sz="1600" b="0" i="0" dirty="0">
                <a:solidFill>
                  <a:srgbClr val="001D35"/>
                </a:solidFill>
                <a:effectLst/>
              </a:rPr>
              <a:t>investigates 3D chromatin organization</a:t>
            </a:r>
            <a:endParaRPr lang="en-US" sz="16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75706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8BA1B-C331-400F-BEBA-109D5BA28B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85FD6F-60E4-3857-2524-1ADB54D9E56D}"/>
              </a:ext>
            </a:extLst>
          </p:cNvPr>
          <p:cNvSpPr txBox="1"/>
          <p:nvPr/>
        </p:nvSpPr>
        <p:spPr>
          <a:xfrm>
            <a:off x="1812280" y="81760"/>
            <a:ext cx="2609369" cy="369332"/>
          </a:xfrm>
          <a:prstGeom prst="rect">
            <a:avLst/>
          </a:prstGeom>
          <a:noFill/>
        </p:spPr>
        <p:txBody>
          <a:bodyPr wrap="none" rtlCol="0">
            <a:spAutoFit/>
          </a:bodyPr>
          <a:lstStyle/>
          <a:p>
            <a:r>
              <a:rPr lang="en-US" u="sng" dirty="0" err="1"/>
              <a:t>ChIPseq</a:t>
            </a:r>
            <a:r>
              <a:rPr lang="en-US" u="sng" dirty="0"/>
              <a:t>- (</a:t>
            </a:r>
            <a:r>
              <a:rPr lang="en-US" u="sng" dirty="0">
                <a:solidFill>
                  <a:srgbClr val="FF0000"/>
                </a:solidFill>
              </a:rPr>
              <a:t>ch</a:t>
            </a:r>
            <a:r>
              <a:rPr lang="en-US" u="sng" dirty="0"/>
              <a:t>romatin </a:t>
            </a:r>
            <a:r>
              <a:rPr lang="en-US" u="sng" dirty="0">
                <a:solidFill>
                  <a:srgbClr val="FF0000"/>
                </a:solidFill>
              </a:rPr>
              <a:t>IP</a:t>
            </a:r>
            <a:r>
              <a:rPr lang="en-US" u="sng" dirty="0"/>
              <a:t>):</a:t>
            </a:r>
          </a:p>
        </p:txBody>
      </p:sp>
      <p:grpSp>
        <p:nvGrpSpPr>
          <p:cNvPr id="5" name="Group 4">
            <a:extLst>
              <a:ext uri="{FF2B5EF4-FFF2-40B4-BE49-F238E27FC236}">
                <a16:creationId xmlns:a16="http://schemas.microsoft.com/office/drawing/2014/main" id="{6A2F83E3-91E6-EBF6-39C2-776B31FE5DB2}"/>
              </a:ext>
            </a:extLst>
          </p:cNvPr>
          <p:cNvGrpSpPr/>
          <p:nvPr/>
        </p:nvGrpSpPr>
        <p:grpSpPr>
          <a:xfrm>
            <a:off x="228758" y="579944"/>
            <a:ext cx="4253948" cy="5044202"/>
            <a:chOff x="333954" y="1412257"/>
            <a:chExt cx="4253948" cy="5044202"/>
          </a:xfrm>
        </p:grpSpPr>
        <p:pic>
          <p:nvPicPr>
            <p:cNvPr id="20482" name="Picture 2" descr="ChIP–seq: advantages and challenges of a maturing technology | Nature  Reviews Genetics">
              <a:extLst>
                <a:ext uri="{FF2B5EF4-FFF2-40B4-BE49-F238E27FC236}">
                  <a16:creationId xmlns:a16="http://schemas.microsoft.com/office/drawing/2014/main" id="{578D0017-CFA7-936E-80C5-EA590445D2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694" y="1412257"/>
              <a:ext cx="3621088" cy="48163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09AA5D49-72A8-9B2B-7FA1-04B961E98816}"/>
                </a:ext>
              </a:extLst>
            </p:cNvPr>
            <p:cNvSpPr/>
            <p:nvPr/>
          </p:nvSpPr>
          <p:spPr>
            <a:xfrm>
              <a:off x="333954" y="4190337"/>
              <a:ext cx="4253948" cy="2266122"/>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484" name="Picture 4" descr="Chromatin -Structure, Functions and Chromatin Analysis">
            <a:extLst>
              <a:ext uri="{FF2B5EF4-FFF2-40B4-BE49-F238E27FC236}">
                <a16:creationId xmlns:a16="http://schemas.microsoft.com/office/drawing/2014/main" id="{8E42C153-801E-2B7C-F3AC-83C710F2A5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794" y="4123263"/>
            <a:ext cx="3571875" cy="2524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9D44318-3321-4DD4-FA05-520B66A11351}"/>
              </a:ext>
            </a:extLst>
          </p:cNvPr>
          <p:cNvSpPr txBox="1"/>
          <p:nvPr/>
        </p:nvSpPr>
        <p:spPr>
          <a:xfrm>
            <a:off x="856111" y="5881851"/>
            <a:ext cx="1244251" cy="253916"/>
          </a:xfrm>
          <a:prstGeom prst="rect">
            <a:avLst/>
          </a:prstGeom>
          <a:noFill/>
        </p:spPr>
        <p:txBody>
          <a:bodyPr wrap="none" rtlCol="0">
            <a:spAutoFit/>
          </a:bodyPr>
          <a:lstStyle/>
          <a:p>
            <a:r>
              <a:rPr lang="en-US" sz="1050" b="1" dirty="0"/>
              <a:t>Heterochromatin</a:t>
            </a:r>
          </a:p>
        </p:txBody>
      </p:sp>
      <p:sp>
        <p:nvSpPr>
          <p:cNvPr id="7" name="TextBox 6">
            <a:extLst>
              <a:ext uri="{FF2B5EF4-FFF2-40B4-BE49-F238E27FC236}">
                <a16:creationId xmlns:a16="http://schemas.microsoft.com/office/drawing/2014/main" id="{E316D378-A4D9-B14A-2CA8-10A4227D5F45}"/>
              </a:ext>
            </a:extLst>
          </p:cNvPr>
          <p:cNvSpPr txBox="1"/>
          <p:nvPr/>
        </p:nvSpPr>
        <p:spPr>
          <a:xfrm>
            <a:off x="2636304" y="4617787"/>
            <a:ext cx="976549" cy="253916"/>
          </a:xfrm>
          <a:prstGeom prst="rect">
            <a:avLst/>
          </a:prstGeom>
          <a:noFill/>
        </p:spPr>
        <p:txBody>
          <a:bodyPr wrap="none" rtlCol="0">
            <a:spAutoFit/>
          </a:bodyPr>
          <a:lstStyle/>
          <a:p>
            <a:r>
              <a:rPr lang="en-US" sz="1050" b="1" dirty="0"/>
              <a:t>Euchromatin</a:t>
            </a:r>
          </a:p>
        </p:txBody>
      </p:sp>
      <p:sp>
        <p:nvSpPr>
          <p:cNvPr id="10" name="Rectangle 6">
            <a:extLst>
              <a:ext uri="{FF2B5EF4-FFF2-40B4-BE49-F238E27FC236}">
                <a16:creationId xmlns:a16="http://schemas.microsoft.com/office/drawing/2014/main" id="{F14F740A-04A6-7FF3-CA9C-5643C13DBE40}"/>
              </a:ext>
            </a:extLst>
          </p:cNvPr>
          <p:cNvSpPr>
            <a:spLocks noChangeArrowheads="1"/>
          </p:cNvSpPr>
          <p:nvPr/>
        </p:nvSpPr>
        <p:spPr bwMode="auto">
          <a:xfrm>
            <a:off x="0" y="-210612"/>
            <a:ext cx="65" cy="4212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7610" rIns="0" bIns="952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CBC071E5-134E-6BBF-5005-45835EB5CC01}"/>
              </a:ext>
            </a:extLst>
          </p:cNvPr>
          <p:cNvSpPr txBox="1"/>
          <p:nvPr/>
        </p:nvSpPr>
        <p:spPr>
          <a:xfrm>
            <a:off x="5812309" y="356653"/>
            <a:ext cx="5334129" cy="507831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D35"/>
                </a:solidFill>
                <a:effectLst/>
                <a:latin typeface="Google Sans"/>
              </a:rPr>
              <a:t>2 types of Chromatin in cells: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rgbClr val="001D35"/>
              </a:solidFill>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D35"/>
                </a:solidFill>
                <a:effectLst/>
                <a:latin typeface="Google Sans"/>
              </a:rPr>
              <a:t>1. </a:t>
            </a:r>
            <a:r>
              <a:rPr kumimoji="0" lang="en-US" altLang="en-US" sz="1200" b="0" i="0" u="none" strike="noStrike" cap="none" normalizeH="0" baseline="0" dirty="0">
                <a:ln>
                  <a:noFill/>
                </a:ln>
                <a:solidFill>
                  <a:srgbClr val="001D35"/>
                </a:solidFill>
                <a:effectLst/>
              </a:rPr>
              <a:t>Euchromatin:</a:t>
            </a:r>
            <a:endParaRPr kumimoji="0" lang="en-US" altLang="en-US" sz="1200" b="0" i="0" u="none" strike="noStrike" cap="none" normalizeH="0" baseline="0" dirty="0">
              <a:ln>
                <a:noFill/>
              </a:ln>
              <a:effectLst/>
            </a:endParaRPr>
          </a:p>
          <a:p>
            <a:pPr lvl="1" eaLnBrk="0" fontAlgn="base" hangingPunct="0">
              <a:spcBef>
                <a:spcPct val="0"/>
              </a:spcBef>
              <a:spcAft>
                <a:spcPct val="0"/>
              </a:spcAft>
              <a:buFontTx/>
              <a:buChar char="•"/>
            </a:pPr>
            <a:r>
              <a:rPr kumimoji="0" lang="en-US" altLang="en-US" sz="1200" b="1" i="0" u="none" strike="noStrike" cap="none" normalizeH="0" baseline="0" dirty="0">
                <a:ln>
                  <a:noFill/>
                </a:ln>
                <a:solidFill>
                  <a:srgbClr val="001D35"/>
                </a:solidFill>
                <a:effectLst/>
              </a:rPr>
              <a:t>Definition:</a:t>
            </a:r>
            <a:r>
              <a:rPr kumimoji="0" lang="en-US" altLang="en-US" sz="1200" b="0" i="0" u="none" strike="noStrike" cap="none" normalizeH="0" baseline="0" dirty="0">
                <a:ln>
                  <a:noFill/>
                </a:ln>
                <a:solidFill>
                  <a:srgbClr val="001D35"/>
                </a:solidFill>
                <a:effectLst/>
              </a:rPr>
              <a:t> Euchromatin is the less condensed, more open form of chromatin. </a:t>
            </a:r>
          </a:p>
          <a:p>
            <a:pPr lvl="1" eaLnBrk="0" fontAlgn="base" hangingPunct="0">
              <a:spcBef>
                <a:spcPct val="0"/>
              </a:spcBef>
              <a:spcAft>
                <a:spcPct val="0"/>
              </a:spcAft>
              <a:buFontTx/>
              <a:buChar char="•"/>
            </a:pPr>
            <a:r>
              <a:rPr kumimoji="0" lang="en-US" altLang="en-US" sz="1200" b="1" i="0" u="none" strike="noStrike" cap="none" normalizeH="0" baseline="0" dirty="0">
                <a:ln>
                  <a:noFill/>
                </a:ln>
                <a:solidFill>
                  <a:srgbClr val="001D35"/>
                </a:solidFill>
                <a:effectLst/>
              </a:rPr>
              <a:t>Function:</a:t>
            </a:r>
            <a:r>
              <a:rPr kumimoji="0" lang="en-US" altLang="en-US" sz="1200" b="0" i="0" u="none" strike="noStrike" cap="none" normalizeH="0" baseline="0" dirty="0">
                <a:ln>
                  <a:noFill/>
                </a:ln>
                <a:solidFill>
                  <a:srgbClr val="001D35"/>
                </a:solidFill>
                <a:effectLst/>
              </a:rPr>
              <a:t> Euchromatin is actively transcribed, meaning the DNA within is being used to make RNA and proteins. </a:t>
            </a:r>
          </a:p>
          <a:p>
            <a:pPr lvl="1" eaLnBrk="0" fontAlgn="base" hangingPunct="0">
              <a:spcBef>
                <a:spcPct val="0"/>
              </a:spcBef>
              <a:spcAft>
                <a:spcPct val="0"/>
              </a:spcAft>
              <a:buFontTx/>
              <a:buChar char="•"/>
            </a:pPr>
            <a:r>
              <a:rPr kumimoji="0" lang="en-US" altLang="en-US" sz="1200" b="1" i="0" u="none" strike="noStrike" cap="none" normalizeH="0" baseline="0" dirty="0">
                <a:ln>
                  <a:noFill/>
                </a:ln>
                <a:solidFill>
                  <a:srgbClr val="001D35"/>
                </a:solidFill>
                <a:effectLst/>
              </a:rPr>
              <a:t>Modifications:</a:t>
            </a:r>
            <a:r>
              <a:rPr kumimoji="0" lang="en-US" altLang="en-US" sz="1200" b="0" i="0" u="none" strike="noStrike" cap="none" normalizeH="0" baseline="0" dirty="0">
                <a:ln>
                  <a:noFill/>
                </a:ln>
                <a:solidFill>
                  <a:srgbClr val="001D35"/>
                </a:solidFill>
                <a:effectLst/>
              </a:rPr>
              <a:t> Euchromatin is often associated with histone acetylation, which helps to loosen the structure and allow access for transcription machinery. </a:t>
            </a:r>
          </a:p>
          <a:p>
            <a:pPr lvl="1" eaLnBrk="0" fontAlgn="base" hangingPunct="0">
              <a:spcBef>
                <a:spcPct val="0"/>
              </a:spcBef>
              <a:spcAft>
                <a:spcPct val="0"/>
              </a:spcAft>
            </a:pPr>
            <a:endParaRPr kumimoji="0" lang="en-US" altLang="en-US" sz="1200" b="0" i="0" u="none" strike="noStrike" cap="none" normalizeH="0" baseline="0" dirty="0">
              <a:ln>
                <a:noFill/>
              </a:ln>
              <a:solidFill>
                <a:srgbClr val="001D35"/>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D35"/>
                </a:solidFill>
                <a:effectLst/>
              </a:rPr>
              <a:t>2. Heterochromatin:</a:t>
            </a:r>
            <a:endParaRPr kumimoji="0" lang="en-US" altLang="en-US" sz="1200" b="0" i="0" u="none" strike="noStrike" cap="none" normalizeH="0" baseline="0" dirty="0">
              <a:ln>
                <a:noFill/>
              </a:ln>
              <a:effectLst/>
            </a:endParaRPr>
          </a:p>
          <a:p>
            <a:pPr lvl="1" eaLnBrk="0" fontAlgn="base" hangingPunct="0">
              <a:spcBef>
                <a:spcPct val="0"/>
              </a:spcBef>
              <a:spcAft>
                <a:spcPct val="0"/>
              </a:spcAft>
              <a:buFontTx/>
              <a:buChar char="•"/>
            </a:pPr>
            <a:r>
              <a:rPr kumimoji="0" lang="en-US" altLang="en-US" sz="1200" b="1" i="0" u="none" strike="noStrike" cap="none" normalizeH="0" baseline="0" dirty="0">
                <a:ln>
                  <a:noFill/>
                </a:ln>
                <a:solidFill>
                  <a:srgbClr val="001D35"/>
                </a:solidFill>
                <a:effectLst/>
              </a:rPr>
              <a:t>Definition:</a:t>
            </a:r>
            <a:r>
              <a:rPr kumimoji="0" lang="en-US" altLang="en-US" sz="1200" b="0" i="0" u="none" strike="noStrike" cap="none" normalizeH="0" baseline="0" dirty="0">
                <a:ln>
                  <a:noFill/>
                </a:ln>
                <a:solidFill>
                  <a:srgbClr val="001D35"/>
                </a:solidFill>
                <a:effectLst/>
              </a:rPr>
              <a:t> Heterochromatin is the more condensed, tightly packed form of chromatin. </a:t>
            </a:r>
          </a:p>
          <a:p>
            <a:pPr lvl="1" eaLnBrk="0" fontAlgn="base" hangingPunct="0">
              <a:spcBef>
                <a:spcPct val="0"/>
              </a:spcBef>
              <a:spcAft>
                <a:spcPct val="0"/>
              </a:spcAft>
              <a:buFontTx/>
              <a:buChar char="•"/>
            </a:pPr>
            <a:r>
              <a:rPr kumimoji="0" lang="en-US" altLang="en-US" sz="1200" b="1" i="0" u="none" strike="noStrike" cap="none" normalizeH="0" baseline="0" dirty="0">
                <a:ln>
                  <a:noFill/>
                </a:ln>
                <a:solidFill>
                  <a:srgbClr val="001D35"/>
                </a:solidFill>
                <a:effectLst/>
              </a:rPr>
              <a:t>Appearance:</a:t>
            </a:r>
            <a:r>
              <a:rPr kumimoji="0" lang="en-US" altLang="en-US" sz="1200" b="0" i="0" u="none" strike="noStrike" cap="none" normalizeH="0" baseline="0" dirty="0">
                <a:ln>
                  <a:noFill/>
                </a:ln>
                <a:solidFill>
                  <a:srgbClr val="001D35"/>
                </a:solidFill>
                <a:effectLst/>
              </a:rPr>
              <a:t> It appears as dark, dense regions in the nucleus. </a:t>
            </a:r>
          </a:p>
          <a:p>
            <a:pPr lvl="1" eaLnBrk="0" fontAlgn="base" hangingPunct="0">
              <a:spcBef>
                <a:spcPct val="0"/>
              </a:spcBef>
              <a:spcAft>
                <a:spcPct val="0"/>
              </a:spcAft>
              <a:buFontTx/>
              <a:buChar char="•"/>
            </a:pPr>
            <a:r>
              <a:rPr kumimoji="0" lang="en-US" altLang="en-US" sz="1200" b="1" i="0" u="none" strike="noStrike" cap="none" normalizeH="0" baseline="0" dirty="0">
                <a:ln>
                  <a:noFill/>
                </a:ln>
                <a:solidFill>
                  <a:srgbClr val="001D35"/>
                </a:solidFill>
                <a:effectLst/>
              </a:rPr>
              <a:t>Function:</a:t>
            </a:r>
            <a:r>
              <a:rPr kumimoji="0" lang="en-US" altLang="en-US" sz="1200" b="0" i="0" u="none" strike="noStrike" cap="none" normalizeH="0" baseline="0" dirty="0">
                <a:ln>
                  <a:noFill/>
                </a:ln>
                <a:solidFill>
                  <a:srgbClr val="001D35"/>
                </a:solidFill>
                <a:effectLst/>
              </a:rPr>
              <a:t> Heterochromatin is generally inactive, meaning the DNA within is not being transcribed. </a:t>
            </a:r>
          </a:p>
          <a:p>
            <a:pPr lvl="1" eaLnBrk="0" fontAlgn="base" hangingPunct="0">
              <a:spcBef>
                <a:spcPct val="0"/>
              </a:spcBef>
              <a:spcAft>
                <a:spcPct val="0"/>
              </a:spcAft>
            </a:pPr>
            <a:endParaRPr lang="en-US" altLang="en-US" sz="1200" dirty="0">
              <a:solidFill>
                <a:srgbClr val="001D35"/>
              </a:solidFill>
            </a:endParaRPr>
          </a:p>
          <a:p>
            <a:pPr lvl="1" eaLnBrk="0" fontAlgn="base" hangingPunct="0">
              <a:spcBef>
                <a:spcPct val="0"/>
              </a:spcBef>
              <a:spcAft>
                <a:spcPct val="0"/>
              </a:spcAft>
            </a:pPr>
            <a:r>
              <a:rPr kumimoji="0" lang="en-US" altLang="en-US" sz="1200" b="0" i="0" u="none" strike="noStrike" cap="none" normalizeH="0" baseline="0" dirty="0">
                <a:ln>
                  <a:noFill/>
                </a:ln>
                <a:solidFill>
                  <a:srgbClr val="FF0000"/>
                </a:solidFill>
                <a:effectLst/>
              </a:rPr>
              <a:t>Histones modification can give us insight on what type of genes are associating with the histone.</a:t>
            </a:r>
          </a:p>
          <a:p>
            <a:pPr lvl="1" eaLnBrk="0" fontAlgn="base" hangingPunct="0">
              <a:spcBef>
                <a:spcPct val="0"/>
              </a:spcBef>
              <a:spcAft>
                <a:spcPct val="0"/>
              </a:spcAft>
            </a:pPr>
            <a:endParaRPr kumimoji="0" lang="en-US" altLang="en-US" sz="1200" b="0" i="0" u="none" strike="noStrike" cap="none" normalizeH="0" baseline="0" dirty="0">
              <a:ln>
                <a:noFill/>
              </a:ln>
              <a:solidFill>
                <a:srgbClr val="FF0000"/>
              </a:solidFill>
              <a:effectLst/>
            </a:endParaRPr>
          </a:p>
          <a:p>
            <a:pPr lvl="1" eaLnBrk="0" fontAlgn="base" hangingPunct="0">
              <a:spcBef>
                <a:spcPct val="0"/>
              </a:spcBef>
              <a:spcAft>
                <a:spcPct val="0"/>
              </a:spcAft>
            </a:pPr>
            <a:r>
              <a:rPr lang="en-US" altLang="en-US" sz="1200" dirty="0"/>
              <a:t>Ex. H2K9Ac histones are often associated with genes that function as gene activators</a:t>
            </a:r>
          </a:p>
          <a:p>
            <a:pPr lvl="1" eaLnBrk="0" fontAlgn="base" hangingPunct="0">
              <a:spcBef>
                <a:spcPct val="0"/>
              </a:spcBef>
              <a:spcAft>
                <a:spcPct val="0"/>
              </a:spcAft>
            </a:pPr>
            <a:endParaRPr kumimoji="0" lang="en-US" altLang="en-US" sz="1200" b="0" i="0" u="none" strike="noStrike" cap="none" normalizeH="0" baseline="0" dirty="0">
              <a:ln>
                <a:noFill/>
              </a:ln>
              <a:effectLst/>
            </a:endParaRPr>
          </a:p>
          <a:p>
            <a:pPr lvl="1" eaLnBrk="0" fontAlgn="base" hangingPunct="0">
              <a:spcBef>
                <a:spcPct val="0"/>
              </a:spcBef>
              <a:spcAft>
                <a:spcPct val="0"/>
              </a:spcAft>
            </a:pPr>
            <a:r>
              <a:rPr kumimoji="0" lang="en-US" altLang="en-US" sz="1200" b="0" i="0" u="none" strike="noStrike" cap="none" normalizeH="0" baseline="0" dirty="0">
                <a:ln>
                  <a:noFill/>
                </a:ln>
                <a:effectLst/>
              </a:rPr>
              <a:t>Chromatin immunoprecipitation that will pull down genes associating with H2K9Ac may identify genes involved in activation in a sample</a:t>
            </a:r>
          </a:p>
          <a:p>
            <a:endParaRPr lang="en-US" sz="1200" dirty="0"/>
          </a:p>
        </p:txBody>
      </p:sp>
      <p:sp>
        <p:nvSpPr>
          <p:cNvPr id="16" name="Rectangle 15">
            <a:extLst>
              <a:ext uri="{FF2B5EF4-FFF2-40B4-BE49-F238E27FC236}">
                <a16:creationId xmlns:a16="http://schemas.microsoft.com/office/drawing/2014/main" id="{DB138260-4843-3AF8-3069-AD8C24EB48E6}"/>
              </a:ext>
            </a:extLst>
          </p:cNvPr>
          <p:cNvSpPr/>
          <p:nvPr/>
        </p:nvSpPr>
        <p:spPr>
          <a:xfrm>
            <a:off x="2427572" y="2207568"/>
            <a:ext cx="3147839" cy="2265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Reverse-crosslink and  digest protein to purify DNA or separate protein from DNA and analyze proteins isolated with the DNA</a:t>
            </a:r>
            <a:endParaRPr lang="en-US" sz="800" dirty="0"/>
          </a:p>
        </p:txBody>
      </p:sp>
      <p:sp>
        <p:nvSpPr>
          <p:cNvPr id="17" name="Rectangle 16">
            <a:extLst>
              <a:ext uri="{FF2B5EF4-FFF2-40B4-BE49-F238E27FC236}">
                <a16:creationId xmlns:a16="http://schemas.microsoft.com/office/drawing/2014/main" id="{A125FAC7-7BB1-823D-0913-5676AEAB0C47}"/>
              </a:ext>
            </a:extLst>
          </p:cNvPr>
          <p:cNvSpPr/>
          <p:nvPr/>
        </p:nvSpPr>
        <p:spPr>
          <a:xfrm>
            <a:off x="3421543" y="705240"/>
            <a:ext cx="1466719" cy="2265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Chemical cross-linking</a:t>
            </a:r>
            <a:endParaRPr lang="en-US" sz="800" dirty="0"/>
          </a:p>
        </p:txBody>
      </p:sp>
      <p:sp>
        <p:nvSpPr>
          <p:cNvPr id="21" name="Rectangle 20">
            <a:extLst>
              <a:ext uri="{FF2B5EF4-FFF2-40B4-BE49-F238E27FC236}">
                <a16:creationId xmlns:a16="http://schemas.microsoft.com/office/drawing/2014/main" id="{01AA0D56-0ECF-E9F8-B26F-FA4C208D61C2}"/>
              </a:ext>
            </a:extLst>
          </p:cNvPr>
          <p:cNvSpPr/>
          <p:nvPr/>
        </p:nvSpPr>
        <p:spPr>
          <a:xfrm>
            <a:off x="1892410" y="2775005"/>
            <a:ext cx="1001865" cy="5830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8AA817F-76FA-F0AA-3E34-D58E1C994809}"/>
              </a:ext>
            </a:extLst>
          </p:cNvPr>
          <p:cNvSpPr/>
          <p:nvPr/>
        </p:nvSpPr>
        <p:spPr>
          <a:xfrm>
            <a:off x="2894275" y="2631345"/>
            <a:ext cx="1247394" cy="7266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FA80830-B77F-D0B7-D728-BAAB71D6D922}"/>
              </a:ext>
            </a:extLst>
          </p:cNvPr>
          <p:cNvSpPr txBox="1"/>
          <p:nvPr/>
        </p:nvSpPr>
        <p:spPr>
          <a:xfrm>
            <a:off x="99680" y="116501"/>
            <a:ext cx="1013504" cy="1200329"/>
          </a:xfrm>
          <a:prstGeom prst="rect">
            <a:avLst/>
          </a:prstGeom>
          <a:noFill/>
        </p:spPr>
        <p:txBody>
          <a:bodyPr wrap="square">
            <a:spAutoFit/>
          </a:bodyPr>
          <a:lstStyle/>
          <a:p>
            <a:r>
              <a:rPr lang="en-US" sz="800" b="0" i="0" dirty="0">
                <a:solidFill>
                  <a:srgbClr val="222222"/>
                </a:solidFill>
                <a:effectLst/>
                <a:latin typeface="-apple-system"/>
              </a:rPr>
              <a:t>Park, P. </a:t>
            </a:r>
            <a:r>
              <a:rPr lang="en-US" sz="800" b="0" i="0" dirty="0" err="1">
                <a:solidFill>
                  <a:srgbClr val="222222"/>
                </a:solidFill>
                <a:effectLst/>
                <a:latin typeface="-apple-system"/>
              </a:rPr>
              <a:t>ChIP</a:t>
            </a:r>
            <a:r>
              <a:rPr lang="en-US" sz="800" b="0" i="0" dirty="0">
                <a:solidFill>
                  <a:srgbClr val="222222"/>
                </a:solidFill>
                <a:effectLst/>
                <a:latin typeface="-apple-system"/>
              </a:rPr>
              <a:t>–seq: advantages and challenges of a maturing technology. </a:t>
            </a:r>
            <a:r>
              <a:rPr lang="en-US" sz="800" b="0" i="1" dirty="0">
                <a:solidFill>
                  <a:srgbClr val="222222"/>
                </a:solidFill>
                <a:effectLst/>
                <a:latin typeface="-apple-system"/>
              </a:rPr>
              <a:t>Nat Rev Genet</a:t>
            </a:r>
            <a:r>
              <a:rPr lang="en-US" sz="800" b="0" i="0" dirty="0">
                <a:solidFill>
                  <a:srgbClr val="222222"/>
                </a:solidFill>
                <a:effectLst/>
                <a:latin typeface="-apple-system"/>
              </a:rPr>
              <a:t> </a:t>
            </a:r>
            <a:r>
              <a:rPr lang="en-US" sz="800" b="1" i="0" dirty="0">
                <a:solidFill>
                  <a:srgbClr val="222222"/>
                </a:solidFill>
                <a:effectLst/>
                <a:latin typeface="-apple-system"/>
              </a:rPr>
              <a:t>10</a:t>
            </a:r>
            <a:r>
              <a:rPr lang="en-US" sz="800" b="0" i="0" dirty="0">
                <a:solidFill>
                  <a:srgbClr val="222222"/>
                </a:solidFill>
                <a:effectLst/>
                <a:latin typeface="-apple-system"/>
              </a:rPr>
              <a:t>, 669–680 (2009). https://doi.org/10.1038/nrg2641</a:t>
            </a:r>
            <a:endParaRPr lang="en-US" sz="800" dirty="0"/>
          </a:p>
        </p:txBody>
      </p:sp>
      <p:cxnSp>
        <p:nvCxnSpPr>
          <p:cNvPr id="25" name="Straight Arrow Connector 24">
            <a:extLst>
              <a:ext uri="{FF2B5EF4-FFF2-40B4-BE49-F238E27FC236}">
                <a16:creationId xmlns:a16="http://schemas.microsoft.com/office/drawing/2014/main" id="{7B4EFE2A-180D-BEAD-D4B1-A5B86067F3D2}"/>
              </a:ext>
            </a:extLst>
          </p:cNvPr>
          <p:cNvCxnSpPr/>
          <p:nvPr/>
        </p:nvCxnSpPr>
        <p:spPr>
          <a:xfrm>
            <a:off x="1113183" y="3375914"/>
            <a:ext cx="848489" cy="43276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Rectangle 28">
            <a:extLst>
              <a:ext uri="{FF2B5EF4-FFF2-40B4-BE49-F238E27FC236}">
                <a16:creationId xmlns:a16="http://schemas.microsoft.com/office/drawing/2014/main" id="{0E6107EC-880C-A11A-4DF3-D7C49CE0F5A4}"/>
              </a:ext>
            </a:extLst>
          </p:cNvPr>
          <p:cNvSpPr/>
          <p:nvPr/>
        </p:nvSpPr>
        <p:spPr>
          <a:xfrm>
            <a:off x="1997256" y="3695386"/>
            <a:ext cx="2063330" cy="2265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solidFill>
              </a:rPr>
              <a:t>PCR amplification and index incorporation</a:t>
            </a:r>
            <a:endParaRPr lang="en-US" sz="800" dirty="0"/>
          </a:p>
        </p:txBody>
      </p:sp>
      <p:sp>
        <p:nvSpPr>
          <p:cNvPr id="2" name="TextBox 1">
            <a:extLst>
              <a:ext uri="{FF2B5EF4-FFF2-40B4-BE49-F238E27FC236}">
                <a16:creationId xmlns:a16="http://schemas.microsoft.com/office/drawing/2014/main" id="{5AA087A3-19E1-FBD7-CD64-E075808930E2}"/>
              </a:ext>
            </a:extLst>
          </p:cNvPr>
          <p:cNvSpPr txBox="1"/>
          <p:nvPr/>
        </p:nvSpPr>
        <p:spPr>
          <a:xfrm>
            <a:off x="5452110" y="6135767"/>
            <a:ext cx="6229350" cy="369332"/>
          </a:xfrm>
          <a:prstGeom prst="rect">
            <a:avLst/>
          </a:prstGeom>
          <a:noFill/>
        </p:spPr>
        <p:txBody>
          <a:bodyPr wrap="square">
            <a:spAutoFit/>
          </a:bodyPr>
          <a:lstStyle/>
          <a:p>
            <a:r>
              <a:rPr lang="en-US" dirty="0">
                <a:hlinkClick r:id="rId5"/>
              </a:rPr>
              <a:t>https://</a:t>
            </a:r>
            <a:r>
              <a:rPr lang="en-US" dirty="0" err="1">
                <a:hlinkClick r:id="rId5"/>
              </a:rPr>
              <a:t>youtu.be</a:t>
            </a:r>
            <a:r>
              <a:rPr lang="en-US" dirty="0">
                <a:hlinkClick r:id="rId5"/>
              </a:rPr>
              <a:t>/</a:t>
            </a:r>
            <a:r>
              <a:rPr lang="en-US" dirty="0" err="1">
                <a:hlinkClick r:id="rId5"/>
              </a:rPr>
              <a:t>992RkrUwGfo?si</a:t>
            </a:r>
            <a:r>
              <a:rPr lang="en-US" dirty="0">
                <a:hlinkClick r:id="rId5"/>
              </a:rPr>
              <a:t>=</a:t>
            </a:r>
            <a:r>
              <a:rPr lang="en-US" dirty="0" err="1">
                <a:hlinkClick r:id="rId5"/>
              </a:rPr>
              <a:t>g24nko9bNq71Z_Oi&amp;t</a:t>
            </a:r>
            <a:r>
              <a:rPr lang="en-US" dirty="0">
                <a:hlinkClick r:id="rId5"/>
              </a:rPr>
              <a:t>=68</a:t>
            </a:r>
            <a:endParaRPr lang="en-US" dirty="0"/>
          </a:p>
        </p:txBody>
      </p:sp>
    </p:spTree>
    <p:extLst>
      <p:ext uri="{BB962C8B-B14F-4D97-AF65-F5344CB8AC3E}">
        <p14:creationId xmlns:p14="http://schemas.microsoft.com/office/powerpoint/2010/main" val="2025484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F10B76-BB0B-3283-7385-935B4487168E}"/>
              </a:ext>
            </a:extLst>
          </p:cNvPr>
          <p:cNvSpPr txBox="1"/>
          <p:nvPr/>
        </p:nvSpPr>
        <p:spPr>
          <a:xfrm>
            <a:off x="452818" y="259785"/>
            <a:ext cx="5661935" cy="369332"/>
          </a:xfrm>
          <a:prstGeom prst="rect">
            <a:avLst/>
          </a:prstGeom>
          <a:noFill/>
        </p:spPr>
        <p:txBody>
          <a:bodyPr wrap="none" rtlCol="0">
            <a:spAutoFit/>
          </a:bodyPr>
          <a:lstStyle/>
          <a:p>
            <a:r>
              <a:rPr lang="en-US" u="sng" dirty="0"/>
              <a:t>ATAC seq- (</a:t>
            </a:r>
            <a:r>
              <a:rPr lang="en-US" u="sng" dirty="0">
                <a:solidFill>
                  <a:srgbClr val="FF0000"/>
                </a:solidFill>
              </a:rPr>
              <a:t>A</a:t>
            </a:r>
            <a:r>
              <a:rPr lang="en-US" u="sng" dirty="0"/>
              <a:t>ssay for </a:t>
            </a:r>
            <a:r>
              <a:rPr lang="en-US" u="sng" dirty="0">
                <a:solidFill>
                  <a:srgbClr val="FF0000"/>
                </a:solidFill>
              </a:rPr>
              <a:t>T</a:t>
            </a:r>
            <a:r>
              <a:rPr lang="en-US" u="sng" dirty="0"/>
              <a:t>ranspose </a:t>
            </a:r>
            <a:r>
              <a:rPr lang="en-US" u="sng" dirty="0">
                <a:solidFill>
                  <a:srgbClr val="FF0000"/>
                </a:solidFill>
              </a:rPr>
              <a:t>A</a:t>
            </a:r>
            <a:r>
              <a:rPr lang="en-US" u="sng" dirty="0"/>
              <a:t>ccessible </a:t>
            </a:r>
            <a:r>
              <a:rPr lang="en-US" u="sng" dirty="0">
                <a:solidFill>
                  <a:srgbClr val="FF0000"/>
                </a:solidFill>
              </a:rPr>
              <a:t>C</a:t>
            </a:r>
            <a:r>
              <a:rPr lang="en-US" u="sng" dirty="0"/>
              <a:t>hromatin):</a:t>
            </a:r>
          </a:p>
        </p:txBody>
      </p:sp>
      <p:pic>
        <p:nvPicPr>
          <p:cNvPr id="21506" name="Picture 2" descr="Complete Guide to Understanding and Using ATAC-Seq">
            <a:extLst>
              <a:ext uri="{FF2B5EF4-FFF2-40B4-BE49-F238E27FC236}">
                <a16:creationId xmlns:a16="http://schemas.microsoft.com/office/drawing/2014/main" id="{EE9F8DD9-D9BD-3B84-4448-8B404203FC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310" y="737779"/>
            <a:ext cx="6932337" cy="59962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5CB03B7-4714-B280-0F51-96FADC8D3731}"/>
              </a:ext>
            </a:extLst>
          </p:cNvPr>
          <p:cNvSpPr txBox="1"/>
          <p:nvPr/>
        </p:nvSpPr>
        <p:spPr>
          <a:xfrm>
            <a:off x="8705374" y="5553851"/>
            <a:ext cx="832279" cy="246221"/>
          </a:xfrm>
          <a:prstGeom prst="rect">
            <a:avLst/>
          </a:prstGeom>
          <a:noFill/>
        </p:spPr>
        <p:txBody>
          <a:bodyPr wrap="none" rtlCol="0">
            <a:spAutoFit/>
          </a:bodyPr>
          <a:lstStyle/>
          <a:p>
            <a:r>
              <a:rPr lang="en-US" sz="1000" dirty="0"/>
              <a:t>Active Motif</a:t>
            </a:r>
          </a:p>
        </p:txBody>
      </p:sp>
      <p:pic>
        <p:nvPicPr>
          <p:cNvPr id="6" name="Picture 6" descr="Overview of NGS library preparation by fragmentation">
            <a:extLst>
              <a:ext uri="{FF2B5EF4-FFF2-40B4-BE49-F238E27FC236}">
                <a16:creationId xmlns:a16="http://schemas.microsoft.com/office/drawing/2014/main" id="{E42200EB-5326-AC32-7F63-2AB9E6DF9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4830" y="88231"/>
            <a:ext cx="3317170" cy="1939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556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B8B2B-C3B9-437C-ACA2-7A333D3334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3AE258-4EB5-642F-B9FA-9245AB4FD2C6}"/>
              </a:ext>
            </a:extLst>
          </p:cNvPr>
          <p:cNvSpPr txBox="1"/>
          <p:nvPr/>
        </p:nvSpPr>
        <p:spPr>
          <a:xfrm>
            <a:off x="452818" y="259785"/>
            <a:ext cx="5191934" cy="369332"/>
          </a:xfrm>
          <a:prstGeom prst="rect">
            <a:avLst/>
          </a:prstGeom>
          <a:noFill/>
        </p:spPr>
        <p:txBody>
          <a:bodyPr wrap="none" rtlCol="0">
            <a:spAutoFit/>
          </a:bodyPr>
          <a:lstStyle/>
          <a:p>
            <a:r>
              <a:rPr lang="en-US" u="sng" dirty="0"/>
              <a:t>Hi-C- (</a:t>
            </a:r>
            <a:r>
              <a:rPr lang="en-US" u="sng" dirty="0">
                <a:solidFill>
                  <a:srgbClr val="FF0000"/>
                </a:solidFill>
              </a:rPr>
              <a:t>A</a:t>
            </a:r>
            <a:r>
              <a:rPr lang="en-US" u="sng" dirty="0"/>
              <a:t>ssay for </a:t>
            </a:r>
            <a:r>
              <a:rPr lang="en-US" u="sng" dirty="0">
                <a:solidFill>
                  <a:srgbClr val="FF0000"/>
                </a:solidFill>
              </a:rPr>
              <a:t>T</a:t>
            </a:r>
            <a:r>
              <a:rPr lang="en-US" u="sng" dirty="0"/>
              <a:t>ranspose </a:t>
            </a:r>
            <a:r>
              <a:rPr lang="en-US" u="sng" dirty="0">
                <a:solidFill>
                  <a:srgbClr val="FF0000"/>
                </a:solidFill>
              </a:rPr>
              <a:t>A</a:t>
            </a:r>
            <a:r>
              <a:rPr lang="en-US" u="sng" dirty="0"/>
              <a:t>ccessible </a:t>
            </a:r>
            <a:r>
              <a:rPr lang="en-US" u="sng" dirty="0">
                <a:solidFill>
                  <a:srgbClr val="FF0000"/>
                </a:solidFill>
              </a:rPr>
              <a:t>C</a:t>
            </a:r>
            <a:r>
              <a:rPr lang="en-US" u="sng" dirty="0"/>
              <a:t>hromatin):</a:t>
            </a:r>
          </a:p>
        </p:txBody>
      </p:sp>
      <p:sp>
        <p:nvSpPr>
          <p:cNvPr id="7" name="TextBox 6">
            <a:extLst>
              <a:ext uri="{FF2B5EF4-FFF2-40B4-BE49-F238E27FC236}">
                <a16:creationId xmlns:a16="http://schemas.microsoft.com/office/drawing/2014/main" id="{86C55164-67F9-F924-7E76-4A554C0CC8AB}"/>
              </a:ext>
            </a:extLst>
          </p:cNvPr>
          <p:cNvSpPr txBox="1"/>
          <p:nvPr/>
        </p:nvSpPr>
        <p:spPr>
          <a:xfrm>
            <a:off x="452818" y="715128"/>
            <a:ext cx="6094674" cy="1384995"/>
          </a:xfrm>
          <a:prstGeom prst="rect">
            <a:avLst/>
          </a:prstGeom>
          <a:noFill/>
        </p:spPr>
        <p:txBody>
          <a:bodyPr wrap="square">
            <a:spAutoFit/>
          </a:bodyPr>
          <a:lstStyle/>
          <a:p>
            <a:r>
              <a:rPr lang="en-US" sz="1200" b="0" i="0" dirty="0">
                <a:solidFill>
                  <a:srgbClr val="001D35"/>
                </a:solidFill>
                <a:effectLst/>
              </a:rPr>
              <a:t>a method to study the three-dimensional structure of genomes by mapping chromatin interactions genome-wide, revealing how distant genomic regions interact in the nucleus</a:t>
            </a:r>
          </a:p>
          <a:p>
            <a:endParaRPr lang="en-US" sz="1200" dirty="0">
              <a:solidFill>
                <a:srgbClr val="001D35"/>
              </a:solidFill>
            </a:endParaRPr>
          </a:p>
          <a:p>
            <a:r>
              <a:rPr lang="en-US" sz="1200" dirty="0">
                <a:solidFill>
                  <a:srgbClr val="001D35"/>
                </a:solidFill>
              </a:rPr>
              <a:t>Measure how 2 fragments of DNA may interact with each other</a:t>
            </a:r>
          </a:p>
          <a:p>
            <a:endParaRPr lang="en-US" sz="1200" dirty="0">
              <a:solidFill>
                <a:srgbClr val="001D35"/>
              </a:solidFill>
            </a:endParaRPr>
          </a:p>
          <a:p>
            <a:r>
              <a:rPr lang="en-US" sz="1200" b="0" i="0" dirty="0">
                <a:effectLst/>
              </a:rPr>
              <a:t>Studying the 3D structure of genomes and its relationship to gene regulation and evolution. </a:t>
            </a:r>
            <a:endParaRPr lang="en-US" sz="1200" dirty="0"/>
          </a:p>
        </p:txBody>
      </p:sp>
      <p:pic>
        <p:nvPicPr>
          <p:cNvPr id="22530" name="Picture 2" descr="Next-Gen Chromosome Conformation Capture">
            <a:extLst>
              <a:ext uri="{FF2B5EF4-FFF2-40B4-BE49-F238E27FC236}">
                <a16:creationId xmlns:a16="http://schemas.microsoft.com/office/drawing/2014/main" id="{BE5017D6-5189-9839-CE20-87B22F6E1C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065" y="2016195"/>
            <a:ext cx="6667500" cy="47339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Overview of NGS library preparation by fragmentation">
            <a:extLst>
              <a:ext uri="{FF2B5EF4-FFF2-40B4-BE49-F238E27FC236}">
                <a16:creationId xmlns:a16="http://schemas.microsoft.com/office/drawing/2014/main" id="{1BCA529E-2C84-545E-1580-3013257D80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74830" y="88231"/>
            <a:ext cx="3317170" cy="1939393"/>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13B0ECDC-8C15-4AFD-C6EA-77978C2F4EE4}"/>
              </a:ext>
            </a:extLst>
          </p:cNvPr>
          <p:cNvCxnSpPr/>
          <p:nvPr/>
        </p:nvCxnSpPr>
        <p:spPr>
          <a:xfrm>
            <a:off x="1081377" y="5677231"/>
            <a:ext cx="1168842" cy="2464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5D664603-3C49-F71F-228F-076BDDB799F3}"/>
              </a:ext>
            </a:extLst>
          </p:cNvPr>
          <p:cNvSpPr txBox="1"/>
          <p:nvPr/>
        </p:nvSpPr>
        <p:spPr>
          <a:xfrm>
            <a:off x="100231" y="5400232"/>
            <a:ext cx="1395638" cy="276999"/>
          </a:xfrm>
          <a:prstGeom prst="rect">
            <a:avLst/>
          </a:prstGeom>
          <a:noFill/>
        </p:spPr>
        <p:txBody>
          <a:bodyPr wrap="none" rtlCol="0">
            <a:spAutoFit/>
          </a:bodyPr>
          <a:lstStyle/>
          <a:p>
            <a:r>
              <a:rPr lang="en-US" sz="1200" b="1" dirty="0"/>
              <a:t>Proximity ligation</a:t>
            </a:r>
          </a:p>
        </p:txBody>
      </p:sp>
    </p:spTree>
    <p:extLst>
      <p:ext uri="{BB962C8B-B14F-4D97-AF65-F5344CB8AC3E}">
        <p14:creationId xmlns:p14="http://schemas.microsoft.com/office/powerpoint/2010/main" val="1773994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D91F-61B7-0EE7-FAE9-500C37215CA1}"/>
            </a:ext>
          </a:extLst>
        </p:cNvPr>
        <p:cNvGrpSpPr/>
        <p:nvPr/>
      </p:nvGrpSpPr>
      <p:grpSpPr>
        <a:xfrm>
          <a:off x="0" y="0"/>
          <a:ext cx="0" cy="0"/>
          <a:chOff x="0" y="0"/>
          <a:chExt cx="0" cy="0"/>
        </a:xfrm>
      </p:grpSpPr>
      <p:pic>
        <p:nvPicPr>
          <p:cNvPr id="14338" name="Picture 2" descr="Cells growing in a tissue culture petri dish, adhered to dish bottom and  immersed in liquid medium (pink) | Learn Science at Scitable">
            <a:extLst>
              <a:ext uri="{FF2B5EF4-FFF2-40B4-BE49-F238E27FC236}">
                <a16:creationId xmlns:a16="http://schemas.microsoft.com/office/drawing/2014/main" id="{0852F7DF-75F3-57BE-EDBD-F56876C535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160" y="1521609"/>
            <a:ext cx="2119851" cy="92667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FC0D85E-F4CC-F87A-5914-93791D6F5D3E}"/>
              </a:ext>
            </a:extLst>
          </p:cNvPr>
          <p:cNvSpPr txBox="1"/>
          <p:nvPr/>
        </p:nvSpPr>
        <p:spPr>
          <a:xfrm>
            <a:off x="1362279" y="2423749"/>
            <a:ext cx="1101584" cy="261610"/>
          </a:xfrm>
          <a:prstGeom prst="rect">
            <a:avLst/>
          </a:prstGeom>
          <a:noFill/>
        </p:spPr>
        <p:txBody>
          <a:bodyPr wrap="none" rtlCol="0">
            <a:spAutoFit/>
          </a:bodyPr>
          <a:lstStyle/>
          <a:p>
            <a:r>
              <a:rPr lang="en-US" sz="1050" dirty="0"/>
              <a:t>Cells in culture</a:t>
            </a:r>
          </a:p>
        </p:txBody>
      </p:sp>
      <p:sp>
        <p:nvSpPr>
          <p:cNvPr id="4" name="TextBox 3">
            <a:extLst>
              <a:ext uri="{FF2B5EF4-FFF2-40B4-BE49-F238E27FC236}">
                <a16:creationId xmlns:a16="http://schemas.microsoft.com/office/drawing/2014/main" id="{52EA224B-1121-2102-9C21-E75BA37A1523}"/>
              </a:ext>
            </a:extLst>
          </p:cNvPr>
          <p:cNvSpPr txBox="1"/>
          <p:nvPr/>
        </p:nvSpPr>
        <p:spPr>
          <a:xfrm>
            <a:off x="4219953" y="4335339"/>
            <a:ext cx="2823618" cy="415498"/>
          </a:xfrm>
          <a:prstGeom prst="rect">
            <a:avLst/>
          </a:prstGeom>
          <a:noFill/>
        </p:spPr>
        <p:txBody>
          <a:bodyPr wrap="square" rtlCol="0">
            <a:spAutoFit/>
          </a:bodyPr>
          <a:lstStyle/>
          <a:p>
            <a:r>
              <a:rPr lang="en-US" sz="1000" dirty="0"/>
              <a:t>Cells in a 3D co-culture (organoids or spheroids)</a:t>
            </a:r>
          </a:p>
          <a:p>
            <a:r>
              <a:rPr lang="en-US" sz="1000" dirty="0"/>
              <a:t>Mimic the 3D environment of cells in our bodies</a:t>
            </a:r>
          </a:p>
        </p:txBody>
      </p:sp>
      <p:grpSp>
        <p:nvGrpSpPr>
          <p:cNvPr id="12" name="Group 11">
            <a:extLst>
              <a:ext uri="{FF2B5EF4-FFF2-40B4-BE49-F238E27FC236}">
                <a16:creationId xmlns:a16="http://schemas.microsoft.com/office/drawing/2014/main" id="{E5F72C17-F6D7-33BB-83BC-411884AD4AE4}"/>
              </a:ext>
            </a:extLst>
          </p:cNvPr>
          <p:cNvGrpSpPr/>
          <p:nvPr/>
        </p:nvGrpSpPr>
        <p:grpSpPr>
          <a:xfrm>
            <a:off x="8344240" y="1034942"/>
            <a:ext cx="3176795" cy="2192969"/>
            <a:chOff x="-807600" y="6300011"/>
            <a:chExt cx="4616817" cy="3139680"/>
          </a:xfrm>
        </p:grpSpPr>
        <p:pic>
          <p:nvPicPr>
            <p:cNvPr id="9" name="Picture 8">
              <a:extLst>
                <a:ext uri="{FF2B5EF4-FFF2-40B4-BE49-F238E27FC236}">
                  <a16:creationId xmlns:a16="http://schemas.microsoft.com/office/drawing/2014/main" id="{AA9C290F-6B99-29EA-F5F8-4D6E20F2806A}"/>
                </a:ext>
              </a:extLst>
            </p:cNvPr>
            <p:cNvPicPr>
              <a:picLocks noChangeAspect="1"/>
            </p:cNvPicPr>
            <p:nvPr/>
          </p:nvPicPr>
          <p:blipFill>
            <a:blip r:embed="rId4"/>
            <a:stretch>
              <a:fillRect/>
            </a:stretch>
          </p:blipFill>
          <p:spPr>
            <a:xfrm>
              <a:off x="263283" y="6300011"/>
              <a:ext cx="3545934" cy="3139680"/>
            </a:xfrm>
            <a:prstGeom prst="rect">
              <a:avLst/>
            </a:prstGeom>
          </p:spPr>
        </p:pic>
        <p:sp>
          <p:nvSpPr>
            <p:cNvPr id="11" name="TextBox 10">
              <a:extLst>
                <a:ext uri="{FF2B5EF4-FFF2-40B4-BE49-F238E27FC236}">
                  <a16:creationId xmlns:a16="http://schemas.microsoft.com/office/drawing/2014/main" id="{CF5F8BD5-BA86-4E85-CC00-8DFCE9CD01AC}"/>
                </a:ext>
              </a:extLst>
            </p:cNvPr>
            <p:cNvSpPr txBox="1"/>
            <p:nvPr/>
          </p:nvSpPr>
          <p:spPr>
            <a:xfrm>
              <a:off x="-807600" y="8793360"/>
              <a:ext cx="2852971" cy="646331"/>
            </a:xfrm>
            <a:prstGeom prst="rect">
              <a:avLst/>
            </a:prstGeom>
            <a:noFill/>
          </p:spPr>
          <p:txBody>
            <a:bodyPr wrap="square">
              <a:spAutoFit/>
            </a:bodyPr>
            <a:lstStyle/>
            <a:p>
              <a:r>
                <a:rPr lang="en-US" sz="600" dirty="0"/>
                <a:t>Zhao, </a:t>
              </a:r>
              <a:r>
                <a:rPr lang="en-US" sz="600" dirty="0" err="1"/>
                <a:t>Deyao</a:t>
              </a:r>
              <a:r>
                <a:rPr lang="en-US" sz="600" dirty="0"/>
                <a:t> &amp; Mo, </a:t>
              </a:r>
              <a:r>
                <a:rPr lang="en-US" sz="600" dirty="0" err="1"/>
                <a:t>Yingyi</a:t>
              </a:r>
              <a:r>
                <a:rPr lang="en-US" sz="600" dirty="0"/>
                <a:t> &amp; </a:t>
              </a:r>
              <a:r>
                <a:rPr lang="en-US" sz="600" dirty="0" err="1"/>
                <a:t>Neganova</a:t>
              </a:r>
              <a:r>
                <a:rPr lang="en-US" sz="600" dirty="0"/>
                <a:t>, Margarita &amp; </a:t>
              </a:r>
              <a:r>
                <a:rPr lang="en-US" sz="600" dirty="0" err="1"/>
                <a:t>Yu.R</a:t>
              </a:r>
              <a:r>
                <a:rPr lang="en-US" sz="600" dirty="0"/>
                <a:t>., Aleksandrova &amp; Tse, Edmund &amp; </a:t>
              </a:r>
              <a:r>
                <a:rPr lang="en-US" sz="600" dirty="0" err="1"/>
                <a:t>Chubarev</a:t>
              </a:r>
              <a:r>
                <a:rPr lang="en-US" sz="600" dirty="0"/>
                <a:t>, Vladimir &amp; Fan, </a:t>
              </a:r>
              <a:r>
                <a:rPr lang="en-US" sz="600" dirty="0" err="1"/>
                <a:t>Ruitai</a:t>
              </a:r>
              <a:r>
                <a:rPr lang="en-US" sz="600" dirty="0"/>
                <a:t> &amp; </a:t>
              </a:r>
              <a:r>
                <a:rPr lang="en-US" sz="600" dirty="0" err="1"/>
                <a:t>Sukocheva</a:t>
              </a:r>
              <a:r>
                <a:rPr lang="en-US" sz="600" dirty="0"/>
                <a:t>, Olga &amp; Liu, </a:t>
              </a:r>
              <a:r>
                <a:rPr lang="en-US" sz="600" dirty="0" err="1"/>
                <a:t>Junqi</a:t>
              </a:r>
              <a:r>
                <a:rPr lang="en-US" sz="600" dirty="0"/>
                <a:t>. (2023). Dual effects of radiotherapy on tumor microenvironment and its contribution towards the development of resistance to immunotherapy in gastrointestinal and thoracic cancers. Frontiers in Cell and Developmental Biology. 11. 1266537. 10.3389/fcell.2023.1266537</a:t>
              </a:r>
            </a:p>
          </p:txBody>
        </p:sp>
      </p:grpSp>
      <p:pic>
        <p:nvPicPr>
          <p:cNvPr id="14344" name="Picture 8" descr="Compare FFPE to CLARITY and Tru3D ...">
            <a:extLst>
              <a:ext uri="{FF2B5EF4-FFF2-40B4-BE49-F238E27FC236}">
                <a16:creationId xmlns:a16="http://schemas.microsoft.com/office/drawing/2014/main" id="{8A71CBBF-C002-A158-A925-537FB2CC2C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9089" y="4927171"/>
            <a:ext cx="1205669" cy="1205669"/>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Organoid-Immune Co-Culture Models for Cancer Research">
            <a:extLst>
              <a:ext uri="{FF2B5EF4-FFF2-40B4-BE49-F238E27FC236}">
                <a16:creationId xmlns:a16="http://schemas.microsoft.com/office/drawing/2014/main" id="{FD19633E-8A25-BC9F-2545-BFBDDB5554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9953" y="2585856"/>
            <a:ext cx="2823618" cy="1686288"/>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27610BBD-D1AB-065A-43F1-08055478DFC1}"/>
              </a:ext>
            </a:extLst>
          </p:cNvPr>
          <p:cNvSpPr txBox="1"/>
          <p:nvPr/>
        </p:nvSpPr>
        <p:spPr>
          <a:xfrm>
            <a:off x="4858247" y="321280"/>
            <a:ext cx="2266121" cy="1200329"/>
          </a:xfrm>
          <a:prstGeom prst="rect">
            <a:avLst/>
          </a:prstGeom>
          <a:noFill/>
        </p:spPr>
        <p:txBody>
          <a:bodyPr wrap="square" rtlCol="0">
            <a:spAutoFit/>
          </a:bodyPr>
          <a:lstStyle/>
          <a:p>
            <a:pPr algn="ctr"/>
            <a:r>
              <a:rPr lang="en-US" sz="2400" b="1" dirty="0"/>
              <a:t>VERSALITLITY OF SEQUENCING</a:t>
            </a:r>
          </a:p>
        </p:txBody>
      </p:sp>
      <p:pic>
        <p:nvPicPr>
          <p:cNvPr id="16386" name="Picture 2" descr="PAXgene Blood RNA Tubes">
            <a:extLst>
              <a:ext uri="{FF2B5EF4-FFF2-40B4-BE49-F238E27FC236}">
                <a16:creationId xmlns:a16="http://schemas.microsoft.com/office/drawing/2014/main" id="{6EF141CD-13D8-60E7-0521-005B38B0EC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472" y="5016722"/>
            <a:ext cx="1586392" cy="1163751"/>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PAXgene Blood DNA Tubes">
            <a:extLst>
              <a:ext uri="{FF2B5EF4-FFF2-40B4-BE49-F238E27FC236}">
                <a16:creationId xmlns:a16="http://schemas.microsoft.com/office/drawing/2014/main" id="{4A6329ED-608F-0BA2-CA46-4F510A61895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2621" y="3987296"/>
            <a:ext cx="1832133" cy="102942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FADAEE1-6336-642F-D1F5-B37D11420B94}"/>
              </a:ext>
            </a:extLst>
          </p:cNvPr>
          <p:cNvSpPr txBox="1"/>
          <p:nvPr/>
        </p:nvSpPr>
        <p:spPr>
          <a:xfrm>
            <a:off x="752621" y="6294121"/>
            <a:ext cx="2893741" cy="253916"/>
          </a:xfrm>
          <a:prstGeom prst="rect">
            <a:avLst/>
          </a:prstGeom>
          <a:noFill/>
        </p:spPr>
        <p:txBody>
          <a:bodyPr wrap="none" rtlCol="0">
            <a:spAutoFit/>
          </a:bodyPr>
          <a:lstStyle/>
          <a:p>
            <a:r>
              <a:rPr lang="en-US" sz="1050" dirty="0"/>
              <a:t>DNA/RNA from blood, serum/plasma, biopsies</a:t>
            </a:r>
          </a:p>
        </p:txBody>
      </p:sp>
    </p:spTree>
    <p:extLst>
      <p:ext uri="{BB962C8B-B14F-4D97-AF65-F5344CB8AC3E}">
        <p14:creationId xmlns:p14="http://schemas.microsoft.com/office/powerpoint/2010/main" val="3377906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3E982D-7210-322E-248C-DC71CCA2425A}"/>
              </a:ext>
            </a:extLst>
          </p:cNvPr>
          <p:cNvSpPr txBox="1"/>
          <p:nvPr/>
        </p:nvSpPr>
        <p:spPr>
          <a:xfrm>
            <a:off x="2130950" y="270858"/>
            <a:ext cx="9048584" cy="461665"/>
          </a:xfrm>
          <a:prstGeom prst="rect">
            <a:avLst/>
          </a:prstGeom>
          <a:noFill/>
        </p:spPr>
        <p:txBody>
          <a:bodyPr wrap="square" rtlCol="0">
            <a:spAutoFit/>
          </a:bodyPr>
          <a:lstStyle/>
          <a:p>
            <a:pPr algn="ctr"/>
            <a:r>
              <a:rPr lang="en-US" sz="2400" dirty="0"/>
              <a:t>Long Read sequencing- 3rd generation sequencing</a:t>
            </a:r>
          </a:p>
        </p:txBody>
      </p:sp>
      <p:sp>
        <p:nvSpPr>
          <p:cNvPr id="3" name="Content Placeholder 2">
            <a:extLst>
              <a:ext uri="{FF2B5EF4-FFF2-40B4-BE49-F238E27FC236}">
                <a16:creationId xmlns:a16="http://schemas.microsoft.com/office/drawing/2014/main" id="{C924548F-5606-8D31-3E42-B1FDA46C1E36}"/>
              </a:ext>
            </a:extLst>
          </p:cNvPr>
          <p:cNvSpPr txBox="1">
            <a:spLocks/>
          </p:cNvSpPr>
          <p:nvPr/>
        </p:nvSpPr>
        <p:spPr>
          <a:xfrm>
            <a:off x="838200" y="1030694"/>
            <a:ext cx="10515600" cy="426487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Avg read length 1000-30,000 bp (unlike 2</a:t>
            </a:r>
            <a:r>
              <a:rPr lang="en-US" sz="1400" baseline="30000" dirty="0"/>
              <a:t>nd</a:t>
            </a:r>
            <a:r>
              <a:rPr lang="en-US" sz="1400" dirty="0"/>
              <a:t> generation 300-500bp)</a:t>
            </a:r>
          </a:p>
          <a:p>
            <a:r>
              <a:rPr lang="en-US" sz="1400" dirty="0"/>
              <a:t>Longer read length minimizes gaps in sequencing which is common using NGS in highly repetitive regions and areas of structural variation</a:t>
            </a:r>
          </a:p>
          <a:p>
            <a:r>
              <a:rPr lang="en-US" sz="1400" dirty="0"/>
              <a:t>Single and native (no PCR amplification) DNA/RNA molecule being sequenced</a:t>
            </a:r>
          </a:p>
          <a:p>
            <a:r>
              <a:rPr lang="en-US" sz="1400" dirty="0"/>
              <a:t>First technology came out in 2010-11. </a:t>
            </a:r>
            <a:r>
              <a:rPr lang="en-US" sz="1800" b="1" dirty="0">
                <a:solidFill>
                  <a:schemeClr val="accent1">
                    <a:lumMod val="75000"/>
                  </a:schemeClr>
                </a:solidFill>
              </a:rPr>
              <a:t>PacBio</a:t>
            </a:r>
            <a:r>
              <a:rPr lang="en-US" sz="1400" dirty="0"/>
              <a:t> SMRT technology (</a:t>
            </a:r>
            <a:r>
              <a:rPr lang="en-US" sz="1400" dirty="0">
                <a:solidFill>
                  <a:srgbClr val="FF0000"/>
                </a:solidFill>
              </a:rPr>
              <a:t>S</a:t>
            </a:r>
            <a:r>
              <a:rPr lang="en-US" sz="1400" dirty="0"/>
              <a:t>ingle </a:t>
            </a:r>
            <a:r>
              <a:rPr lang="en-US" sz="1400" dirty="0">
                <a:solidFill>
                  <a:srgbClr val="FF0000"/>
                </a:solidFill>
              </a:rPr>
              <a:t>M</a:t>
            </a:r>
            <a:r>
              <a:rPr lang="en-US" sz="1400" dirty="0"/>
              <a:t>olecule sequencing in </a:t>
            </a:r>
            <a:r>
              <a:rPr lang="en-US" sz="1400" dirty="0">
                <a:solidFill>
                  <a:srgbClr val="FF0000"/>
                </a:solidFill>
              </a:rPr>
              <a:t>R</a:t>
            </a:r>
            <a:r>
              <a:rPr lang="en-US" sz="1400" dirty="0"/>
              <a:t>eal </a:t>
            </a:r>
            <a:r>
              <a:rPr lang="en-US" sz="1400" dirty="0">
                <a:solidFill>
                  <a:srgbClr val="FF0000"/>
                </a:solidFill>
              </a:rPr>
              <a:t>T</a:t>
            </a:r>
            <a:r>
              <a:rPr lang="en-US" sz="1400" dirty="0"/>
              <a:t>ime)</a:t>
            </a:r>
          </a:p>
          <a:p>
            <a:r>
              <a:rPr lang="en-US" sz="1400" dirty="0"/>
              <a:t>Between 2011 and 2018 PacBio increased output of 1000 bp per read to 30,000 bp per read!</a:t>
            </a:r>
          </a:p>
          <a:p>
            <a:r>
              <a:rPr lang="en-US" sz="1400" b="0" i="0" dirty="0">
                <a:solidFill>
                  <a:srgbClr val="202122"/>
                </a:solidFill>
                <a:effectLst/>
              </a:rPr>
              <a:t> In 2014 </a:t>
            </a:r>
            <a:r>
              <a:rPr lang="en-US" sz="1800" b="1" i="0" dirty="0">
                <a:solidFill>
                  <a:schemeClr val="accent1">
                    <a:lumMod val="75000"/>
                  </a:schemeClr>
                </a:solidFill>
                <a:effectLst/>
              </a:rPr>
              <a:t>Oxford Nanopore </a:t>
            </a:r>
            <a:r>
              <a:rPr lang="en-US" sz="1400" b="0" i="0" dirty="0">
                <a:solidFill>
                  <a:srgbClr val="202122"/>
                </a:solidFill>
                <a:effectLst/>
              </a:rPr>
              <a:t>released its first </a:t>
            </a:r>
            <a:r>
              <a:rPr lang="en-US" sz="1400" b="0" i="0" u="sng" dirty="0">
                <a:solidFill>
                  <a:srgbClr val="202122"/>
                </a:solidFill>
                <a:effectLst/>
              </a:rPr>
              <a:t>portable nanopore </a:t>
            </a:r>
            <a:r>
              <a:rPr lang="en-US" sz="1400" b="0" i="0" dirty="0">
                <a:solidFill>
                  <a:srgbClr val="202122"/>
                </a:solidFill>
                <a:effectLst/>
              </a:rPr>
              <a:t>sequencing device, the </a:t>
            </a:r>
            <a:r>
              <a:rPr lang="en-US" sz="1400" b="0" i="0" dirty="0" err="1">
                <a:solidFill>
                  <a:srgbClr val="202122"/>
                </a:solidFill>
                <a:effectLst/>
              </a:rPr>
              <a:t>MinION</a:t>
            </a:r>
            <a:r>
              <a:rPr lang="en-US" sz="1400" b="0" i="0" dirty="0">
                <a:solidFill>
                  <a:srgbClr val="202122"/>
                </a:solidFill>
                <a:effectLst/>
              </a:rPr>
              <a:t>. </a:t>
            </a:r>
          </a:p>
          <a:p>
            <a:r>
              <a:rPr lang="en-US" sz="1400" dirty="0">
                <a:solidFill>
                  <a:srgbClr val="202122"/>
                </a:solidFill>
              </a:rPr>
              <a:t>The overall data output was small but enough to </a:t>
            </a:r>
            <a:r>
              <a:rPr lang="en-US" sz="1400" b="1" dirty="0">
                <a:solidFill>
                  <a:srgbClr val="202122"/>
                </a:solidFill>
              </a:rPr>
              <a:t>identify pathogens</a:t>
            </a:r>
            <a:endParaRPr lang="en-US" sz="1400" b="1" i="0" dirty="0">
              <a:solidFill>
                <a:srgbClr val="202122"/>
              </a:solidFill>
              <a:effectLst/>
            </a:endParaRPr>
          </a:p>
          <a:p>
            <a:r>
              <a:rPr lang="en-US" sz="1400" b="0" i="0" dirty="0">
                <a:solidFill>
                  <a:srgbClr val="202122"/>
                </a:solidFill>
                <a:effectLst/>
              </a:rPr>
              <a:t>This made it possible for DNA sequencing to be carried out almost anywhere, even with limited resources.</a:t>
            </a:r>
          </a:p>
          <a:p>
            <a:r>
              <a:rPr lang="en-US" sz="1400" b="1" i="0" dirty="0">
                <a:solidFill>
                  <a:srgbClr val="202122"/>
                </a:solidFill>
                <a:effectLst/>
              </a:rPr>
              <a:t> A quarter of the world's </a:t>
            </a:r>
            <a:r>
              <a:rPr lang="en-US" sz="1400" b="1" i="0" u="none" strike="noStrike" dirty="0">
                <a:effectLst/>
                <a:hlinkClick r:id="rId3" tooltip="SARS-CoV-2"/>
              </a:rPr>
              <a:t>SARS-CoV-2</a:t>
            </a:r>
            <a:r>
              <a:rPr lang="en-US" sz="1400" b="1" i="0" dirty="0">
                <a:solidFill>
                  <a:srgbClr val="202122"/>
                </a:solidFill>
                <a:effectLst/>
              </a:rPr>
              <a:t> viral genomes were sequenced with nanopore devices. </a:t>
            </a:r>
            <a:endParaRPr lang="en-US" sz="1400" b="1" dirty="0"/>
          </a:p>
          <a:p>
            <a:r>
              <a:rPr lang="en-US" sz="1400" dirty="0"/>
              <a:t>Both are fast but error rate higher than NGS, this has gotten much better in the recent years and there is lots of excitement about long read sequencing</a:t>
            </a:r>
          </a:p>
          <a:p>
            <a:r>
              <a:rPr lang="en-US" sz="1400" dirty="0"/>
              <a:t>Cost is still an issue, especially with PacBio. ONT is making headway in this aspect making long read sequencing more affordable. </a:t>
            </a:r>
          </a:p>
          <a:p>
            <a:r>
              <a:rPr lang="en-US" sz="1400" dirty="0"/>
              <a:t>With ease in cost, researchers can overcome higher error rates by doing redundant sequencing.</a:t>
            </a:r>
          </a:p>
          <a:p>
            <a:pPr marL="0" indent="0">
              <a:buNone/>
            </a:pPr>
            <a:endParaRPr lang="en-US" sz="1400" dirty="0"/>
          </a:p>
        </p:txBody>
      </p:sp>
    </p:spTree>
    <p:extLst>
      <p:ext uri="{BB962C8B-B14F-4D97-AF65-F5344CB8AC3E}">
        <p14:creationId xmlns:p14="http://schemas.microsoft.com/office/powerpoint/2010/main" val="420865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2E3E2C-21DF-4CB9-EC71-3F3FC236AB81}"/>
              </a:ext>
            </a:extLst>
          </p:cNvPr>
          <p:cNvSpPr txBox="1"/>
          <p:nvPr/>
        </p:nvSpPr>
        <p:spPr>
          <a:xfrm>
            <a:off x="4826442" y="254441"/>
            <a:ext cx="2019912" cy="461665"/>
          </a:xfrm>
          <a:prstGeom prst="rect">
            <a:avLst/>
          </a:prstGeom>
          <a:noFill/>
        </p:spPr>
        <p:txBody>
          <a:bodyPr wrap="none" rtlCol="0">
            <a:spAutoFit/>
          </a:bodyPr>
          <a:lstStyle/>
          <a:p>
            <a:r>
              <a:rPr lang="en-US" sz="2400" dirty="0"/>
              <a:t>PacBio- SMRT</a:t>
            </a:r>
          </a:p>
        </p:txBody>
      </p:sp>
      <p:pic>
        <p:nvPicPr>
          <p:cNvPr id="23554" name="Picture 2">
            <a:extLst>
              <a:ext uri="{FF2B5EF4-FFF2-40B4-BE49-F238E27FC236}">
                <a16:creationId xmlns:a16="http://schemas.microsoft.com/office/drawing/2014/main" id="{E8643976-ACC7-4DF0-320B-E3EF58FBE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613" y="1451527"/>
            <a:ext cx="5400675" cy="45910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65F2CA4-7A84-AB25-C94D-B526D7FFD123}"/>
              </a:ext>
            </a:extLst>
          </p:cNvPr>
          <p:cNvSpPr txBox="1"/>
          <p:nvPr/>
        </p:nvSpPr>
        <p:spPr>
          <a:xfrm>
            <a:off x="270344" y="6205014"/>
            <a:ext cx="6981245" cy="461665"/>
          </a:xfrm>
          <a:prstGeom prst="rect">
            <a:avLst/>
          </a:prstGeom>
          <a:noFill/>
        </p:spPr>
        <p:txBody>
          <a:bodyPr wrap="square" rtlCol="0">
            <a:spAutoFit/>
          </a:bodyPr>
          <a:lstStyle/>
          <a:p>
            <a:r>
              <a:rPr lang="en-US" sz="800" b="0" i="0">
                <a:solidFill>
                  <a:srgbClr val="111111"/>
                </a:solidFill>
                <a:effectLst/>
                <a:latin typeface="Ubuntu" panose="020F0502020204030204" pitchFamily="34" charset="0"/>
              </a:rPr>
              <a:t>Fonte: Kong N, Ng W, Thao K, Agulto R, Weis A, Kim KS, Korlach J, Hickey L, Kelly L, Lappin S, Weimer BC. Automation of PacBio SMRTbell NGS library preparation for bacterial genome sequencing. Stand Genomic Sci. 2017 Mar 23;12:27. doi: </a:t>
            </a:r>
            <a:r>
              <a:rPr lang="en-US" sz="800" b="0" i="0" u="none" strike="noStrike">
                <a:solidFill>
                  <a:srgbClr val="5B7500"/>
                </a:solidFill>
                <a:effectLst/>
                <a:latin typeface="Ubuntu" panose="020F0502020204030204" pitchFamily="34" charset="0"/>
                <a:hlinkClick r:id="rId4"/>
              </a:rPr>
              <a:t>10.1186/s40793-017-0239-1</a:t>
            </a:r>
            <a:r>
              <a:rPr lang="en-US" sz="800" b="0" i="0">
                <a:solidFill>
                  <a:srgbClr val="111111"/>
                </a:solidFill>
                <a:effectLst/>
                <a:latin typeface="Ubuntu" panose="020F0502020204030204" pitchFamily="34" charset="0"/>
              </a:rPr>
              <a:t>. PMID: 28344744; PMCID: PMC5363030.</a:t>
            </a:r>
            <a:endParaRPr lang="en-US" sz="800" dirty="0"/>
          </a:p>
        </p:txBody>
      </p:sp>
      <p:pic>
        <p:nvPicPr>
          <p:cNvPr id="5" name="Picture 4">
            <a:extLst>
              <a:ext uri="{FF2B5EF4-FFF2-40B4-BE49-F238E27FC236}">
                <a16:creationId xmlns:a16="http://schemas.microsoft.com/office/drawing/2014/main" id="{BEC32AFF-7DC8-C041-F87A-CEEF3B9DD41A}"/>
              </a:ext>
            </a:extLst>
          </p:cNvPr>
          <p:cNvPicPr>
            <a:picLocks noChangeAspect="1"/>
          </p:cNvPicPr>
          <p:nvPr/>
        </p:nvPicPr>
        <p:blipFill>
          <a:blip r:embed="rId5"/>
          <a:stretch>
            <a:fillRect/>
          </a:stretch>
        </p:blipFill>
        <p:spPr>
          <a:xfrm>
            <a:off x="7691464" y="1011668"/>
            <a:ext cx="3766183" cy="1775129"/>
          </a:xfrm>
          <a:prstGeom prst="rect">
            <a:avLst/>
          </a:prstGeom>
        </p:spPr>
      </p:pic>
      <p:sp>
        <p:nvSpPr>
          <p:cNvPr id="6" name="TextBox 5">
            <a:extLst>
              <a:ext uri="{FF2B5EF4-FFF2-40B4-BE49-F238E27FC236}">
                <a16:creationId xmlns:a16="http://schemas.microsoft.com/office/drawing/2014/main" id="{4D1E32C3-31BA-13EE-B858-A0DC6958190B}"/>
              </a:ext>
            </a:extLst>
          </p:cNvPr>
          <p:cNvSpPr txBox="1"/>
          <p:nvPr/>
        </p:nvSpPr>
        <p:spPr>
          <a:xfrm>
            <a:off x="5836398" y="2663687"/>
            <a:ext cx="1563248" cy="246221"/>
          </a:xfrm>
          <a:prstGeom prst="rect">
            <a:avLst/>
          </a:prstGeom>
          <a:noFill/>
        </p:spPr>
        <p:txBody>
          <a:bodyPr wrap="none" rtlCol="0">
            <a:spAutoFit/>
          </a:bodyPr>
          <a:lstStyle/>
          <a:p>
            <a:r>
              <a:rPr lang="en-US" sz="1000" b="1" dirty="0"/>
              <a:t>5000-35,000bp in length</a:t>
            </a:r>
          </a:p>
        </p:txBody>
      </p:sp>
      <p:sp>
        <p:nvSpPr>
          <p:cNvPr id="8" name="TextBox 7">
            <a:extLst>
              <a:ext uri="{FF2B5EF4-FFF2-40B4-BE49-F238E27FC236}">
                <a16:creationId xmlns:a16="http://schemas.microsoft.com/office/drawing/2014/main" id="{826E76CF-6902-F256-4417-C00CDDA6F35E}"/>
              </a:ext>
            </a:extLst>
          </p:cNvPr>
          <p:cNvSpPr txBox="1"/>
          <p:nvPr/>
        </p:nvSpPr>
        <p:spPr>
          <a:xfrm>
            <a:off x="7604000" y="2911896"/>
            <a:ext cx="3444521" cy="2031325"/>
          </a:xfrm>
          <a:prstGeom prst="rect">
            <a:avLst/>
          </a:prstGeom>
          <a:noFill/>
        </p:spPr>
        <p:txBody>
          <a:bodyPr wrap="square">
            <a:spAutoFit/>
          </a:bodyPr>
          <a:lstStyle/>
          <a:p>
            <a:r>
              <a:rPr lang="en-US" b="0" i="0" dirty="0">
                <a:solidFill>
                  <a:srgbClr val="001D35"/>
                </a:solidFill>
                <a:effectLst/>
                <a:latin typeface="Google Sans"/>
              </a:rPr>
              <a:t>ZMW (zero-mode waveguide) is a nanophotonic device, a tiny well or hole in a conductive layer, that confines light and allows for the real-time detection of nucleotide incorporation events during DNA sequencing. </a:t>
            </a:r>
            <a:endParaRPr lang="en-US" dirty="0"/>
          </a:p>
        </p:txBody>
      </p:sp>
      <p:sp>
        <p:nvSpPr>
          <p:cNvPr id="10" name="TextBox 9">
            <a:extLst>
              <a:ext uri="{FF2B5EF4-FFF2-40B4-BE49-F238E27FC236}">
                <a16:creationId xmlns:a16="http://schemas.microsoft.com/office/drawing/2014/main" id="{FA1FF978-71C7-82EB-0B00-B7F8CF371057}"/>
              </a:ext>
            </a:extLst>
          </p:cNvPr>
          <p:cNvSpPr txBox="1"/>
          <p:nvPr/>
        </p:nvSpPr>
        <p:spPr>
          <a:xfrm>
            <a:off x="7604000" y="5261977"/>
            <a:ext cx="6094674" cy="1415772"/>
          </a:xfrm>
          <a:prstGeom prst="rect">
            <a:avLst/>
          </a:prstGeom>
          <a:noFill/>
        </p:spPr>
        <p:txBody>
          <a:bodyPr wrap="square">
            <a:spAutoFit/>
          </a:bodyPr>
          <a:lstStyle/>
          <a:p>
            <a:r>
              <a:rPr lang="en-US" dirty="0">
                <a:hlinkClick r:id="rId6"/>
              </a:rPr>
              <a:t>https://youtu.be/_lD8JyAbwEo</a:t>
            </a:r>
            <a:endParaRPr lang="en-US" dirty="0"/>
          </a:p>
          <a:p>
            <a:endParaRPr lang="en-US" dirty="0"/>
          </a:p>
          <a:p>
            <a:r>
              <a:rPr lang="en-US" dirty="0">
                <a:hlinkClick r:id="rId7"/>
              </a:rPr>
              <a:t>https://youtu.be/NHCJ8PtYCFc</a:t>
            </a:r>
            <a:endParaRPr lang="en-US" dirty="0"/>
          </a:p>
          <a:p>
            <a:endParaRPr lang="en-US" dirty="0"/>
          </a:p>
          <a:p>
            <a:r>
              <a:rPr lang="en-US" sz="1200" dirty="0"/>
              <a:t>PacBio</a:t>
            </a:r>
          </a:p>
        </p:txBody>
      </p:sp>
    </p:spTree>
    <p:extLst>
      <p:ext uri="{BB962C8B-B14F-4D97-AF65-F5344CB8AC3E}">
        <p14:creationId xmlns:p14="http://schemas.microsoft.com/office/powerpoint/2010/main" val="4222494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0660FF-60E4-8F98-E153-B76EAF55AAB5}"/>
              </a:ext>
            </a:extLst>
          </p:cNvPr>
          <p:cNvSpPr txBox="1"/>
          <p:nvPr/>
        </p:nvSpPr>
        <p:spPr>
          <a:xfrm>
            <a:off x="9098513" y="6180654"/>
            <a:ext cx="2645564" cy="564257"/>
          </a:xfrm>
          <a:prstGeom prst="rect">
            <a:avLst/>
          </a:prstGeom>
          <a:noFill/>
        </p:spPr>
        <p:txBody>
          <a:bodyPr wrap="square" rtlCol="0">
            <a:spAutoFit/>
          </a:bodyPr>
          <a:lstStyle/>
          <a:p>
            <a:pPr algn="l" fontAlgn="base">
              <a:spcBef>
                <a:spcPts val="750"/>
              </a:spcBef>
              <a:spcAft>
                <a:spcPts val="750"/>
              </a:spcAft>
              <a:buNone/>
            </a:pPr>
            <a:r>
              <a:rPr lang="en-US" sz="800" b="1">
                <a:solidFill>
                  <a:srgbClr val="333333"/>
                </a:solidFill>
                <a:effectLst/>
                <a:latin typeface="Arial" panose="020B0604020202020204" pitchFamily="34" charset="0"/>
              </a:rPr>
              <a:t>Nanopore sequencing – rapid insights in real time</a:t>
            </a:r>
          </a:p>
          <a:p>
            <a:pPr algn="l" fontAlgn="base">
              <a:buNone/>
            </a:pPr>
            <a:r>
              <a:rPr lang="en-US" sz="800" b="1" i="1">
                <a:solidFill>
                  <a:srgbClr val="666666"/>
                </a:solidFill>
                <a:effectLst/>
                <a:latin typeface="Arial" panose="020B0604020202020204" pitchFamily="34" charset="0"/>
              </a:rPr>
              <a:t>By Kumudini Hettiarachchi and Ruqyyaha Deane</a:t>
            </a:r>
          </a:p>
          <a:p>
            <a:pPr>
              <a:buNone/>
            </a:pPr>
            <a:r>
              <a:rPr lang="en-US" sz="800" b="0" i="0">
                <a:solidFill>
                  <a:srgbClr val="333333"/>
                </a:solidFill>
                <a:effectLst/>
                <a:latin typeface="Arial" panose="020B0604020202020204" pitchFamily="34" charset="0"/>
              </a:rPr>
              <a:t>View(s): Sunday Times Jan 2022</a:t>
            </a:r>
            <a:endParaRPr lang="en-US" sz="800" dirty="0"/>
          </a:p>
        </p:txBody>
      </p:sp>
      <p:sp>
        <p:nvSpPr>
          <p:cNvPr id="4" name="TextBox 3">
            <a:extLst>
              <a:ext uri="{FF2B5EF4-FFF2-40B4-BE49-F238E27FC236}">
                <a16:creationId xmlns:a16="http://schemas.microsoft.com/office/drawing/2014/main" id="{A2ADFB3A-62B2-5C44-3303-F05FA378CB69}"/>
              </a:ext>
            </a:extLst>
          </p:cNvPr>
          <p:cNvSpPr txBox="1"/>
          <p:nvPr/>
        </p:nvSpPr>
        <p:spPr>
          <a:xfrm>
            <a:off x="403330" y="843139"/>
            <a:ext cx="5174311" cy="5370316"/>
          </a:xfrm>
          <a:prstGeom prst="rect">
            <a:avLst/>
          </a:prstGeom>
          <a:noFill/>
        </p:spPr>
        <p:txBody>
          <a:bodyPr wrap="square">
            <a:spAutoFit/>
          </a:bodyPr>
          <a:lstStyle/>
          <a:p>
            <a:pPr marL="171450" indent="-171450" algn="l">
              <a:lnSpc>
                <a:spcPts val="2250"/>
              </a:lnSpc>
              <a:buFont typeface="Arial" panose="020B0604020202020204" pitchFamily="34" charset="0"/>
              <a:buChar char="•"/>
            </a:pPr>
            <a:r>
              <a:rPr lang="en-US" sz="1200" b="0" i="0" dirty="0">
                <a:solidFill>
                  <a:srgbClr val="0A0A0A"/>
                </a:solidFill>
                <a:effectLst/>
              </a:rPr>
              <a:t>Unlike all previous sequencing technologies, ONT doesn’t use any DNA polymerases</a:t>
            </a:r>
          </a:p>
          <a:p>
            <a:pPr marL="171450" indent="-171450" algn="l">
              <a:lnSpc>
                <a:spcPts val="2250"/>
              </a:lnSpc>
              <a:buFont typeface="Arial" panose="020B0604020202020204" pitchFamily="34" charset="0"/>
              <a:buChar char="•"/>
            </a:pPr>
            <a:r>
              <a:rPr lang="en-US" sz="1200" b="0" i="0" dirty="0">
                <a:solidFill>
                  <a:srgbClr val="0A0A0A"/>
                </a:solidFill>
                <a:effectLst/>
              </a:rPr>
              <a:t>Instead, it uses a barrel-shaped protein called α-hemolysin – naturally found as a ‘pore’ in a cell membrane, </a:t>
            </a:r>
            <a:r>
              <a:rPr lang="en-US" sz="1200" dirty="0">
                <a:solidFill>
                  <a:srgbClr val="0A0A0A"/>
                </a:solidFill>
              </a:rPr>
              <a:t>t</a:t>
            </a:r>
            <a:r>
              <a:rPr lang="en-US" sz="1200" b="0" i="0" dirty="0">
                <a:solidFill>
                  <a:srgbClr val="0A0A0A"/>
                </a:solidFill>
                <a:effectLst/>
              </a:rPr>
              <a:t>his is called a nanopore</a:t>
            </a:r>
          </a:p>
          <a:p>
            <a:pPr marL="171450" indent="-171450" algn="l">
              <a:lnSpc>
                <a:spcPts val="2250"/>
              </a:lnSpc>
              <a:buFont typeface="Arial" panose="020B0604020202020204" pitchFamily="34" charset="0"/>
              <a:buChar char="•"/>
            </a:pPr>
            <a:r>
              <a:rPr lang="en-US" sz="1200" b="0" i="0" dirty="0">
                <a:solidFill>
                  <a:srgbClr val="0A0A0A"/>
                </a:solidFill>
                <a:effectLst/>
                <a:latin typeface="Lexend light"/>
              </a:rPr>
              <a:t>α-hemolysin has a diameter of 1 </a:t>
            </a:r>
            <a:r>
              <a:rPr lang="en-US" sz="1200" b="0" i="0" dirty="0" err="1">
                <a:solidFill>
                  <a:srgbClr val="0A0A0A"/>
                </a:solidFill>
                <a:effectLst/>
                <a:latin typeface="Lexend light"/>
              </a:rPr>
              <a:t>nanometre</a:t>
            </a:r>
            <a:r>
              <a:rPr lang="en-US" sz="1200" b="0" i="0" dirty="0">
                <a:solidFill>
                  <a:srgbClr val="0A0A0A"/>
                </a:solidFill>
                <a:effectLst/>
                <a:latin typeface="Lexend light"/>
              </a:rPr>
              <a:t> – just big enough to allow a single strand of DNA through</a:t>
            </a:r>
          </a:p>
          <a:p>
            <a:pPr marL="171450" indent="-171450" algn="l">
              <a:lnSpc>
                <a:spcPts val="2250"/>
              </a:lnSpc>
              <a:buFont typeface="Arial" panose="020B0604020202020204" pitchFamily="34" charset="0"/>
              <a:buChar char="•"/>
            </a:pPr>
            <a:r>
              <a:rPr lang="en-US" sz="1200" b="0" i="0" dirty="0">
                <a:solidFill>
                  <a:srgbClr val="0A0A0A"/>
                </a:solidFill>
                <a:effectLst/>
              </a:rPr>
              <a:t>α-hemolysin nanopores are embedded into an artificial membrane inside a flow cell</a:t>
            </a:r>
            <a:endParaRPr lang="en-US" sz="1200" dirty="0">
              <a:solidFill>
                <a:srgbClr val="0A0A0A"/>
              </a:solidFill>
            </a:endParaRPr>
          </a:p>
          <a:p>
            <a:pPr marL="171450" indent="-171450" algn="l">
              <a:lnSpc>
                <a:spcPts val="2250"/>
              </a:lnSpc>
              <a:buFont typeface="Arial" panose="020B0604020202020204" pitchFamily="34" charset="0"/>
              <a:buChar char="•"/>
            </a:pPr>
            <a:r>
              <a:rPr lang="en-US" sz="1200" b="0" i="0" dirty="0">
                <a:solidFill>
                  <a:srgbClr val="0A0A0A"/>
                </a:solidFill>
                <a:effectLst/>
              </a:rPr>
              <a:t>When a current is applied to the membrane, the DNA travels through the nanopore </a:t>
            </a:r>
          </a:p>
          <a:p>
            <a:pPr marL="171450" indent="-171450" algn="l">
              <a:lnSpc>
                <a:spcPts val="2250"/>
              </a:lnSpc>
              <a:buFont typeface="Arial" panose="020B0604020202020204" pitchFamily="34" charset="0"/>
              <a:buChar char="•"/>
            </a:pPr>
            <a:r>
              <a:rPr lang="en-US" sz="1200" b="0" i="0" dirty="0">
                <a:solidFill>
                  <a:srgbClr val="0A0A0A"/>
                </a:solidFill>
                <a:effectLst/>
              </a:rPr>
              <a:t>As the DNA travels through the nanopore, it obstructs the current flowing across the membrane and makes a ‘squiggle’</a:t>
            </a:r>
          </a:p>
          <a:p>
            <a:pPr marL="171450" indent="-171450" algn="l">
              <a:lnSpc>
                <a:spcPts val="2250"/>
              </a:lnSpc>
              <a:buFont typeface="Arial" panose="020B0604020202020204" pitchFamily="34" charset="0"/>
              <a:buChar char="•"/>
            </a:pPr>
            <a:r>
              <a:rPr lang="en-US" sz="1200" b="0" i="0" dirty="0">
                <a:solidFill>
                  <a:srgbClr val="0A0A0A"/>
                </a:solidFill>
                <a:effectLst/>
              </a:rPr>
              <a:t>The four bases of the DNA (A, T, C and G) are of different shape and size, so each base has its own variation of the ‘squiggle’</a:t>
            </a:r>
          </a:p>
          <a:p>
            <a:pPr marL="171450" indent="-171450" algn="l">
              <a:lnSpc>
                <a:spcPts val="2250"/>
              </a:lnSpc>
              <a:buFont typeface="Arial" panose="020B0604020202020204" pitchFamily="34" charset="0"/>
              <a:buChar char="•"/>
            </a:pPr>
            <a:r>
              <a:rPr lang="en-US" sz="1200" b="0" i="0" dirty="0">
                <a:solidFill>
                  <a:srgbClr val="0A0A0A"/>
                </a:solidFill>
                <a:effectLst/>
              </a:rPr>
              <a:t>These variations are measured by an electronic chip. An algorithm converts the data into a sequence which can then be read.</a:t>
            </a:r>
          </a:p>
          <a:p>
            <a:pPr marL="171450" indent="-171450" algn="l">
              <a:lnSpc>
                <a:spcPts val="2250"/>
              </a:lnSpc>
              <a:buFont typeface="Arial" panose="020B0604020202020204" pitchFamily="34" charset="0"/>
              <a:buChar char="•"/>
            </a:pPr>
            <a:r>
              <a:rPr lang="en-US" sz="1200" dirty="0">
                <a:solidFill>
                  <a:srgbClr val="0A0A0A"/>
                </a:solidFill>
                <a:latin typeface="Lexend light"/>
              </a:rPr>
              <a:t>Unique feature of nanopore: </a:t>
            </a:r>
            <a:r>
              <a:rPr lang="en-US" sz="1200" b="1" dirty="0">
                <a:solidFill>
                  <a:srgbClr val="0A0A0A"/>
                </a:solidFill>
                <a:latin typeface="Lexend light"/>
              </a:rPr>
              <a:t>adaptive sampling</a:t>
            </a:r>
            <a:br>
              <a:rPr lang="en-US" sz="1200" b="0" i="0" dirty="0">
                <a:solidFill>
                  <a:srgbClr val="0A0A0A"/>
                </a:solidFill>
                <a:effectLst/>
                <a:latin typeface="Lexend light"/>
              </a:rPr>
            </a:br>
            <a:endParaRPr lang="en-US" sz="1200" b="0" i="0" dirty="0">
              <a:solidFill>
                <a:srgbClr val="0A0A0A"/>
              </a:solidFill>
              <a:effectLst/>
            </a:endParaRPr>
          </a:p>
        </p:txBody>
      </p:sp>
      <p:pic>
        <p:nvPicPr>
          <p:cNvPr id="25604" name="Picture 4" descr="The Applications of Nanopore Sequencing Technology in Animal and Human  Virus Research">
            <a:extLst>
              <a:ext uri="{FF2B5EF4-FFF2-40B4-BE49-F238E27FC236}">
                <a16:creationId xmlns:a16="http://schemas.microsoft.com/office/drawing/2014/main" id="{41BB99A0-70D7-2832-E7B0-359F7BE5A6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1056" y="711171"/>
            <a:ext cx="5777946" cy="30168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6122882-9675-D64F-6B82-DC80E18BEE10}"/>
              </a:ext>
            </a:extLst>
          </p:cNvPr>
          <p:cNvSpPr txBox="1"/>
          <p:nvPr/>
        </p:nvSpPr>
        <p:spPr>
          <a:xfrm>
            <a:off x="8780029" y="3728041"/>
            <a:ext cx="3202388" cy="215444"/>
          </a:xfrm>
          <a:prstGeom prst="rect">
            <a:avLst/>
          </a:prstGeom>
          <a:noFill/>
        </p:spPr>
        <p:txBody>
          <a:bodyPr wrap="square">
            <a:spAutoFit/>
          </a:bodyPr>
          <a:lstStyle/>
          <a:p>
            <a:r>
              <a:rPr lang="fr-FR" sz="800" b="0" i="1" dirty="0" err="1">
                <a:solidFill>
                  <a:srgbClr val="222222"/>
                </a:solidFill>
                <a:effectLst/>
                <a:latin typeface="Arial" panose="020B0604020202020204" pitchFamily="34" charset="0"/>
              </a:rPr>
              <a:t>Viruses</a:t>
            </a:r>
            <a:r>
              <a:rPr lang="fr-FR" sz="800" b="0" i="0" dirty="0">
                <a:solidFill>
                  <a:srgbClr val="222222"/>
                </a:solidFill>
                <a:effectLst/>
                <a:latin typeface="Arial" panose="020B0604020202020204" pitchFamily="34" charset="0"/>
              </a:rPr>
              <a:t> </a:t>
            </a:r>
            <a:r>
              <a:rPr lang="fr-FR" sz="800" b="1" i="0" dirty="0">
                <a:solidFill>
                  <a:srgbClr val="222222"/>
                </a:solidFill>
                <a:effectLst/>
                <a:latin typeface="Arial" panose="020B0604020202020204" pitchFamily="34" charset="0"/>
              </a:rPr>
              <a:t>2024</a:t>
            </a:r>
            <a:r>
              <a:rPr lang="fr-FR" sz="800" b="0" i="0" dirty="0">
                <a:solidFill>
                  <a:srgbClr val="222222"/>
                </a:solidFill>
                <a:effectLst/>
                <a:latin typeface="Arial" panose="020B0604020202020204" pitchFamily="34" charset="0"/>
              </a:rPr>
              <a:t>, </a:t>
            </a:r>
            <a:r>
              <a:rPr lang="fr-FR" sz="800" b="0" i="1" dirty="0">
                <a:solidFill>
                  <a:srgbClr val="222222"/>
                </a:solidFill>
                <a:effectLst/>
                <a:latin typeface="Arial" panose="020B0604020202020204" pitchFamily="34" charset="0"/>
              </a:rPr>
              <a:t>16</a:t>
            </a:r>
            <a:r>
              <a:rPr lang="fr-FR" sz="800" b="0" i="0" dirty="0">
                <a:solidFill>
                  <a:srgbClr val="222222"/>
                </a:solidFill>
                <a:effectLst/>
                <a:latin typeface="Arial" panose="020B0604020202020204" pitchFamily="34" charset="0"/>
              </a:rPr>
              <a:t>(5), 798; </a:t>
            </a:r>
            <a:r>
              <a:rPr lang="fr-FR" sz="800" b="1" i="0" u="none" strike="noStrike" dirty="0">
                <a:solidFill>
                  <a:srgbClr val="4F5671"/>
                </a:solidFill>
                <a:effectLst/>
                <a:latin typeface="Arial" panose="020B0604020202020204" pitchFamily="34" charset="0"/>
                <a:hlinkClick r:id="rId4"/>
              </a:rPr>
              <a:t>https://doi.org/10.3390/v16050798</a:t>
            </a:r>
            <a:endParaRPr lang="en-US" sz="800" dirty="0"/>
          </a:p>
        </p:txBody>
      </p:sp>
      <p:pic>
        <p:nvPicPr>
          <p:cNvPr id="25608" name="Picture 8">
            <a:extLst>
              <a:ext uri="{FF2B5EF4-FFF2-40B4-BE49-F238E27FC236}">
                <a16:creationId xmlns:a16="http://schemas.microsoft.com/office/drawing/2014/main" id="{2B031097-77FE-9D26-BB5C-4484A93C30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73884" y="4113835"/>
            <a:ext cx="4095118" cy="18701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361F6F5-7848-FEEE-6152-CA09EC73DA4D}"/>
              </a:ext>
            </a:extLst>
          </p:cNvPr>
          <p:cNvSpPr txBox="1"/>
          <p:nvPr/>
        </p:nvSpPr>
        <p:spPr>
          <a:xfrm>
            <a:off x="4881100" y="80287"/>
            <a:ext cx="2267544" cy="461665"/>
          </a:xfrm>
          <a:prstGeom prst="rect">
            <a:avLst/>
          </a:prstGeom>
          <a:noFill/>
        </p:spPr>
        <p:txBody>
          <a:bodyPr wrap="none" rtlCol="0">
            <a:spAutoFit/>
          </a:bodyPr>
          <a:lstStyle/>
          <a:p>
            <a:r>
              <a:rPr lang="en-US" sz="2400" dirty="0"/>
              <a:t>Nanopore- ONT</a:t>
            </a:r>
          </a:p>
        </p:txBody>
      </p:sp>
      <p:sp>
        <p:nvSpPr>
          <p:cNvPr id="9" name="TextBox 8">
            <a:extLst>
              <a:ext uri="{FF2B5EF4-FFF2-40B4-BE49-F238E27FC236}">
                <a16:creationId xmlns:a16="http://schemas.microsoft.com/office/drawing/2014/main" id="{22ED2A66-31A6-AEA1-482A-0AE127BFA87C}"/>
              </a:ext>
            </a:extLst>
          </p:cNvPr>
          <p:cNvSpPr txBox="1"/>
          <p:nvPr/>
        </p:nvSpPr>
        <p:spPr>
          <a:xfrm>
            <a:off x="271670" y="6074956"/>
            <a:ext cx="3560196" cy="461665"/>
          </a:xfrm>
          <a:prstGeom prst="rect">
            <a:avLst/>
          </a:prstGeom>
          <a:noFill/>
        </p:spPr>
        <p:txBody>
          <a:bodyPr wrap="square">
            <a:spAutoFit/>
          </a:bodyPr>
          <a:lstStyle/>
          <a:p>
            <a:r>
              <a:rPr lang="en-US" sz="1200" dirty="0">
                <a:hlinkClick r:id="rId6"/>
              </a:rPr>
              <a:t>https://www.youtube.com/watch?v=RcP85JHLmnI</a:t>
            </a:r>
            <a:endParaRPr lang="en-US" sz="1200" dirty="0"/>
          </a:p>
          <a:p>
            <a:endParaRPr lang="en-US" sz="1200" dirty="0"/>
          </a:p>
        </p:txBody>
      </p:sp>
      <p:sp>
        <p:nvSpPr>
          <p:cNvPr id="11" name="TextBox 10">
            <a:extLst>
              <a:ext uri="{FF2B5EF4-FFF2-40B4-BE49-F238E27FC236}">
                <a16:creationId xmlns:a16="http://schemas.microsoft.com/office/drawing/2014/main" id="{C61D4D75-537E-B96A-8C9C-8B7D855B8310}"/>
              </a:ext>
            </a:extLst>
          </p:cNvPr>
          <p:cNvSpPr txBox="1"/>
          <p:nvPr/>
        </p:nvSpPr>
        <p:spPr>
          <a:xfrm>
            <a:off x="271670" y="6331977"/>
            <a:ext cx="3560196" cy="430887"/>
          </a:xfrm>
          <a:prstGeom prst="rect">
            <a:avLst/>
          </a:prstGeom>
          <a:noFill/>
        </p:spPr>
        <p:txBody>
          <a:bodyPr wrap="square">
            <a:spAutoFit/>
          </a:bodyPr>
          <a:lstStyle/>
          <a:p>
            <a:r>
              <a:rPr lang="en-US" sz="1100" dirty="0">
                <a:hlinkClick r:id="rId7"/>
              </a:rPr>
              <a:t>https://www.youtube.com/watch?v=fwHreHs9FHg</a:t>
            </a:r>
            <a:endParaRPr lang="en-US" sz="1100" dirty="0"/>
          </a:p>
          <a:p>
            <a:endParaRPr lang="en-US" sz="1100" dirty="0"/>
          </a:p>
        </p:txBody>
      </p:sp>
    </p:spTree>
    <p:extLst>
      <p:ext uri="{BB962C8B-B14F-4D97-AF65-F5344CB8AC3E}">
        <p14:creationId xmlns:p14="http://schemas.microsoft.com/office/powerpoint/2010/main" val="3674595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88DF5B-8CF2-B26E-49A2-817359C21EA8}"/>
              </a:ext>
            </a:extLst>
          </p:cNvPr>
          <p:cNvSpPr txBox="1"/>
          <p:nvPr/>
        </p:nvSpPr>
        <p:spPr>
          <a:xfrm>
            <a:off x="4882101" y="548640"/>
            <a:ext cx="1584023" cy="461665"/>
          </a:xfrm>
          <a:prstGeom prst="rect">
            <a:avLst/>
          </a:prstGeom>
          <a:noFill/>
        </p:spPr>
        <p:txBody>
          <a:bodyPr wrap="none" rtlCol="0">
            <a:spAutoFit/>
          </a:bodyPr>
          <a:lstStyle/>
          <a:p>
            <a:r>
              <a:rPr lang="en-US" sz="2400" dirty="0"/>
              <a:t>SUMMARY</a:t>
            </a:r>
          </a:p>
        </p:txBody>
      </p:sp>
      <p:sp>
        <p:nvSpPr>
          <p:cNvPr id="3" name="TextBox 2">
            <a:extLst>
              <a:ext uri="{FF2B5EF4-FFF2-40B4-BE49-F238E27FC236}">
                <a16:creationId xmlns:a16="http://schemas.microsoft.com/office/drawing/2014/main" id="{B53BDF91-4F10-48C7-6900-472BBEA1626C}"/>
              </a:ext>
            </a:extLst>
          </p:cNvPr>
          <p:cNvSpPr txBox="1"/>
          <p:nvPr/>
        </p:nvSpPr>
        <p:spPr>
          <a:xfrm>
            <a:off x="1001865" y="1733384"/>
            <a:ext cx="10384403" cy="3416320"/>
          </a:xfrm>
          <a:prstGeom prst="rect">
            <a:avLst/>
          </a:prstGeom>
          <a:noFill/>
        </p:spPr>
        <p:txBody>
          <a:bodyPr wrap="square" rtlCol="0">
            <a:spAutoFit/>
          </a:bodyPr>
          <a:lstStyle/>
          <a:p>
            <a:pPr marL="285750" indent="-285750">
              <a:buFont typeface="Wingdings" panose="05000000000000000000" pitchFamily="2" charset="2"/>
              <a:buChar char="§"/>
            </a:pPr>
            <a:r>
              <a:rPr lang="en-US" dirty="0"/>
              <a:t>1</a:t>
            </a:r>
            <a:r>
              <a:rPr lang="en-US" baseline="30000" dirty="0"/>
              <a:t>st</a:t>
            </a:r>
            <a:r>
              <a:rPr lang="en-US" dirty="0"/>
              <a:t> generation- Sanger. Sequencing 1 DNA fragment at a time. Read length 700bp</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2</a:t>
            </a:r>
            <a:r>
              <a:rPr lang="en-US" baseline="30000" dirty="0"/>
              <a:t>nd</a:t>
            </a:r>
            <a:r>
              <a:rPr lang="en-US" dirty="0"/>
              <a:t> generation- Illumina. Massively parallel sequencing of 100 or 1000s of DNA fragments at one time. Read length: 300-500bp</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3</a:t>
            </a:r>
            <a:r>
              <a:rPr lang="en-US" baseline="30000" dirty="0"/>
              <a:t>rd</a:t>
            </a:r>
            <a:r>
              <a:rPr lang="en-US" dirty="0"/>
              <a:t> generation-PacBio or ONT- long read sequencing. Read length 1000-30,000 bp</a:t>
            </a:r>
          </a:p>
          <a:p>
            <a:endParaRPr lang="en-US" dirty="0"/>
          </a:p>
          <a:p>
            <a:pPr marL="285750" indent="-285750">
              <a:buFont typeface="Wingdings" panose="05000000000000000000" pitchFamily="2" charset="2"/>
              <a:buChar char="§"/>
            </a:pPr>
            <a:r>
              <a:rPr lang="en-US" dirty="0"/>
              <a:t>Majority of sequencing in the last 2 decades have been 2</a:t>
            </a:r>
            <a:r>
              <a:rPr lang="en-US" baseline="30000" dirty="0"/>
              <a:t>nd</a:t>
            </a:r>
            <a:r>
              <a:rPr lang="en-US" dirty="0"/>
              <a:t> generation sequencing, with Illumina monopolizing the market</a:t>
            </a:r>
          </a:p>
          <a:p>
            <a:endParaRPr lang="en-US" dirty="0"/>
          </a:p>
          <a:p>
            <a:pPr marL="285750" indent="-285750">
              <a:buFont typeface="Wingdings" panose="05000000000000000000" pitchFamily="2" charset="2"/>
              <a:buChar char="§"/>
            </a:pPr>
            <a:r>
              <a:rPr lang="en-US" dirty="0"/>
              <a:t>WGS, Chromatin accessibility and interaction, mRNA expression in bulk, single cell and spatial platforms have given enormous insight into disease states, cancer and has as revalorized Genomics</a:t>
            </a:r>
          </a:p>
        </p:txBody>
      </p:sp>
    </p:spTree>
    <p:extLst>
      <p:ext uri="{BB962C8B-B14F-4D97-AF65-F5344CB8AC3E}">
        <p14:creationId xmlns:p14="http://schemas.microsoft.com/office/powerpoint/2010/main" val="2461990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4925</TotalTime>
  <Words>2798</Words>
  <Application>Microsoft Office PowerPoint</Application>
  <PresentationFormat>Widescreen</PresentationFormat>
  <Paragraphs>357</Paragraphs>
  <Slides>26</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-apple-system</vt:lpstr>
      <vt:lpstr>Aptos</vt:lpstr>
      <vt:lpstr>Aptos Display</vt:lpstr>
      <vt:lpstr>Arial</vt:lpstr>
      <vt:lpstr>Google Sans</vt:lpstr>
      <vt:lpstr>Lexend light</vt:lpstr>
      <vt:lpstr>Merriweather Sans</vt:lpstr>
      <vt:lpstr>Ubuntu</vt:lpstr>
      <vt:lpstr>Wingdings</vt:lpstr>
      <vt:lpstr>Office Theme</vt:lpstr>
      <vt:lpstr>THEORETICAL BASIS FOR SEQUENCING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Wistar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Sonali Majumdar</dc:creator>
  <cp:lastModifiedBy>Sonali Majumdar</cp:lastModifiedBy>
  <cp:revision>15</cp:revision>
  <dcterms:created xsi:type="dcterms:W3CDTF">2025-03-28T14:32:17Z</dcterms:created>
  <dcterms:modified xsi:type="dcterms:W3CDTF">2026-02-02T20:01:05Z</dcterms:modified>
</cp:coreProperties>
</file>